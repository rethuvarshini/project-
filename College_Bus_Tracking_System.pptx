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2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and introduce the project: "College Bus Tracking System — Smart, Safe and Real-Time Campus Transportation." State your name, department, college, guide, and academic year before moving to the introduction.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system in one sentence, then explain the core benefits: real-time tracking, improved safety, better communication, and convenience. Walk through the data-flow panel: the bus carries a GPS device, its location is sent to a server, and the server pushes that live location to the student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pain point students and administrators currently face — not knowing the bus location, uncertain arrival times, wasted waiting time, difficulty managing several buses at once, poor real-time communication, and slow emergency response. This sets up the need for the proposed solution.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six pillars of the proposed system: GPS-enabled buses feed real-time tracking data, which reaches students through a mobile app and administrators through a dashboard, while drivers get their own interface and everyone receives timely alerts and notifications.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six project objectives in your own words: accurate real-time location, reduced waiting time, improved safety, reliable ETAs, fleet monitoring for administrators, and stronger communication across students, drivers, and management.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six-step process end to end: GPS on the bus captures location, that data is sent to the server, the server processes it, the student app receives the live update, students view the bus on a map, and administrators monitor the entire fleet from one place.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architecture layer by layer: the GPS or driver mobile device sends location over the internet to the backend server; the server stores data in the database; the core system then pushes live updates out to the admin dashboard, the student mobile app, and the notification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nine core features: live GPS tracking, real-time ETA, route and stop information, bus schedules, push notifications, driver information, the admin dashboard, an emergency SOS alert, and the ability to monitor multiple buses at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mobile app mockup: students open the app to see a live map with the bus icon moving in real time, nearby stop markers, a clear ETA, and an alerts panel for delays or emergencies — removing the guesswork from their daily commute.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admin dashboard as the operations view: stat cards summarize total, active, and offline buses plus today’s alerts, the map shows every bus pin in real time, and the status table lists each bus with its route and current status for quick fleet oversight.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layer of the stack: HTML/CSS/React for the frontend, Android or Flutter for mobile, Node.js or Python on the backend, MySQL, Firebase, or MongoDB for storage, GPS with a maps API for location, and REST or WebSocket APIs for communication. Note that the exact stack can be finalized based on project needs.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benefits for each stakeholder group: students gain less waiting, better planning, live location, and safety alerts; college management gains fleet monitoring, route management, and efficiency; drivers get route guidance, direct communication, and emergency support.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forward-looking ideas beyond the current scope: AI-based arrival prediction, traffic-aware route optimization, QR or RFID attendance, predictive maintenance, an AI chatbot, voice-based tracking, location-based smart alerts, and integration with the college ERP system.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core message: this system turns everyday campus transportation into something smart, connected, and safe. Deliver the tagline with confidence — "Track Smart. Travel Safe. Arrive on Time." — thank the panel, and invite questions or offer the QR code for a live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8.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11.png"/><Relationship Id="rId5" Type="http://schemas.openxmlformats.org/officeDocument/2006/relationships/image" Target="../media/image23.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0.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9.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23.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669280" cy="5669280"/>
          </a:xfrm>
          <a:prstGeom prst="ellipse">
            <a:avLst/>
          </a:prstGeom>
          <a:solidFill>
            <a:srgbClr val="00E5C7">
              <a:alpha val="10000"/>
            </a:srgbClr>
          </a:solidFill>
          <a:ln/>
        </p:spPr>
      </p:sp>
      <p:sp>
        <p:nvSpPr>
          <p:cNvPr id="3" name="Shape 1"/>
          <p:cNvSpPr/>
          <p:nvPr/>
        </p:nvSpPr>
        <p:spPr>
          <a:xfrm>
            <a:off x="-2377440" y="4389120"/>
            <a:ext cx="5669280" cy="5669280"/>
          </a:xfrm>
          <a:prstGeom prst="ellipse">
            <a:avLst/>
          </a:prstGeom>
          <a:solidFill>
            <a:srgbClr val="34D399">
              <a:alpha val="8000"/>
            </a:srgbClr>
          </a:solidFill>
          <a:ln/>
        </p:spPr>
      </p:sp>
      <p:sp>
        <p:nvSpPr>
          <p:cNvPr id="4" name="Text 2"/>
          <p:cNvSpPr/>
          <p:nvPr/>
        </p:nvSpPr>
        <p:spPr>
          <a:xfrm>
            <a:off x="822960" y="548640"/>
            <a:ext cx="5486400" cy="320040"/>
          </a:xfrm>
          <a:prstGeom prst="rect">
            <a:avLst/>
          </a:prstGeom>
          <a:noFill/>
          <a:ln/>
        </p:spPr>
        <p:txBody>
          <a:bodyPr wrap="square" rtlCol="0" anchor="ctr"/>
          <a:lstStyle/>
          <a:p>
            <a:pPr marL="0" indent="0">
              <a:buNone/>
            </a:pPr>
            <a:r>
              <a:rPr lang="en-US" sz="1200" b="1" kern="0" spc="300" dirty="0">
                <a:solidFill>
                  <a:srgbClr val="00E5C7"/>
                </a:solidFill>
                <a:latin typeface="Calibri" pitchFamily="34" charset="0"/>
                <a:ea typeface="Calibri" pitchFamily="34" charset="-122"/>
                <a:cs typeface="Calibri" pitchFamily="34" charset="-120"/>
              </a:rPr>
              <a:t>FINAL YEAR / MAJOR PROJECT</a:t>
            </a:r>
            <a:endParaRPr lang="en-US" sz="1200" dirty="0"/>
          </a:p>
        </p:txBody>
      </p:sp>
      <p:sp>
        <p:nvSpPr>
          <p:cNvPr id="5" name="Text 3"/>
          <p:cNvSpPr/>
          <p:nvPr/>
        </p:nvSpPr>
        <p:spPr>
          <a:xfrm>
            <a:off x="777240" y="1234440"/>
            <a:ext cx="7589520" cy="1920240"/>
          </a:xfrm>
          <a:prstGeom prst="rect">
            <a:avLst/>
          </a:prstGeom>
          <a:noFill/>
          <a:ln/>
        </p:spPr>
        <p:txBody>
          <a:bodyPr wrap="square" rtlCol="0" anchor="ctr"/>
          <a:lstStyle/>
          <a:p>
            <a:pPr marL="0" indent="0">
              <a:lnSpc>
                <a:spcPct val="103000"/>
              </a:lnSpc>
              <a:buNone/>
            </a:pPr>
            <a:r>
              <a:rPr lang="en-US" sz="4600" b="1" dirty="0">
                <a:solidFill>
                  <a:srgbClr val="FFFFFF"/>
                </a:solidFill>
                <a:latin typeface="Cambria" pitchFamily="34" charset="0"/>
                <a:ea typeface="Cambria" pitchFamily="34" charset="-122"/>
                <a:cs typeface="Cambria" pitchFamily="34" charset="-120"/>
              </a:rPr>
              <a:t>College Bus</a:t>
            </a:r>
            <a:endParaRPr lang="en-US" sz="4600" dirty="0"/>
          </a:p>
          <a:p>
            <a:pPr marL="0" indent="0">
              <a:lnSpc>
                <a:spcPct val="103000"/>
              </a:lnSpc>
              <a:buNone/>
            </a:pPr>
            <a:r>
              <a:rPr lang="en-US" sz="4600" b="1" dirty="0">
                <a:solidFill>
                  <a:srgbClr val="FFFFFF"/>
                </a:solidFill>
                <a:latin typeface="Cambria" pitchFamily="34" charset="0"/>
                <a:ea typeface="Cambria" pitchFamily="34" charset="-122"/>
                <a:cs typeface="Cambria" pitchFamily="34" charset="-120"/>
              </a:rPr>
              <a:t>Tracking System</a:t>
            </a:r>
            <a:endParaRPr lang="en-US" sz="4600" dirty="0"/>
          </a:p>
        </p:txBody>
      </p:sp>
      <p:sp>
        <p:nvSpPr>
          <p:cNvPr id="6" name="Text 4"/>
          <p:cNvSpPr/>
          <p:nvPr/>
        </p:nvSpPr>
        <p:spPr>
          <a:xfrm>
            <a:off x="822960" y="3063240"/>
            <a:ext cx="7315200" cy="457200"/>
          </a:xfrm>
          <a:prstGeom prst="rect">
            <a:avLst/>
          </a:prstGeom>
          <a:noFill/>
          <a:ln/>
        </p:spPr>
        <p:txBody>
          <a:bodyPr wrap="square" rtlCol="0" anchor="ctr"/>
          <a:lstStyle/>
          <a:p>
            <a:pPr marL="0" indent="0">
              <a:buNone/>
            </a:pPr>
            <a:r>
              <a:rPr lang="en-US" sz="1600" i="1" dirty="0">
                <a:solidFill>
                  <a:srgbClr val="9CA6C7"/>
                </a:solidFill>
                <a:latin typeface="Calibri" pitchFamily="34" charset="0"/>
                <a:ea typeface="Calibri" pitchFamily="34" charset="-122"/>
                <a:cs typeface="Calibri" pitchFamily="34" charset="-120"/>
              </a:rPr>
              <a:t>Smart, Safe &amp; Real-Time Campus Transportation</a:t>
            </a:r>
            <a:endParaRPr lang="en-US" sz="1600" dirty="0"/>
          </a:p>
        </p:txBody>
      </p:sp>
      <p:sp>
        <p:nvSpPr>
          <p:cNvPr id="7" name="Shape 5"/>
          <p:cNvSpPr/>
          <p:nvPr/>
        </p:nvSpPr>
        <p:spPr>
          <a:xfrm>
            <a:off x="8732520" y="914400"/>
            <a:ext cx="2880360" cy="3566160"/>
          </a:xfrm>
          <a:prstGeom prst="roundRect">
            <a:avLst>
              <a:gd name="adj" fmla="val 3175"/>
            </a:avLst>
          </a:prstGeom>
          <a:solidFill>
            <a:srgbClr val="0F1B3D"/>
          </a:solidFill>
          <a:ln w="12700">
            <a:solidFill>
              <a:srgbClr val="223261"/>
            </a:solidFill>
            <a:prstDash val="solid"/>
          </a:ln>
        </p:spPr>
      </p:sp>
      <p:sp>
        <p:nvSpPr>
          <p:cNvPr id="8" name="Shape 6"/>
          <p:cNvSpPr/>
          <p:nvPr/>
        </p:nvSpPr>
        <p:spPr>
          <a:xfrm rot="2400000">
            <a:off x="9052560" y="1371600"/>
            <a:ext cx="201168" cy="54864"/>
          </a:xfrm>
          <a:prstGeom prst="roundRect">
            <a:avLst/>
          </a:prstGeom>
          <a:solidFill>
            <a:srgbClr val="223261"/>
          </a:solidFill>
          <a:ln/>
        </p:spPr>
      </p:sp>
      <p:sp>
        <p:nvSpPr>
          <p:cNvPr id="9" name="Shape 7"/>
          <p:cNvSpPr/>
          <p:nvPr/>
        </p:nvSpPr>
        <p:spPr>
          <a:xfrm rot="2400000">
            <a:off x="9436608" y="1755648"/>
            <a:ext cx="201168" cy="54864"/>
          </a:xfrm>
          <a:prstGeom prst="roundRect">
            <a:avLst/>
          </a:prstGeom>
          <a:solidFill>
            <a:srgbClr val="223261"/>
          </a:solidFill>
          <a:ln/>
        </p:spPr>
      </p:sp>
      <p:sp>
        <p:nvSpPr>
          <p:cNvPr id="10" name="Shape 8"/>
          <p:cNvSpPr/>
          <p:nvPr/>
        </p:nvSpPr>
        <p:spPr>
          <a:xfrm rot="2400000">
            <a:off x="9820656" y="2139696"/>
            <a:ext cx="201168" cy="54864"/>
          </a:xfrm>
          <a:prstGeom prst="roundRect">
            <a:avLst/>
          </a:prstGeom>
          <a:solidFill>
            <a:srgbClr val="223261"/>
          </a:solidFill>
          <a:ln/>
        </p:spPr>
      </p:sp>
      <p:sp>
        <p:nvSpPr>
          <p:cNvPr id="11" name="Shape 9"/>
          <p:cNvSpPr/>
          <p:nvPr/>
        </p:nvSpPr>
        <p:spPr>
          <a:xfrm rot="2400000">
            <a:off x="10204704" y="2523744"/>
            <a:ext cx="201168" cy="54864"/>
          </a:xfrm>
          <a:prstGeom prst="roundRect">
            <a:avLst/>
          </a:prstGeom>
          <a:solidFill>
            <a:srgbClr val="223261"/>
          </a:solidFill>
          <a:ln/>
        </p:spPr>
      </p:sp>
      <p:sp>
        <p:nvSpPr>
          <p:cNvPr id="12" name="Shape 10"/>
          <p:cNvSpPr/>
          <p:nvPr/>
        </p:nvSpPr>
        <p:spPr>
          <a:xfrm rot="2400000">
            <a:off x="10588752" y="2907792"/>
            <a:ext cx="201168" cy="54864"/>
          </a:xfrm>
          <a:prstGeom prst="roundRect">
            <a:avLst/>
          </a:prstGeom>
          <a:solidFill>
            <a:srgbClr val="223261"/>
          </a:solidFill>
          <a:ln/>
        </p:spPr>
      </p:sp>
      <p:sp>
        <p:nvSpPr>
          <p:cNvPr id="13" name="Shape 11"/>
          <p:cNvSpPr/>
          <p:nvPr/>
        </p:nvSpPr>
        <p:spPr>
          <a:xfrm rot="2400000">
            <a:off x="10972800" y="3291840"/>
            <a:ext cx="201168" cy="54864"/>
          </a:xfrm>
          <a:prstGeom prst="roundRect">
            <a:avLst/>
          </a:prstGeom>
          <a:solidFill>
            <a:srgbClr val="223261"/>
          </a:solidFill>
          <a:ln/>
        </p:spPr>
      </p:sp>
      <p:sp>
        <p:nvSpPr>
          <p:cNvPr id="14" name="Shape 12"/>
          <p:cNvSpPr/>
          <p:nvPr/>
        </p:nvSpPr>
        <p:spPr>
          <a:xfrm>
            <a:off x="9098280" y="3566160"/>
            <a:ext cx="502920" cy="502920"/>
          </a:xfrm>
          <a:prstGeom prst="ellipse">
            <a:avLst/>
          </a:prstGeom>
          <a:solidFill>
            <a:srgbClr val="00E5C7"/>
          </a:solidFill>
          <a:ln/>
        </p:spPr>
      </p:sp>
      <p:pic>
        <p:nvPicPr>
          <p:cNvPr id="15" name="Image 0" descr="/home/claude/bustrack/icons/bus_w.png"/>
          <p:cNvPicPr>
            <a:picLocks noChangeAspect="1"/>
          </p:cNvPicPr>
          <p:nvPr/>
        </p:nvPicPr>
        <p:blipFill>
          <a:blip r:embed="rId3"/>
          <a:stretch>
            <a:fillRect/>
          </a:stretch>
        </p:blipFill>
        <p:spPr>
          <a:xfrm>
            <a:off x="9198864" y="3666744"/>
            <a:ext cx="301752" cy="301752"/>
          </a:xfrm>
          <a:prstGeom prst="rect">
            <a:avLst/>
          </a:prstGeom>
        </p:spPr>
      </p:pic>
      <p:sp>
        <p:nvSpPr>
          <p:cNvPr id="16" name="Shape 13"/>
          <p:cNvSpPr/>
          <p:nvPr/>
        </p:nvSpPr>
        <p:spPr>
          <a:xfrm>
            <a:off x="10744200" y="1280160"/>
            <a:ext cx="457200" cy="457200"/>
          </a:xfrm>
          <a:prstGeom prst="ellipse">
            <a:avLst/>
          </a:prstGeom>
          <a:solidFill>
            <a:srgbClr val="34D399"/>
          </a:solidFill>
          <a:ln/>
        </p:spPr>
      </p:sp>
      <p:pic>
        <p:nvPicPr>
          <p:cNvPr id="17" name="Image 1" descr="/home/claude/bustrack/icons/pin_w.png"/>
          <p:cNvPicPr>
            <a:picLocks noChangeAspect="1"/>
          </p:cNvPicPr>
          <p:nvPr/>
        </p:nvPicPr>
        <p:blipFill>
          <a:blip r:embed="rId4"/>
          <a:stretch>
            <a:fillRect/>
          </a:stretch>
        </p:blipFill>
        <p:spPr>
          <a:xfrm>
            <a:off x="10847070" y="1383030"/>
            <a:ext cx="251460" cy="251460"/>
          </a:xfrm>
          <a:prstGeom prst="rect">
            <a:avLst/>
          </a:prstGeom>
        </p:spPr>
      </p:pic>
      <p:sp>
        <p:nvSpPr>
          <p:cNvPr id="18" name="Text 14"/>
          <p:cNvSpPr/>
          <p:nvPr/>
        </p:nvSpPr>
        <p:spPr>
          <a:xfrm>
            <a:off x="9052560" y="3977640"/>
            <a:ext cx="1097280" cy="320040"/>
          </a:xfrm>
          <a:prstGeom prst="rect">
            <a:avLst/>
          </a:prstGeom>
          <a:noFill/>
          <a:ln/>
        </p:spPr>
        <p:txBody>
          <a:bodyPr wrap="square" rtlCol="0" anchor="ctr"/>
          <a:lstStyle/>
          <a:p>
            <a:pPr marL="0" indent="0">
              <a:buNone/>
            </a:pPr>
            <a:r>
              <a:rPr lang="en-US" sz="1100" b="1" dirty="0">
                <a:solidFill>
                  <a:srgbClr val="34D399"/>
                </a:solidFill>
                <a:latin typeface="Calibri" pitchFamily="34" charset="0"/>
                <a:ea typeface="Calibri" pitchFamily="34" charset="-122"/>
                <a:cs typeface="Calibri" pitchFamily="34" charset="-120"/>
              </a:rPr>
              <a:t>LIVE</a:t>
            </a:r>
            <a:endParaRPr lang="en-US" sz="1100" dirty="0"/>
          </a:p>
        </p:txBody>
      </p:sp>
      <p:sp>
        <p:nvSpPr>
          <p:cNvPr id="19" name="Shape 15"/>
          <p:cNvSpPr/>
          <p:nvPr/>
        </p:nvSpPr>
        <p:spPr>
          <a:xfrm>
            <a:off x="8915400" y="4050792"/>
            <a:ext cx="91440" cy="91440"/>
          </a:xfrm>
          <a:prstGeom prst="ellipse">
            <a:avLst/>
          </a:prstGeom>
          <a:solidFill>
            <a:srgbClr val="34D399"/>
          </a:solidFill>
          <a:ln/>
        </p:spPr>
      </p:sp>
      <p:sp>
        <p:nvSpPr>
          <p:cNvPr id="20" name="Shape 16"/>
          <p:cNvSpPr/>
          <p:nvPr/>
        </p:nvSpPr>
        <p:spPr>
          <a:xfrm>
            <a:off x="822960" y="3794760"/>
            <a:ext cx="7406640" cy="1965960"/>
          </a:xfrm>
          <a:prstGeom prst="roundRect">
            <a:avLst>
              <a:gd name="adj" fmla="val 4651"/>
            </a:avLst>
          </a:prstGeom>
          <a:solidFill>
            <a:srgbClr val="0F1B3D"/>
          </a:solidFill>
          <a:ln w="12700">
            <a:solidFill>
              <a:srgbClr val="223261"/>
            </a:solidFill>
            <a:prstDash val="solid"/>
          </a:ln>
        </p:spPr>
      </p:sp>
      <p:sp>
        <p:nvSpPr>
          <p:cNvPr id="21" name="Text 17"/>
          <p:cNvSpPr/>
          <p:nvPr/>
        </p:nvSpPr>
        <p:spPr>
          <a:xfrm>
            <a:off x="1143000" y="4023360"/>
            <a:ext cx="2194560" cy="274320"/>
          </a:xfrm>
          <a:prstGeom prst="rect">
            <a:avLst/>
          </a:prstGeom>
          <a:noFill/>
          <a:ln/>
        </p:spPr>
        <p:txBody>
          <a:bodyPr wrap="square" rtlCol="0" anchor="ctr"/>
          <a:lstStyle/>
          <a:p>
            <a:pPr marL="0" indent="0">
              <a:buNone/>
            </a:pPr>
            <a:r>
              <a:rPr lang="en-US" sz="1000" b="1" kern="0" spc="100" dirty="0">
                <a:solidFill>
                  <a:srgbClr val="00E5C7"/>
                </a:solidFill>
                <a:latin typeface="Calibri" pitchFamily="34" charset="0"/>
                <a:ea typeface="Calibri" pitchFamily="34" charset="-122"/>
                <a:cs typeface="Calibri" pitchFamily="34" charset="-120"/>
              </a:rPr>
              <a:t>STUDENT NAME</a:t>
            </a:r>
            <a:endParaRPr lang="en-US" sz="1000" dirty="0"/>
          </a:p>
        </p:txBody>
      </p:sp>
      <p:sp>
        <p:nvSpPr>
          <p:cNvPr id="22" name="Text 18"/>
          <p:cNvSpPr/>
          <p:nvPr/>
        </p:nvSpPr>
        <p:spPr>
          <a:xfrm>
            <a:off x="1143000" y="4297680"/>
            <a:ext cx="219456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Student Name ]</a:t>
            </a:r>
            <a:endParaRPr lang="en-US" sz="1300" dirty="0"/>
          </a:p>
        </p:txBody>
      </p:sp>
      <p:sp>
        <p:nvSpPr>
          <p:cNvPr id="23" name="Text 19"/>
          <p:cNvSpPr/>
          <p:nvPr/>
        </p:nvSpPr>
        <p:spPr>
          <a:xfrm>
            <a:off x="3611880" y="4023360"/>
            <a:ext cx="2194560" cy="274320"/>
          </a:xfrm>
          <a:prstGeom prst="rect">
            <a:avLst/>
          </a:prstGeom>
          <a:noFill/>
          <a:ln/>
        </p:spPr>
        <p:txBody>
          <a:bodyPr wrap="square" rtlCol="0" anchor="ctr"/>
          <a:lstStyle/>
          <a:p>
            <a:pPr marL="0" indent="0">
              <a:buNone/>
            </a:pPr>
            <a:r>
              <a:rPr lang="en-US" sz="1000" b="1" kern="0" spc="100" dirty="0">
                <a:solidFill>
                  <a:srgbClr val="00E5C7"/>
                </a:solidFill>
                <a:latin typeface="Calibri" pitchFamily="34" charset="0"/>
                <a:ea typeface="Calibri" pitchFamily="34" charset="-122"/>
                <a:cs typeface="Calibri" pitchFamily="34" charset="-120"/>
              </a:rPr>
              <a:t>DEPARTMENT</a:t>
            </a:r>
            <a:endParaRPr lang="en-US" sz="1000" dirty="0"/>
          </a:p>
        </p:txBody>
      </p:sp>
      <p:sp>
        <p:nvSpPr>
          <p:cNvPr id="24" name="Text 20"/>
          <p:cNvSpPr/>
          <p:nvPr/>
        </p:nvSpPr>
        <p:spPr>
          <a:xfrm>
            <a:off x="3611880" y="4297680"/>
            <a:ext cx="219456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Department ]</a:t>
            </a:r>
            <a:endParaRPr lang="en-US" sz="1300" dirty="0"/>
          </a:p>
        </p:txBody>
      </p:sp>
      <p:sp>
        <p:nvSpPr>
          <p:cNvPr id="25" name="Text 21"/>
          <p:cNvSpPr/>
          <p:nvPr/>
        </p:nvSpPr>
        <p:spPr>
          <a:xfrm>
            <a:off x="6080760" y="4023360"/>
            <a:ext cx="2194560" cy="274320"/>
          </a:xfrm>
          <a:prstGeom prst="rect">
            <a:avLst/>
          </a:prstGeom>
          <a:noFill/>
          <a:ln/>
        </p:spPr>
        <p:txBody>
          <a:bodyPr wrap="square" rtlCol="0" anchor="ctr"/>
          <a:lstStyle/>
          <a:p>
            <a:pPr marL="0" indent="0">
              <a:buNone/>
            </a:pPr>
            <a:r>
              <a:rPr lang="en-US" sz="1000" b="1" kern="0" spc="100" dirty="0">
                <a:solidFill>
                  <a:srgbClr val="00E5C7"/>
                </a:solidFill>
                <a:latin typeface="Calibri" pitchFamily="34" charset="0"/>
                <a:ea typeface="Calibri" pitchFamily="34" charset="-122"/>
                <a:cs typeface="Calibri" pitchFamily="34" charset="-120"/>
              </a:rPr>
              <a:t>COLLEGE NAME</a:t>
            </a:r>
            <a:endParaRPr lang="en-US" sz="1000" dirty="0"/>
          </a:p>
        </p:txBody>
      </p:sp>
      <p:sp>
        <p:nvSpPr>
          <p:cNvPr id="26" name="Text 22"/>
          <p:cNvSpPr/>
          <p:nvPr/>
        </p:nvSpPr>
        <p:spPr>
          <a:xfrm>
            <a:off x="6080760" y="4297680"/>
            <a:ext cx="219456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College Name ]</a:t>
            </a:r>
            <a:endParaRPr lang="en-US" sz="1300" dirty="0"/>
          </a:p>
        </p:txBody>
      </p:sp>
      <p:sp>
        <p:nvSpPr>
          <p:cNvPr id="27" name="Text 23"/>
          <p:cNvSpPr/>
          <p:nvPr/>
        </p:nvSpPr>
        <p:spPr>
          <a:xfrm>
            <a:off x="1143000" y="4846320"/>
            <a:ext cx="2194560" cy="274320"/>
          </a:xfrm>
          <a:prstGeom prst="rect">
            <a:avLst/>
          </a:prstGeom>
          <a:noFill/>
          <a:ln/>
        </p:spPr>
        <p:txBody>
          <a:bodyPr wrap="square" rtlCol="0" anchor="ctr"/>
          <a:lstStyle/>
          <a:p>
            <a:pPr marL="0" indent="0">
              <a:buNone/>
            </a:pPr>
            <a:r>
              <a:rPr lang="en-US" sz="1000" b="1" kern="0" spc="100" dirty="0">
                <a:solidFill>
                  <a:srgbClr val="00E5C7"/>
                </a:solidFill>
                <a:latin typeface="Calibri" pitchFamily="34" charset="0"/>
                <a:ea typeface="Calibri" pitchFamily="34" charset="-122"/>
                <a:cs typeface="Calibri" pitchFamily="34" charset="-120"/>
              </a:rPr>
              <a:t>GUIDE NAME</a:t>
            </a:r>
            <a:endParaRPr lang="en-US" sz="1000" dirty="0"/>
          </a:p>
        </p:txBody>
      </p:sp>
      <p:sp>
        <p:nvSpPr>
          <p:cNvPr id="28" name="Text 24"/>
          <p:cNvSpPr/>
          <p:nvPr/>
        </p:nvSpPr>
        <p:spPr>
          <a:xfrm>
            <a:off x="1143000" y="5120640"/>
            <a:ext cx="219456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Guide Name ]</a:t>
            </a:r>
            <a:endParaRPr lang="en-US" sz="1300" dirty="0"/>
          </a:p>
        </p:txBody>
      </p:sp>
      <p:sp>
        <p:nvSpPr>
          <p:cNvPr id="29" name="Text 25"/>
          <p:cNvSpPr/>
          <p:nvPr/>
        </p:nvSpPr>
        <p:spPr>
          <a:xfrm>
            <a:off x="3611880" y="4846320"/>
            <a:ext cx="2194560" cy="274320"/>
          </a:xfrm>
          <a:prstGeom prst="rect">
            <a:avLst/>
          </a:prstGeom>
          <a:noFill/>
          <a:ln/>
        </p:spPr>
        <p:txBody>
          <a:bodyPr wrap="square" rtlCol="0" anchor="ctr"/>
          <a:lstStyle/>
          <a:p>
            <a:pPr marL="0" indent="0">
              <a:buNone/>
            </a:pPr>
            <a:r>
              <a:rPr lang="en-US" sz="1000" b="1" kern="0" spc="100" dirty="0">
                <a:solidFill>
                  <a:srgbClr val="00E5C7"/>
                </a:solidFill>
                <a:latin typeface="Calibri" pitchFamily="34" charset="0"/>
                <a:ea typeface="Calibri" pitchFamily="34" charset="-122"/>
                <a:cs typeface="Calibri" pitchFamily="34" charset="-120"/>
              </a:rPr>
              <a:t>ACADEMIC YEAR</a:t>
            </a:r>
            <a:endParaRPr lang="en-US" sz="1000" dirty="0"/>
          </a:p>
        </p:txBody>
      </p:sp>
      <p:sp>
        <p:nvSpPr>
          <p:cNvPr id="30" name="Text 26"/>
          <p:cNvSpPr/>
          <p:nvPr/>
        </p:nvSpPr>
        <p:spPr>
          <a:xfrm>
            <a:off x="3611880" y="5120640"/>
            <a:ext cx="219456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Academic Year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Is a Bus Tracking System?</a:t>
            </a:r>
            <a:endParaRPr lang="en-US" sz="3000" dirty="0"/>
          </a:p>
        </p:txBody>
      </p:sp>
      <p:sp>
        <p:nvSpPr>
          <p:cNvPr id="4" name="Text 2"/>
          <p:cNvSpPr/>
          <p:nvPr/>
        </p:nvSpPr>
        <p:spPr>
          <a:xfrm>
            <a:off x="640080" y="1508760"/>
            <a:ext cx="6035040" cy="1005840"/>
          </a:xfrm>
          <a:prstGeom prst="rect">
            <a:avLst/>
          </a:prstGeom>
          <a:noFill/>
          <a:ln/>
        </p:spPr>
        <p:txBody>
          <a:bodyPr wrap="square" rtlCol="0" anchor="ctr"/>
          <a:lstStyle/>
          <a:p>
            <a:pPr marL="0" indent="0">
              <a:lnSpc>
                <a:spcPct val="125000"/>
              </a:lnSpc>
              <a:buNone/>
            </a:pPr>
            <a:r>
              <a:rPr lang="en-US" sz="1350" dirty="0">
                <a:solidFill>
                  <a:srgbClr val="9CA6C7"/>
                </a:solidFill>
                <a:latin typeface="Calibri" pitchFamily="34" charset="0"/>
                <a:ea typeface="Calibri" pitchFamily="34" charset="-122"/>
                <a:cs typeface="Calibri" pitchFamily="34" charset="-120"/>
              </a:rPr>
              <a:t>A College Bus Tracking System uses GPS and web/mobile technology to locate campus buses in real time, giving students, drivers, and administrators live visibility into the fleet.</a:t>
            </a:r>
            <a:endParaRPr lang="en-US" sz="1350" dirty="0"/>
          </a:p>
        </p:txBody>
      </p:sp>
      <p:sp>
        <p:nvSpPr>
          <p:cNvPr id="5" name="Shape 3"/>
          <p:cNvSpPr/>
          <p:nvPr/>
        </p:nvSpPr>
        <p:spPr>
          <a:xfrm>
            <a:off x="640080" y="2743200"/>
            <a:ext cx="457200" cy="457200"/>
          </a:xfrm>
          <a:prstGeom prst="ellipse">
            <a:avLst/>
          </a:prstGeom>
          <a:solidFill>
            <a:srgbClr val="132353"/>
          </a:solidFill>
          <a:ln/>
        </p:spPr>
      </p:sp>
      <p:pic>
        <p:nvPicPr>
          <p:cNvPr id="6" name="Image 0" descr="/home/claude/bustrack/icons/crosshair_c.png"/>
          <p:cNvPicPr>
            <a:picLocks noChangeAspect="1"/>
          </p:cNvPicPr>
          <p:nvPr/>
        </p:nvPicPr>
        <p:blipFill>
          <a:blip r:embed="rId3"/>
          <a:stretch>
            <a:fillRect/>
          </a:stretch>
        </p:blipFill>
        <p:spPr>
          <a:xfrm>
            <a:off x="742950" y="2846070"/>
            <a:ext cx="251460" cy="251460"/>
          </a:xfrm>
          <a:prstGeom prst="rect">
            <a:avLst/>
          </a:prstGeom>
        </p:spPr>
      </p:pic>
      <p:sp>
        <p:nvSpPr>
          <p:cNvPr id="7" name="Text 4"/>
          <p:cNvSpPr/>
          <p:nvPr/>
        </p:nvSpPr>
        <p:spPr>
          <a:xfrm>
            <a:off x="1234440" y="2715768"/>
            <a:ext cx="24688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Real-Time Tracking</a:t>
            </a:r>
            <a:endParaRPr lang="en-US" sz="1300" dirty="0"/>
          </a:p>
        </p:txBody>
      </p:sp>
      <p:sp>
        <p:nvSpPr>
          <p:cNvPr id="8" name="Text 5"/>
          <p:cNvSpPr/>
          <p:nvPr/>
        </p:nvSpPr>
        <p:spPr>
          <a:xfrm>
            <a:off x="1234440" y="2990088"/>
            <a:ext cx="2468880" cy="502920"/>
          </a:xfrm>
          <a:prstGeom prst="rect">
            <a:avLst/>
          </a:prstGeom>
          <a:noFill/>
          <a:ln/>
        </p:spPr>
        <p:txBody>
          <a:bodyPr wrap="square" rtlCol="0" anchor="ctr"/>
          <a:lstStyle/>
          <a:p>
            <a:pPr marL="0" indent="0">
              <a:lnSpc>
                <a:spcPct val="110000"/>
              </a:lnSpc>
              <a:buNone/>
            </a:pPr>
            <a:r>
              <a:rPr lang="en-US" sz="1000" dirty="0">
                <a:solidFill>
                  <a:srgbClr val="9CA6C7"/>
                </a:solidFill>
                <a:latin typeface="Calibri" pitchFamily="34" charset="0"/>
                <a:ea typeface="Calibri" pitchFamily="34" charset="-122"/>
                <a:cs typeface="Calibri" pitchFamily="34" charset="-120"/>
              </a:rPr>
              <a:t>Live bus location visible on a map at all times.</a:t>
            </a:r>
            <a:endParaRPr lang="en-US" sz="1000" dirty="0"/>
          </a:p>
        </p:txBody>
      </p:sp>
      <p:sp>
        <p:nvSpPr>
          <p:cNvPr id="9" name="Shape 6"/>
          <p:cNvSpPr/>
          <p:nvPr/>
        </p:nvSpPr>
        <p:spPr>
          <a:xfrm>
            <a:off x="3794760" y="2743200"/>
            <a:ext cx="457200" cy="457200"/>
          </a:xfrm>
          <a:prstGeom prst="ellipse">
            <a:avLst/>
          </a:prstGeom>
          <a:solidFill>
            <a:srgbClr val="132353"/>
          </a:solidFill>
          <a:ln/>
        </p:spPr>
      </p:sp>
      <p:pic>
        <p:nvPicPr>
          <p:cNvPr id="10" name="Image 1" descr="/home/claude/bustrack/icons/shield_w.png"/>
          <p:cNvPicPr>
            <a:picLocks noChangeAspect="1"/>
          </p:cNvPicPr>
          <p:nvPr/>
        </p:nvPicPr>
        <p:blipFill>
          <a:blip r:embed="rId4"/>
          <a:stretch>
            <a:fillRect/>
          </a:stretch>
        </p:blipFill>
        <p:spPr>
          <a:xfrm>
            <a:off x="3897630" y="2846070"/>
            <a:ext cx="251460" cy="251460"/>
          </a:xfrm>
          <a:prstGeom prst="rect">
            <a:avLst/>
          </a:prstGeom>
        </p:spPr>
      </p:pic>
      <p:sp>
        <p:nvSpPr>
          <p:cNvPr id="11" name="Text 7"/>
          <p:cNvSpPr/>
          <p:nvPr/>
        </p:nvSpPr>
        <p:spPr>
          <a:xfrm>
            <a:off x="4389120" y="2715768"/>
            <a:ext cx="24688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Safety</a:t>
            </a:r>
            <a:endParaRPr lang="en-US" sz="1300" dirty="0"/>
          </a:p>
        </p:txBody>
      </p:sp>
      <p:sp>
        <p:nvSpPr>
          <p:cNvPr id="12" name="Text 8"/>
          <p:cNvSpPr/>
          <p:nvPr/>
        </p:nvSpPr>
        <p:spPr>
          <a:xfrm>
            <a:off x="4389120" y="2990088"/>
            <a:ext cx="2468880" cy="502920"/>
          </a:xfrm>
          <a:prstGeom prst="rect">
            <a:avLst/>
          </a:prstGeom>
          <a:noFill/>
          <a:ln/>
        </p:spPr>
        <p:txBody>
          <a:bodyPr wrap="square" rtlCol="0" anchor="ctr"/>
          <a:lstStyle/>
          <a:p>
            <a:pPr marL="0" indent="0">
              <a:lnSpc>
                <a:spcPct val="110000"/>
              </a:lnSpc>
              <a:buNone/>
            </a:pPr>
            <a:r>
              <a:rPr lang="en-US" sz="1000" dirty="0">
                <a:solidFill>
                  <a:srgbClr val="9CA6C7"/>
                </a:solidFill>
                <a:latin typeface="Calibri" pitchFamily="34" charset="0"/>
                <a:ea typeface="Calibri" pitchFamily="34" charset="-122"/>
                <a:cs typeface="Calibri" pitchFamily="34" charset="-120"/>
              </a:rPr>
              <a:t>Faster response and visibility during emergencies.</a:t>
            </a:r>
            <a:endParaRPr lang="en-US" sz="1000" dirty="0"/>
          </a:p>
        </p:txBody>
      </p:sp>
      <p:sp>
        <p:nvSpPr>
          <p:cNvPr id="13" name="Shape 9"/>
          <p:cNvSpPr/>
          <p:nvPr/>
        </p:nvSpPr>
        <p:spPr>
          <a:xfrm>
            <a:off x="640080" y="3794760"/>
            <a:ext cx="457200" cy="457200"/>
          </a:xfrm>
          <a:prstGeom prst="ellipse">
            <a:avLst/>
          </a:prstGeom>
          <a:solidFill>
            <a:srgbClr val="132353"/>
          </a:solidFill>
          <a:ln/>
        </p:spPr>
      </p:sp>
      <p:pic>
        <p:nvPicPr>
          <p:cNvPr id="14" name="Image 2" descr="/home/claude/bustrack/icons/comment_w.png"/>
          <p:cNvPicPr>
            <a:picLocks noChangeAspect="1"/>
          </p:cNvPicPr>
          <p:nvPr/>
        </p:nvPicPr>
        <p:blipFill>
          <a:blip r:embed="rId5"/>
          <a:stretch>
            <a:fillRect/>
          </a:stretch>
        </p:blipFill>
        <p:spPr>
          <a:xfrm>
            <a:off x="742950" y="3897630"/>
            <a:ext cx="251460" cy="251460"/>
          </a:xfrm>
          <a:prstGeom prst="rect">
            <a:avLst/>
          </a:prstGeom>
        </p:spPr>
      </p:pic>
      <p:sp>
        <p:nvSpPr>
          <p:cNvPr id="15" name="Text 10"/>
          <p:cNvSpPr/>
          <p:nvPr/>
        </p:nvSpPr>
        <p:spPr>
          <a:xfrm>
            <a:off x="1234440" y="3767328"/>
            <a:ext cx="24688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Communication</a:t>
            </a:r>
            <a:endParaRPr lang="en-US" sz="1300" dirty="0"/>
          </a:p>
        </p:txBody>
      </p:sp>
      <p:sp>
        <p:nvSpPr>
          <p:cNvPr id="16" name="Text 11"/>
          <p:cNvSpPr/>
          <p:nvPr/>
        </p:nvSpPr>
        <p:spPr>
          <a:xfrm>
            <a:off x="1234440" y="4041648"/>
            <a:ext cx="2468880" cy="502920"/>
          </a:xfrm>
          <a:prstGeom prst="rect">
            <a:avLst/>
          </a:prstGeom>
          <a:noFill/>
          <a:ln/>
        </p:spPr>
        <p:txBody>
          <a:bodyPr wrap="square" rtlCol="0" anchor="ctr"/>
          <a:lstStyle/>
          <a:p>
            <a:pPr marL="0" indent="0">
              <a:lnSpc>
                <a:spcPct val="110000"/>
              </a:lnSpc>
              <a:buNone/>
            </a:pPr>
            <a:r>
              <a:rPr lang="en-US" sz="1000" dirty="0">
                <a:solidFill>
                  <a:srgbClr val="9CA6C7"/>
                </a:solidFill>
                <a:latin typeface="Calibri" pitchFamily="34" charset="0"/>
                <a:ea typeface="Calibri" pitchFamily="34" charset="-122"/>
                <a:cs typeface="Calibri" pitchFamily="34" charset="-120"/>
              </a:rPr>
              <a:t>Instant updates between students, drivers, and admin.</a:t>
            </a:r>
            <a:endParaRPr lang="en-US" sz="1000" dirty="0"/>
          </a:p>
        </p:txBody>
      </p:sp>
      <p:sp>
        <p:nvSpPr>
          <p:cNvPr id="17" name="Shape 12"/>
          <p:cNvSpPr/>
          <p:nvPr/>
        </p:nvSpPr>
        <p:spPr>
          <a:xfrm>
            <a:off x="3794760" y="3794760"/>
            <a:ext cx="457200" cy="457200"/>
          </a:xfrm>
          <a:prstGeom prst="ellipse">
            <a:avLst/>
          </a:prstGeom>
          <a:solidFill>
            <a:srgbClr val="132353"/>
          </a:solidFill>
          <a:ln/>
        </p:spPr>
      </p:sp>
      <p:pic>
        <p:nvPicPr>
          <p:cNvPr id="18" name="Image 3" descr="/home/claude/bustrack/icons/clock_w.png"/>
          <p:cNvPicPr>
            <a:picLocks noChangeAspect="1"/>
          </p:cNvPicPr>
          <p:nvPr/>
        </p:nvPicPr>
        <p:blipFill>
          <a:blip r:embed="rId6"/>
          <a:stretch>
            <a:fillRect/>
          </a:stretch>
        </p:blipFill>
        <p:spPr>
          <a:xfrm>
            <a:off x="3897630" y="3897630"/>
            <a:ext cx="251460" cy="251460"/>
          </a:xfrm>
          <a:prstGeom prst="rect">
            <a:avLst/>
          </a:prstGeom>
        </p:spPr>
      </p:pic>
      <p:sp>
        <p:nvSpPr>
          <p:cNvPr id="19" name="Text 13"/>
          <p:cNvSpPr/>
          <p:nvPr/>
        </p:nvSpPr>
        <p:spPr>
          <a:xfrm>
            <a:off x="4389120" y="3767328"/>
            <a:ext cx="2468880" cy="27432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Convenience</a:t>
            </a:r>
            <a:endParaRPr lang="en-US" sz="1300" dirty="0"/>
          </a:p>
        </p:txBody>
      </p:sp>
      <p:sp>
        <p:nvSpPr>
          <p:cNvPr id="20" name="Text 14"/>
          <p:cNvSpPr/>
          <p:nvPr/>
        </p:nvSpPr>
        <p:spPr>
          <a:xfrm>
            <a:off x="4389120" y="4041648"/>
            <a:ext cx="2468880" cy="502920"/>
          </a:xfrm>
          <a:prstGeom prst="rect">
            <a:avLst/>
          </a:prstGeom>
          <a:noFill/>
          <a:ln/>
        </p:spPr>
        <p:txBody>
          <a:bodyPr wrap="square" rtlCol="0" anchor="ctr"/>
          <a:lstStyle/>
          <a:p>
            <a:pPr marL="0" indent="0">
              <a:lnSpc>
                <a:spcPct val="110000"/>
              </a:lnSpc>
              <a:buNone/>
            </a:pPr>
            <a:r>
              <a:rPr lang="en-US" sz="1000" dirty="0">
                <a:solidFill>
                  <a:srgbClr val="9CA6C7"/>
                </a:solidFill>
                <a:latin typeface="Calibri" pitchFamily="34" charset="0"/>
                <a:ea typeface="Calibri" pitchFamily="34" charset="-122"/>
                <a:cs typeface="Calibri" pitchFamily="34" charset="-120"/>
              </a:rPr>
              <a:t>No more guessing — plan your day around the bus.</a:t>
            </a:r>
            <a:endParaRPr lang="en-US" sz="1000" dirty="0"/>
          </a:p>
        </p:txBody>
      </p:sp>
      <p:sp>
        <p:nvSpPr>
          <p:cNvPr id="21" name="Shape 15"/>
          <p:cNvSpPr/>
          <p:nvPr/>
        </p:nvSpPr>
        <p:spPr>
          <a:xfrm>
            <a:off x="7360920" y="1554480"/>
            <a:ext cx="4206240" cy="4389120"/>
          </a:xfrm>
          <a:prstGeom prst="roundRect">
            <a:avLst>
              <a:gd name="adj" fmla="val 2174"/>
            </a:avLst>
          </a:prstGeom>
          <a:solidFill>
            <a:srgbClr val="0F1B3D"/>
          </a:solidFill>
          <a:ln w="12700">
            <a:solidFill>
              <a:srgbClr val="223261"/>
            </a:solidFill>
            <a:prstDash val="solid"/>
          </a:ln>
        </p:spPr>
      </p:sp>
      <p:sp>
        <p:nvSpPr>
          <p:cNvPr id="22" name="Text 16"/>
          <p:cNvSpPr/>
          <p:nvPr/>
        </p:nvSpPr>
        <p:spPr>
          <a:xfrm>
            <a:off x="7635240" y="1783080"/>
            <a:ext cx="3657600" cy="274320"/>
          </a:xfrm>
          <a:prstGeom prst="rect">
            <a:avLst/>
          </a:prstGeom>
          <a:noFill/>
          <a:ln/>
        </p:spPr>
        <p:txBody>
          <a:bodyPr wrap="square" rtlCol="0" anchor="ctr"/>
          <a:lstStyle/>
          <a:p>
            <a:pPr marL="0" indent="0">
              <a:buNone/>
            </a:pPr>
            <a:r>
              <a:rPr lang="en-US" sz="1100" b="1" kern="0" spc="200" dirty="0">
                <a:solidFill>
                  <a:srgbClr val="00E5C7"/>
                </a:solidFill>
                <a:latin typeface="Calibri" pitchFamily="34" charset="0"/>
                <a:ea typeface="Calibri" pitchFamily="34" charset="-122"/>
                <a:cs typeface="Calibri" pitchFamily="34" charset="-120"/>
              </a:rPr>
              <a:t>DATA FLOW</a:t>
            </a:r>
            <a:endParaRPr lang="en-US" sz="1100" dirty="0"/>
          </a:p>
        </p:txBody>
      </p:sp>
      <p:sp>
        <p:nvSpPr>
          <p:cNvPr id="23" name="Shape 17"/>
          <p:cNvSpPr/>
          <p:nvPr/>
        </p:nvSpPr>
        <p:spPr>
          <a:xfrm>
            <a:off x="7726680" y="2240280"/>
            <a:ext cx="548640" cy="548640"/>
          </a:xfrm>
          <a:prstGeom prst="ellipse">
            <a:avLst/>
          </a:prstGeom>
          <a:solidFill>
            <a:srgbClr val="132353"/>
          </a:solidFill>
          <a:ln/>
        </p:spPr>
      </p:sp>
      <p:pic>
        <p:nvPicPr>
          <p:cNvPr id="24" name="Image 4" descr="/home/claude/bustrack/icons/bus_w.png"/>
          <p:cNvPicPr>
            <a:picLocks noChangeAspect="1"/>
          </p:cNvPicPr>
          <p:nvPr/>
        </p:nvPicPr>
        <p:blipFill>
          <a:blip r:embed="rId7"/>
          <a:stretch>
            <a:fillRect/>
          </a:stretch>
        </p:blipFill>
        <p:spPr>
          <a:xfrm>
            <a:off x="7850124" y="2363724"/>
            <a:ext cx="301752" cy="301752"/>
          </a:xfrm>
          <a:prstGeom prst="rect">
            <a:avLst/>
          </a:prstGeom>
        </p:spPr>
      </p:pic>
      <p:sp>
        <p:nvSpPr>
          <p:cNvPr id="25" name="Text 18"/>
          <p:cNvSpPr/>
          <p:nvPr/>
        </p:nvSpPr>
        <p:spPr>
          <a:xfrm>
            <a:off x="8458200" y="2331720"/>
            <a:ext cx="28346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Bus</a:t>
            </a:r>
            <a:endParaRPr lang="en-US" sz="1400" dirty="0"/>
          </a:p>
        </p:txBody>
      </p:sp>
      <p:pic>
        <p:nvPicPr>
          <p:cNvPr id="26" name="Image 5" descr="/home/claude/bustrack/icons/arrow_down_w.png"/>
          <p:cNvPicPr>
            <a:picLocks noChangeAspect="1"/>
          </p:cNvPicPr>
          <p:nvPr/>
        </p:nvPicPr>
        <p:blipFill>
          <a:blip r:embed="rId8"/>
          <a:stretch>
            <a:fillRect/>
          </a:stretch>
        </p:blipFill>
        <p:spPr>
          <a:xfrm>
            <a:off x="7927848" y="2834640"/>
            <a:ext cx="146304" cy="274320"/>
          </a:xfrm>
          <a:prstGeom prst="rect">
            <a:avLst/>
          </a:prstGeom>
        </p:spPr>
      </p:pic>
      <p:sp>
        <p:nvSpPr>
          <p:cNvPr id="27" name="Shape 19"/>
          <p:cNvSpPr/>
          <p:nvPr/>
        </p:nvSpPr>
        <p:spPr>
          <a:xfrm>
            <a:off x="7726680" y="3364992"/>
            <a:ext cx="548640" cy="548640"/>
          </a:xfrm>
          <a:prstGeom prst="ellipse">
            <a:avLst/>
          </a:prstGeom>
          <a:solidFill>
            <a:srgbClr val="132353"/>
          </a:solidFill>
          <a:ln/>
        </p:spPr>
      </p:sp>
      <p:pic>
        <p:nvPicPr>
          <p:cNvPr id="28" name="Image 6" descr="/home/claude/bustrack/icons/crosshair_c.png"/>
          <p:cNvPicPr>
            <a:picLocks noChangeAspect="1"/>
          </p:cNvPicPr>
          <p:nvPr/>
        </p:nvPicPr>
        <p:blipFill>
          <a:blip r:embed="rId3"/>
          <a:stretch>
            <a:fillRect/>
          </a:stretch>
        </p:blipFill>
        <p:spPr>
          <a:xfrm>
            <a:off x="7850124" y="3488436"/>
            <a:ext cx="301752" cy="301752"/>
          </a:xfrm>
          <a:prstGeom prst="rect">
            <a:avLst/>
          </a:prstGeom>
        </p:spPr>
      </p:pic>
      <p:sp>
        <p:nvSpPr>
          <p:cNvPr id="29" name="Text 20"/>
          <p:cNvSpPr/>
          <p:nvPr/>
        </p:nvSpPr>
        <p:spPr>
          <a:xfrm>
            <a:off x="8458200" y="3456432"/>
            <a:ext cx="28346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GPS</a:t>
            </a:r>
            <a:endParaRPr lang="en-US" sz="1400" dirty="0"/>
          </a:p>
        </p:txBody>
      </p:sp>
      <p:pic>
        <p:nvPicPr>
          <p:cNvPr id="30" name="Image 7" descr="/home/claude/bustrack/icons/arrow_down_w.png"/>
          <p:cNvPicPr>
            <a:picLocks noChangeAspect="1"/>
          </p:cNvPicPr>
          <p:nvPr/>
        </p:nvPicPr>
        <p:blipFill>
          <a:blip r:embed="rId8"/>
          <a:stretch>
            <a:fillRect/>
          </a:stretch>
        </p:blipFill>
        <p:spPr>
          <a:xfrm>
            <a:off x="7927848" y="3959352"/>
            <a:ext cx="146304" cy="274320"/>
          </a:xfrm>
          <a:prstGeom prst="rect">
            <a:avLst/>
          </a:prstGeom>
        </p:spPr>
      </p:pic>
      <p:sp>
        <p:nvSpPr>
          <p:cNvPr id="31" name="Shape 21"/>
          <p:cNvSpPr/>
          <p:nvPr/>
        </p:nvSpPr>
        <p:spPr>
          <a:xfrm>
            <a:off x="7726680" y="4489704"/>
            <a:ext cx="548640" cy="548640"/>
          </a:xfrm>
          <a:prstGeom prst="ellipse">
            <a:avLst/>
          </a:prstGeom>
          <a:solidFill>
            <a:srgbClr val="132353"/>
          </a:solidFill>
          <a:ln/>
        </p:spPr>
      </p:sp>
      <p:pic>
        <p:nvPicPr>
          <p:cNvPr id="32" name="Image 8" descr="/home/claude/bustrack/icons/server_w.png"/>
          <p:cNvPicPr>
            <a:picLocks noChangeAspect="1"/>
          </p:cNvPicPr>
          <p:nvPr/>
        </p:nvPicPr>
        <p:blipFill>
          <a:blip r:embed="rId9"/>
          <a:stretch>
            <a:fillRect/>
          </a:stretch>
        </p:blipFill>
        <p:spPr>
          <a:xfrm>
            <a:off x="7850124" y="4613148"/>
            <a:ext cx="301752" cy="301752"/>
          </a:xfrm>
          <a:prstGeom prst="rect">
            <a:avLst/>
          </a:prstGeom>
        </p:spPr>
      </p:pic>
      <p:sp>
        <p:nvSpPr>
          <p:cNvPr id="33" name="Text 22"/>
          <p:cNvSpPr/>
          <p:nvPr/>
        </p:nvSpPr>
        <p:spPr>
          <a:xfrm>
            <a:off x="8458200" y="4581144"/>
            <a:ext cx="28346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Server</a:t>
            </a:r>
            <a:endParaRPr lang="en-US" sz="1400" dirty="0"/>
          </a:p>
        </p:txBody>
      </p:sp>
      <p:pic>
        <p:nvPicPr>
          <p:cNvPr id="34" name="Image 9" descr="/home/claude/bustrack/icons/arrow_down_w.png"/>
          <p:cNvPicPr>
            <a:picLocks noChangeAspect="1"/>
          </p:cNvPicPr>
          <p:nvPr/>
        </p:nvPicPr>
        <p:blipFill>
          <a:blip r:embed="rId8"/>
          <a:stretch>
            <a:fillRect/>
          </a:stretch>
        </p:blipFill>
        <p:spPr>
          <a:xfrm>
            <a:off x="7927848" y="5084064"/>
            <a:ext cx="146304" cy="274320"/>
          </a:xfrm>
          <a:prstGeom prst="rect">
            <a:avLst/>
          </a:prstGeom>
        </p:spPr>
      </p:pic>
      <p:sp>
        <p:nvSpPr>
          <p:cNvPr id="35" name="Shape 23"/>
          <p:cNvSpPr/>
          <p:nvPr/>
        </p:nvSpPr>
        <p:spPr>
          <a:xfrm>
            <a:off x="7726680" y="5614416"/>
            <a:ext cx="548640" cy="548640"/>
          </a:xfrm>
          <a:prstGeom prst="ellipse">
            <a:avLst/>
          </a:prstGeom>
          <a:solidFill>
            <a:srgbClr val="00E5C7"/>
          </a:solidFill>
          <a:ln/>
        </p:spPr>
      </p:sp>
      <p:pic>
        <p:nvPicPr>
          <p:cNvPr id="36" name="Image 10" descr="/home/claude/bustrack/icons/mobile_w.png"/>
          <p:cNvPicPr>
            <a:picLocks noChangeAspect="1"/>
          </p:cNvPicPr>
          <p:nvPr/>
        </p:nvPicPr>
        <p:blipFill>
          <a:blip r:embed="rId10"/>
          <a:stretch>
            <a:fillRect/>
          </a:stretch>
        </p:blipFill>
        <p:spPr>
          <a:xfrm>
            <a:off x="7863840" y="5751576"/>
            <a:ext cx="274320" cy="274320"/>
          </a:xfrm>
          <a:prstGeom prst="rect">
            <a:avLst/>
          </a:prstGeom>
        </p:spPr>
      </p:pic>
      <p:sp>
        <p:nvSpPr>
          <p:cNvPr id="37" name="Text 24"/>
          <p:cNvSpPr/>
          <p:nvPr/>
        </p:nvSpPr>
        <p:spPr>
          <a:xfrm>
            <a:off x="8458200" y="5705856"/>
            <a:ext cx="28346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Student App</a:t>
            </a:r>
            <a:endParaRPr lang="en-US" sz="1400" dirty="0"/>
          </a:p>
        </p:txBody>
      </p:sp>
      <p:sp>
        <p:nvSpPr>
          <p:cNvPr id="38" name="Text 25"/>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THE CHALLENGE</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640080" y="1417320"/>
            <a:ext cx="9601200" cy="365760"/>
          </a:xfrm>
          <a:prstGeom prst="rect">
            <a:avLst/>
          </a:prstGeom>
          <a:noFill/>
          <a:ln/>
        </p:spPr>
        <p:txBody>
          <a:bodyPr wrap="square" rtlCol="0" anchor="ctr"/>
          <a:lstStyle/>
          <a:p>
            <a:pPr marL="0" indent="0">
              <a:buNone/>
            </a:pPr>
            <a:r>
              <a:rPr lang="en-US" sz="1350" dirty="0">
                <a:solidFill>
                  <a:srgbClr val="9CA6C7"/>
                </a:solidFill>
                <a:latin typeface="Calibri" pitchFamily="34" charset="0"/>
                <a:ea typeface="Calibri" pitchFamily="34" charset="-122"/>
                <a:cs typeface="Calibri" pitchFamily="34" charset="-120"/>
              </a:rPr>
              <a:t>Traditional college bus transportation leaves students guessing and administrators in the dark.</a:t>
            </a:r>
            <a:endParaRPr lang="en-US" sz="1350" dirty="0"/>
          </a:p>
        </p:txBody>
      </p:sp>
      <p:sp>
        <p:nvSpPr>
          <p:cNvPr id="5" name="Shape 3"/>
          <p:cNvSpPr/>
          <p:nvPr/>
        </p:nvSpPr>
        <p:spPr>
          <a:xfrm>
            <a:off x="681228" y="2011680"/>
            <a:ext cx="3429000" cy="1874520"/>
          </a:xfrm>
          <a:prstGeom prst="roundRect">
            <a:avLst>
              <a:gd name="adj" fmla="val 4878"/>
            </a:avLst>
          </a:prstGeom>
          <a:solidFill>
            <a:srgbClr val="0F1B3D"/>
          </a:solidFill>
          <a:ln w="12700">
            <a:solidFill>
              <a:srgbClr val="223261"/>
            </a:solidFill>
            <a:prstDash val="solid"/>
          </a:ln>
        </p:spPr>
      </p:sp>
      <p:sp>
        <p:nvSpPr>
          <p:cNvPr id="6" name="Shape 4"/>
          <p:cNvSpPr/>
          <p:nvPr/>
        </p:nvSpPr>
        <p:spPr>
          <a:xfrm>
            <a:off x="909828" y="2267712"/>
            <a:ext cx="502920" cy="502920"/>
          </a:xfrm>
          <a:prstGeom prst="ellipse">
            <a:avLst/>
          </a:prstGeom>
          <a:solidFill>
            <a:srgbClr val="132353"/>
          </a:solidFill>
          <a:ln w="15875">
            <a:solidFill>
              <a:srgbClr val="3A2E5C"/>
            </a:solidFill>
            <a:prstDash val="solid"/>
          </a:ln>
        </p:spPr>
      </p:sp>
      <p:pic>
        <p:nvPicPr>
          <p:cNvPr id="7" name="Image 0" descr="/home/claude/bustrack/icons/pin_w.png"/>
          <p:cNvPicPr>
            <a:picLocks noChangeAspect="1"/>
          </p:cNvPicPr>
          <p:nvPr/>
        </p:nvPicPr>
        <p:blipFill>
          <a:blip r:embed="rId3"/>
          <a:stretch>
            <a:fillRect/>
          </a:stretch>
        </p:blipFill>
        <p:spPr>
          <a:xfrm>
            <a:off x="1022985" y="2380869"/>
            <a:ext cx="276606" cy="276606"/>
          </a:xfrm>
          <a:prstGeom prst="rect">
            <a:avLst/>
          </a:prstGeom>
        </p:spPr>
      </p:pic>
      <p:sp>
        <p:nvSpPr>
          <p:cNvPr id="8" name="Text 5"/>
          <p:cNvSpPr/>
          <p:nvPr/>
        </p:nvSpPr>
        <p:spPr>
          <a:xfrm>
            <a:off x="1549908" y="221284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Unknown Bus Location</a:t>
            </a:r>
            <a:endParaRPr lang="en-US" sz="1300" dirty="0"/>
          </a:p>
        </p:txBody>
      </p:sp>
      <p:sp>
        <p:nvSpPr>
          <p:cNvPr id="9" name="Text 6"/>
          <p:cNvSpPr/>
          <p:nvPr/>
        </p:nvSpPr>
        <p:spPr>
          <a:xfrm>
            <a:off x="909828" y="2926080"/>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Students have no way to know exactly where the bus is.</a:t>
            </a:r>
            <a:endParaRPr lang="en-US" sz="1050" dirty="0"/>
          </a:p>
        </p:txBody>
      </p:sp>
      <p:sp>
        <p:nvSpPr>
          <p:cNvPr id="10" name="Shape 7"/>
          <p:cNvSpPr/>
          <p:nvPr/>
        </p:nvSpPr>
        <p:spPr>
          <a:xfrm>
            <a:off x="4366260" y="2011680"/>
            <a:ext cx="3429000" cy="1874520"/>
          </a:xfrm>
          <a:prstGeom prst="roundRect">
            <a:avLst>
              <a:gd name="adj" fmla="val 4878"/>
            </a:avLst>
          </a:prstGeom>
          <a:solidFill>
            <a:srgbClr val="0F1B3D"/>
          </a:solidFill>
          <a:ln w="12700">
            <a:solidFill>
              <a:srgbClr val="223261"/>
            </a:solidFill>
            <a:prstDash val="solid"/>
          </a:ln>
        </p:spPr>
      </p:sp>
      <p:sp>
        <p:nvSpPr>
          <p:cNvPr id="11" name="Shape 8"/>
          <p:cNvSpPr/>
          <p:nvPr/>
        </p:nvSpPr>
        <p:spPr>
          <a:xfrm>
            <a:off x="4594860" y="2267712"/>
            <a:ext cx="502920" cy="502920"/>
          </a:xfrm>
          <a:prstGeom prst="ellipse">
            <a:avLst/>
          </a:prstGeom>
          <a:solidFill>
            <a:srgbClr val="132353"/>
          </a:solidFill>
          <a:ln w="15875">
            <a:solidFill>
              <a:srgbClr val="3A2E5C"/>
            </a:solidFill>
            <a:prstDash val="solid"/>
          </a:ln>
        </p:spPr>
      </p:sp>
      <p:pic>
        <p:nvPicPr>
          <p:cNvPr id="12" name="Image 1" descr="/home/claude/bustrack/icons/hourglass_w.png"/>
          <p:cNvPicPr>
            <a:picLocks noChangeAspect="1"/>
          </p:cNvPicPr>
          <p:nvPr/>
        </p:nvPicPr>
        <p:blipFill>
          <a:blip r:embed="rId4"/>
          <a:stretch>
            <a:fillRect/>
          </a:stretch>
        </p:blipFill>
        <p:spPr>
          <a:xfrm>
            <a:off x="4708017" y="2380869"/>
            <a:ext cx="276606" cy="276606"/>
          </a:xfrm>
          <a:prstGeom prst="rect">
            <a:avLst/>
          </a:prstGeom>
        </p:spPr>
      </p:pic>
      <p:sp>
        <p:nvSpPr>
          <p:cNvPr id="13" name="Text 9"/>
          <p:cNvSpPr/>
          <p:nvPr/>
        </p:nvSpPr>
        <p:spPr>
          <a:xfrm>
            <a:off x="5234940" y="221284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Arrival Uncertainty</a:t>
            </a:r>
            <a:endParaRPr lang="en-US" sz="1300" dirty="0"/>
          </a:p>
        </p:txBody>
      </p:sp>
      <p:sp>
        <p:nvSpPr>
          <p:cNvPr id="14" name="Text 10"/>
          <p:cNvSpPr/>
          <p:nvPr/>
        </p:nvSpPr>
        <p:spPr>
          <a:xfrm>
            <a:off x="4594860" y="2926080"/>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No reliable estimate of when the bus will arrive.</a:t>
            </a:r>
            <a:endParaRPr lang="en-US" sz="1050" dirty="0"/>
          </a:p>
        </p:txBody>
      </p:sp>
      <p:sp>
        <p:nvSpPr>
          <p:cNvPr id="15" name="Shape 11"/>
          <p:cNvSpPr/>
          <p:nvPr/>
        </p:nvSpPr>
        <p:spPr>
          <a:xfrm>
            <a:off x="8051292" y="2011680"/>
            <a:ext cx="3429000" cy="1874520"/>
          </a:xfrm>
          <a:prstGeom prst="roundRect">
            <a:avLst>
              <a:gd name="adj" fmla="val 4878"/>
            </a:avLst>
          </a:prstGeom>
          <a:solidFill>
            <a:srgbClr val="0F1B3D"/>
          </a:solidFill>
          <a:ln w="12700">
            <a:solidFill>
              <a:srgbClr val="223261"/>
            </a:solidFill>
            <a:prstDash val="solid"/>
          </a:ln>
        </p:spPr>
      </p:sp>
      <p:sp>
        <p:nvSpPr>
          <p:cNvPr id="16" name="Shape 12"/>
          <p:cNvSpPr/>
          <p:nvPr/>
        </p:nvSpPr>
        <p:spPr>
          <a:xfrm>
            <a:off x="8279892" y="2267712"/>
            <a:ext cx="502920" cy="502920"/>
          </a:xfrm>
          <a:prstGeom prst="ellipse">
            <a:avLst/>
          </a:prstGeom>
          <a:solidFill>
            <a:srgbClr val="132353"/>
          </a:solidFill>
          <a:ln w="15875">
            <a:solidFill>
              <a:srgbClr val="3A2E5C"/>
            </a:solidFill>
            <a:prstDash val="solid"/>
          </a:ln>
        </p:spPr>
      </p:sp>
      <p:pic>
        <p:nvPicPr>
          <p:cNvPr id="17" name="Image 2" descr="/home/claude/bustrack/icons/clock_w.png"/>
          <p:cNvPicPr>
            <a:picLocks noChangeAspect="1"/>
          </p:cNvPicPr>
          <p:nvPr/>
        </p:nvPicPr>
        <p:blipFill>
          <a:blip r:embed="rId5"/>
          <a:stretch>
            <a:fillRect/>
          </a:stretch>
        </p:blipFill>
        <p:spPr>
          <a:xfrm>
            <a:off x="8393049" y="2380869"/>
            <a:ext cx="276606" cy="276606"/>
          </a:xfrm>
          <a:prstGeom prst="rect">
            <a:avLst/>
          </a:prstGeom>
        </p:spPr>
      </p:pic>
      <p:sp>
        <p:nvSpPr>
          <p:cNvPr id="18" name="Text 13"/>
          <p:cNvSpPr/>
          <p:nvPr/>
        </p:nvSpPr>
        <p:spPr>
          <a:xfrm>
            <a:off x="8919972" y="221284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Unnecessary Waiting</a:t>
            </a:r>
            <a:endParaRPr lang="en-US" sz="1300" dirty="0"/>
          </a:p>
        </p:txBody>
      </p:sp>
      <p:sp>
        <p:nvSpPr>
          <p:cNvPr id="19" name="Text 14"/>
          <p:cNvSpPr/>
          <p:nvPr/>
        </p:nvSpPr>
        <p:spPr>
          <a:xfrm>
            <a:off x="8279892" y="2926080"/>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Students wait at stops far longer than needed.</a:t>
            </a:r>
            <a:endParaRPr lang="en-US" sz="1050" dirty="0"/>
          </a:p>
        </p:txBody>
      </p:sp>
      <p:sp>
        <p:nvSpPr>
          <p:cNvPr id="20" name="Shape 15"/>
          <p:cNvSpPr/>
          <p:nvPr/>
        </p:nvSpPr>
        <p:spPr>
          <a:xfrm>
            <a:off x="681228" y="4142232"/>
            <a:ext cx="3429000" cy="1874520"/>
          </a:xfrm>
          <a:prstGeom prst="roundRect">
            <a:avLst>
              <a:gd name="adj" fmla="val 4878"/>
            </a:avLst>
          </a:prstGeom>
          <a:solidFill>
            <a:srgbClr val="0F1B3D"/>
          </a:solidFill>
          <a:ln w="12700">
            <a:solidFill>
              <a:srgbClr val="223261"/>
            </a:solidFill>
            <a:prstDash val="solid"/>
          </a:ln>
        </p:spPr>
      </p:sp>
      <p:sp>
        <p:nvSpPr>
          <p:cNvPr id="21" name="Shape 16"/>
          <p:cNvSpPr/>
          <p:nvPr/>
        </p:nvSpPr>
        <p:spPr>
          <a:xfrm>
            <a:off x="909828" y="4398264"/>
            <a:ext cx="502920" cy="502920"/>
          </a:xfrm>
          <a:prstGeom prst="ellipse">
            <a:avLst/>
          </a:prstGeom>
          <a:solidFill>
            <a:srgbClr val="132353"/>
          </a:solidFill>
          <a:ln w="15875">
            <a:solidFill>
              <a:srgbClr val="3A2E5C"/>
            </a:solidFill>
            <a:prstDash val="solid"/>
          </a:ln>
        </p:spPr>
      </p:sp>
      <p:pic>
        <p:nvPicPr>
          <p:cNvPr id="22" name="Image 3" descr="/home/claude/bustrack/icons/users_w.png"/>
          <p:cNvPicPr>
            <a:picLocks noChangeAspect="1"/>
          </p:cNvPicPr>
          <p:nvPr/>
        </p:nvPicPr>
        <p:blipFill>
          <a:blip r:embed="rId6"/>
          <a:stretch>
            <a:fillRect/>
          </a:stretch>
        </p:blipFill>
        <p:spPr>
          <a:xfrm>
            <a:off x="1022985" y="4511421"/>
            <a:ext cx="276606" cy="276606"/>
          </a:xfrm>
          <a:prstGeom prst="rect">
            <a:avLst/>
          </a:prstGeom>
        </p:spPr>
      </p:pic>
      <p:sp>
        <p:nvSpPr>
          <p:cNvPr id="23" name="Text 17"/>
          <p:cNvSpPr/>
          <p:nvPr/>
        </p:nvSpPr>
        <p:spPr>
          <a:xfrm>
            <a:off x="1549908" y="4343400"/>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Fleet Management</a:t>
            </a:r>
            <a:endParaRPr lang="en-US" sz="1300" dirty="0"/>
          </a:p>
        </p:txBody>
      </p:sp>
      <p:sp>
        <p:nvSpPr>
          <p:cNvPr id="24" name="Text 18"/>
          <p:cNvSpPr/>
          <p:nvPr/>
        </p:nvSpPr>
        <p:spPr>
          <a:xfrm>
            <a:off x="909828" y="5056632"/>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Difficult to track and coordinate multiple buses.</a:t>
            </a:r>
            <a:endParaRPr lang="en-US" sz="1050" dirty="0"/>
          </a:p>
        </p:txBody>
      </p:sp>
      <p:sp>
        <p:nvSpPr>
          <p:cNvPr id="25" name="Shape 19"/>
          <p:cNvSpPr/>
          <p:nvPr/>
        </p:nvSpPr>
        <p:spPr>
          <a:xfrm>
            <a:off x="4366260" y="4142232"/>
            <a:ext cx="3429000" cy="1874520"/>
          </a:xfrm>
          <a:prstGeom prst="roundRect">
            <a:avLst>
              <a:gd name="adj" fmla="val 4878"/>
            </a:avLst>
          </a:prstGeom>
          <a:solidFill>
            <a:srgbClr val="0F1B3D"/>
          </a:solidFill>
          <a:ln w="12700">
            <a:solidFill>
              <a:srgbClr val="223261"/>
            </a:solidFill>
            <a:prstDash val="solid"/>
          </a:ln>
        </p:spPr>
      </p:sp>
      <p:sp>
        <p:nvSpPr>
          <p:cNvPr id="26" name="Shape 20"/>
          <p:cNvSpPr/>
          <p:nvPr/>
        </p:nvSpPr>
        <p:spPr>
          <a:xfrm>
            <a:off x="4594860" y="4398264"/>
            <a:ext cx="502920" cy="502920"/>
          </a:xfrm>
          <a:prstGeom prst="ellipse">
            <a:avLst/>
          </a:prstGeom>
          <a:solidFill>
            <a:srgbClr val="132353"/>
          </a:solidFill>
          <a:ln w="15875">
            <a:solidFill>
              <a:srgbClr val="3A2E5C"/>
            </a:solidFill>
            <a:prstDash val="solid"/>
          </a:ln>
        </p:spPr>
      </p:sp>
      <p:pic>
        <p:nvPicPr>
          <p:cNvPr id="27" name="Image 4" descr="/home/claude/bustrack/icons/comment_w.png"/>
          <p:cNvPicPr>
            <a:picLocks noChangeAspect="1"/>
          </p:cNvPicPr>
          <p:nvPr/>
        </p:nvPicPr>
        <p:blipFill>
          <a:blip r:embed="rId7"/>
          <a:stretch>
            <a:fillRect/>
          </a:stretch>
        </p:blipFill>
        <p:spPr>
          <a:xfrm>
            <a:off x="4708017" y="4511421"/>
            <a:ext cx="276606" cy="276606"/>
          </a:xfrm>
          <a:prstGeom prst="rect">
            <a:avLst/>
          </a:prstGeom>
        </p:spPr>
      </p:pic>
      <p:sp>
        <p:nvSpPr>
          <p:cNvPr id="28" name="Text 21"/>
          <p:cNvSpPr/>
          <p:nvPr/>
        </p:nvSpPr>
        <p:spPr>
          <a:xfrm>
            <a:off x="5234940" y="4343400"/>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No Real-Time Contact</a:t>
            </a:r>
            <a:endParaRPr lang="en-US" sz="1300" dirty="0"/>
          </a:p>
        </p:txBody>
      </p:sp>
      <p:sp>
        <p:nvSpPr>
          <p:cNvPr id="29" name="Text 22"/>
          <p:cNvSpPr/>
          <p:nvPr/>
        </p:nvSpPr>
        <p:spPr>
          <a:xfrm>
            <a:off x="4594860" y="5056632"/>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Limited communication between students and drivers.</a:t>
            </a:r>
            <a:endParaRPr lang="en-US" sz="1050" dirty="0"/>
          </a:p>
        </p:txBody>
      </p:sp>
      <p:sp>
        <p:nvSpPr>
          <p:cNvPr id="30" name="Shape 23"/>
          <p:cNvSpPr/>
          <p:nvPr/>
        </p:nvSpPr>
        <p:spPr>
          <a:xfrm>
            <a:off x="8051292" y="4142232"/>
            <a:ext cx="3429000" cy="1874520"/>
          </a:xfrm>
          <a:prstGeom prst="roundRect">
            <a:avLst>
              <a:gd name="adj" fmla="val 4878"/>
            </a:avLst>
          </a:prstGeom>
          <a:solidFill>
            <a:srgbClr val="0F1B3D"/>
          </a:solidFill>
          <a:ln w="12700">
            <a:solidFill>
              <a:srgbClr val="223261"/>
            </a:solidFill>
            <a:prstDash val="solid"/>
          </a:ln>
        </p:spPr>
      </p:sp>
      <p:sp>
        <p:nvSpPr>
          <p:cNvPr id="31" name="Shape 24"/>
          <p:cNvSpPr/>
          <p:nvPr/>
        </p:nvSpPr>
        <p:spPr>
          <a:xfrm>
            <a:off x="8279892" y="4398264"/>
            <a:ext cx="502920" cy="502920"/>
          </a:xfrm>
          <a:prstGeom prst="ellipse">
            <a:avLst/>
          </a:prstGeom>
          <a:solidFill>
            <a:srgbClr val="132353"/>
          </a:solidFill>
          <a:ln w="15875">
            <a:solidFill>
              <a:srgbClr val="3A2E5C"/>
            </a:solidFill>
            <a:prstDash val="solid"/>
          </a:ln>
        </p:spPr>
      </p:sp>
      <p:pic>
        <p:nvPicPr>
          <p:cNvPr id="32" name="Image 5" descr="/home/claude/bustrack/icons/alert_w.png"/>
          <p:cNvPicPr>
            <a:picLocks noChangeAspect="1"/>
          </p:cNvPicPr>
          <p:nvPr/>
        </p:nvPicPr>
        <p:blipFill>
          <a:blip r:embed="rId8"/>
          <a:stretch>
            <a:fillRect/>
          </a:stretch>
        </p:blipFill>
        <p:spPr>
          <a:xfrm>
            <a:off x="8393049" y="4511421"/>
            <a:ext cx="276606" cy="276606"/>
          </a:xfrm>
          <a:prstGeom prst="rect">
            <a:avLst/>
          </a:prstGeom>
        </p:spPr>
      </p:pic>
      <p:sp>
        <p:nvSpPr>
          <p:cNvPr id="33" name="Text 25"/>
          <p:cNvSpPr/>
          <p:nvPr/>
        </p:nvSpPr>
        <p:spPr>
          <a:xfrm>
            <a:off x="8919972" y="4343400"/>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Emergency Response</a:t>
            </a:r>
            <a:endParaRPr lang="en-US" sz="1300" dirty="0"/>
          </a:p>
        </p:txBody>
      </p:sp>
      <p:sp>
        <p:nvSpPr>
          <p:cNvPr id="34" name="Text 26"/>
          <p:cNvSpPr/>
          <p:nvPr/>
        </p:nvSpPr>
        <p:spPr>
          <a:xfrm>
            <a:off x="8279892" y="5056632"/>
            <a:ext cx="2971800" cy="86868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Slow response during breakdowns or emergencies.</a:t>
            </a:r>
            <a:endParaRPr lang="en-US" sz="1050" dirty="0"/>
          </a:p>
        </p:txBody>
      </p:sp>
      <p:sp>
        <p:nvSpPr>
          <p:cNvPr id="35" name="Text 27"/>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OUR APPROACH</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Proposed Solution</a:t>
            </a:r>
            <a:endParaRPr lang="en-US" sz="3000" dirty="0"/>
          </a:p>
        </p:txBody>
      </p:sp>
      <p:sp>
        <p:nvSpPr>
          <p:cNvPr id="4" name="Text 2"/>
          <p:cNvSpPr/>
          <p:nvPr/>
        </p:nvSpPr>
        <p:spPr>
          <a:xfrm>
            <a:off x="640080" y="1417320"/>
            <a:ext cx="9601200" cy="365760"/>
          </a:xfrm>
          <a:prstGeom prst="rect">
            <a:avLst/>
          </a:prstGeom>
          <a:noFill/>
          <a:ln/>
        </p:spPr>
        <p:txBody>
          <a:bodyPr wrap="square" rtlCol="0" anchor="ctr"/>
          <a:lstStyle/>
          <a:p>
            <a:pPr marL="0" indent="0">
              <a:buNone/>
            </a:pPr>
            <a:r>
              <a:rPr lang="en-US" sz="1350" dirty="0">
                <a:solidFill>
                  <a:srgbClr val="9CA6C7"/>
                </a:solidFill>
                <a:latin typeface="Calibri" pitchFamily="34" charset="0"/>
                <a:ea typeface="Calibri" pitchFamily="34" charset="-122"/>
                <a:cs typeface="Calibri" pitchFamily="34" charset="-120"/>
              </a:rPr>
              <a:t>A connected system linking every bus, driver, student, and administrator in real time.</a:t>
            </a:r>
            <a:endParaRPr lang="en-US" sz="1350" dirty="0"/>
          </a:p>
        </p:txBody>
      </p:sp>
      <p:sp>
        <p:nvSpPr>
          <p:cNvPr id="5" name="Shape 3"/>
          <p:cNvSpPr/>
          <p:nvPr/>
        </p:nvSpPr>
        <p:spPr>
          <a:xfrm>
            <a:off x="681228" y="2057400"/>
            <a:ext cx="3429000" cy="1920240"/>
          </a:xfrm>
          <a:prstGeom prst="roundRect">
            <a:avLst>
              <a:gd name="adj" fmla="val 5714"/>
            </a:avLst>
          </a:prstGeom>
          <a:solidFill>
            <a:srgbClr val="0F1B3D"/>
          </a:solidFill>
          <a:ln/>
        </p:spPr>
      </p:sp>
      <p:sp>
        <p:nvSpPr>
          <p:cNvPr id="6" name="Shape 4"/>
          <p:cNvSpPr/>
          <p:nvPr/>
        </p:nvSpPr>
        <p:spPr>
          <a:xfrm>
            <a:off x="2075688" y="2331720"/>
            <a:ext cx="640080" cy="640080"/>
          </a:xfrm>
          <a:prstGeom prst="ellipse">
            <a:avLst/>
          </a:prstGeom>
          <a:solidFill>
            <a:srgbClr val="00E5C7"/>
          </a:solidFill>
          <a:ln/>
        </p:spPr>
      </p:sp>
      <p:pic>
        <p:nvPicPr>
          <p:cNvPr id="7" name="Image 0" descr="/home/claude/bustrack/icons/crosshair_c.png"/>
          <p:cNvPicPr>
            <a:picLocks noChangeAspect="1"/>
          </p:cNvPicPr>
          <p:nvPr/>
        </p:nvPicPr>
        <p:blipFill>
          <a:blip r:embed="rId3"/>
          <a:stretch>
            <a:fillRect/>
          </a:stretch>
        </p:blipFill>
        <p:spPr>
          <a:xfrm>
            <a:off x="2235708" y="2491740"/>
            <a:ext cx="320040" cy="320040"/>
          </a:xfrm>
          <a:prstGeom prst="rect">
            <a:avLst/>
          </a:prstGeom>
        </p:spPr>
      </p:pic>
      <p:sp>
        <p:nvSpPr>
          <p:cNvPr id="8" name="Text 5"/>
          <p:cNvSpPr/>
          <p:nvPr/>
        </p:nvSpPr>
        <p:spPr>
          <a:xfrm>
            <a:off x="818388" y="310896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GPS-Enabled Buses</a:t>
            </a:r>
            <a:endParaRPr lang="en-US" sz="1400" dirty="0"/>
          </a:p>
        </p:txBody>
      </p:sp>
      <p:sp>
        <p:nvSpPr>
          <p:cNvPr id="9" name="Shape 6"/>
          <p:cNvSpPr/>
          <p:nvPr/>
        </p:nvSpPr>
        <p:spPr>
          <a:xfrm>
            <a:off x="4366260" y="2057400"/>
            <a:ext cx="3429000" cy="1920240"/>
          </a:xfrm>
          <a:prstGeom prst="roundRect">
            <a:avLst>
              <a:gd name="adj" fmla="val 5714"/>
            </a:avLst>
          </a:prstGeom>
          <a:solidFill>
            <a:srgbClr val="0F1B3D"/>
          </a:solidFill>
          <a:ln/>
        </p:spPr>
      </p:sp>
      <p:sp>
        <p:nvSpPr>
          <p:cNvPr id="10" name="Shape 7"/>
          <p:cNvSpPr/>
          <p:nvPr/>
        </p:nvSpPr>
        <p:spPr>
          <a:xfrm>
            <a:off x="5760720" y="2331720"/>
            <a:ext cx="640080" cy="640080"/>
          </a:xfrm>
          <a:prstGeom prst="ellipse">
            <a:avLst/>
          </a:prstGeom>
          <a:solidFill>
            <a:srgbClr val="34D399"/>
          </a:solidFill>
          <a:ln/>
        </p:spPr>
      </p:sp>
      <p:pic>
        <p:nvPicPr>
          <p:cNvPr id="11" name="Image 1" descr="/home/claude/bustrack/icons/maplocation_w.png"/>
          <p:cNvPicPr>
            <a:picLocks noChangeAspect="1"/>
          </p:cNvPicPr>
          <p:nvPr/>
        </p:nvPicPr>
        <p:blipFill>
          <a:blip r:embed="rId4"/>
          <a:stretch>
            <a:fillRect/>
          </a:stretch>
        </p:blipFill>
        <p:spPr>
          <a:xfrm>
            <a:off x="5920740" y="2491740"/>
            <a:ext cx="320040" cy="320040"/>
          </a:xfrm>
          <a:prstGeom prst="rect">
            <a:avLst/>
          </a:prstGeom>
        </p:spPr>
      </p:pic>
      <p:sp>
        <p:nvSpPr>
          <p:cNvPr id="12" name="Text 8"/>
          <p:cNvSpPr/>
          <p:nvPr/>
        </p:nvSpPr>
        <p:spPr>
          <a:xfrm>
            <a:off x="4503420" y="310896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Real-Time Tracking</a:t>
            </a:r>
            <a:endParaRPr lang="en-US" sz="1400" dirty="0"/>
          </a:p>
        </p:txBody>
      </p:sp>
      <p:sp>
        <p:nvSpPr>
          <p:cNvPr id="13" name="Shape 9"/>
          <p:cNvSpPr/>
          <p:nvPr/>
        </p:nvSpPr>
        <p:spPr>
          <a:xfrm>
            <a:off x="8051292" y="2057400"/>
            <a:ext cx="3429000" cy="1920240"/>
          </a:xfrm>
          <a:prstGeom prst="roundRect">
            <a:avLst>
              <a:gd name="adj" fmla="val 5714"/>
            </a:avLst>
          </a:prstGeom>
          <a:solidFill>
            <a:srgbClr val="0F1B3D"/>
          </a:solidFill>
          <a:ln/>
        </p:spPr>
      </p:sp>
      <p:sp>
        <p:nvSpPr>
          <p:cNvPr id="14" name="Shape 10"/>
          <p:cNvSpPr/>
          <p:nvPr/>
        </p:nvSpPr>
        <p:spPr>
          <a:xfrm>
            <a:off x="9445752" y="2331720"/>
            <a:ext cx="640080" cy="640080"/>
          </a:xfrm>
          <a:prstGeom prst="ellipse">
            <a:avLst/>
          </a:prstGeom>
          <a:solidFill>
            <a:srgbClr val="00E5C7"/>
          </a:solidFill>
          <a:ln/>
        </p:spPr>
      </p:sp>
      <p:pic>
        <p:nvPicPr>
          <p:cNvPr id="15" name="Image 2" descr="/home/claude/bustrack/icons/mobile_w.png"/>
          <p:cNvPicPr>
            <a:picLocks noChangeAspect="1"/>
          </p:cNvPicPr>
          <p:nvPr/>
        </p:nvPicPr>
        <p:blipFill>
          <a:blip r:embed="rId5"/>
          <a:stretch>
            <a:fillRect/>
          </a:stretch>
        </p:blipFill>
        <p:spPr>
          <a:xfrm>
            <a:off x="9605772" y="2491740"/>
            <a:ext cx="320040" cy="320040"/>
          </a:xfrm>
          <a:prstGeom prst="rect">
            <a:avLst/>
          </a:prstGeom>
        </p:spPr>
      </p:pic>
      <p:sp>
        <p:nvSpPr>
          <p:cNvPr id="16" name="Text 11"/>
          <p:cNvSpPr/>
          <p:nvPr/>
        </p:nvSpPr>
        <p:spPr>
          <a:xfrm>
            <a:off x="8188452" y="310896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Student App</a:t>
            </a:r>
            <a:endParaRPr lang="en-US" sz="1400" dirty="0"/>
          </a:p>
        </p:txBody>
      </p:sp>
      <p:sp>
        <p:nvSpPr>
          <p:cNvPr id="17" name="Shape 12"/>
          <p:cNvSpPr/>
          <p:nvPr/>
        </p:nvSpPr>
        <p:spPr>
          <a:xfrm>
            <a:off x="681228" y="4251960"/>
            <a:ext cx="3429000" cy="1920240"/>
          </a:xfrm>
          <a:prstGeom prst="roundRect">
            <a:avLst>
              <a:gd name="adj" fmla="val 5714"/>
            </a:avLst>
          </a:prstGeom>
          <a:solidFill>
            <a:srgbClr val="0F1B3D"/>
          </a:solidFill>
          <a:ln/>
        </p:spPr>
      </p:sp>
      <p:sp>
        <p:nvSpPr>
          <p:cNvPr id="18" name="Shape 13"/>
          <p:cNvSpPr/>
          <p:nvPr/>
        </p:nvSpPr>
        <p:spPr>
          <a:xfrm>
            <a:off x="2075688" y="4526280"/>
            <a:ext cx="640080" cy="640080"/>
          </a:xfrm>
          <a:prstGeom prst="ellipse">
            <a:avLst/>
          </a:prstGeom>
          <a:solidFill>
            <a:srgbClr val="34D399"/>
          </a:solidFill>
          <a:ln/>
        </p:spPr>
      </p:sp>
      <p:pic>
        <p:nvPicPr>
          <p:cNvPr id="19" name="Image 3" descr="/home/claude/bustrack/icons/dashboard_w.png"/>
          <p:cNvPicPr>
            <a:picLocks noChangeAspect="1"/>
          </p:cNvPicPr>
          <p:nvPr/>
        </p:nvPicPr>
        <p:blipFill>
          <a:blip r:embed="rId6"/>
          <a:stretch>
            <a:fillRect/>
          </a:stretch>
        </p:blipFill>
        <p:spPr>
          <a:xfrm>
            <a:off x="2235708" y="4686300"/>
            <a:ext cx="320040" cy="320040"/>
          </a:xfrm>
          <a:prstGeom prst="rect">
            <a:avLst/>
          </a:prstGeom>
        </p:spPr>
      </p:pic>
      <p:sp>
        <p:nvSpPr>
          <p:cNvPr id="20" name="Text 14"/>
          <p:cNvSpPr/>
          <p:nvPr/>
        </p:nvSpPr>
        <p:spPr>
          <a:xfrm>
            <a:off x="818388" y="530352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Admin Dashboard</a:t>
            </a:r>
            <a:endParaRPr lang="en-US" sz="1400" dirty="0"/>
          </a:p>
        </p:txBody>
      </p:sp>
      <p:sp>
        <p:nvSpPr>
          <p:cNvPr id="21" name="Shape 15"/>
          <p:cNvSpPr/>
          <p:nvPr/>
        </p:nvSpPr>
        <p:spPr>
          <a:xfrm>
            <a:off x="4366260" y="4251960"/>
            <a:ext cx="3429000" cy="1920240"/>
          </a:xfrm>
          <a:prstGeom prst="roundRect">
            <a:avLst>
              <a:gd name="adj" fmla="val 5714"/>
            </a:avLst>
          </a:prstGeom>
          <a:solidFill>
            <a:srgbClr val="0F1B3D"/>
          </a:solidFill>
          <a:ln/>
        </p:spPr>
      </p:sp>
      <p:sp>
        <p:nvSpPr>
          <p:cNvPr id="22" name="Shape 16"/>
          <p:cNvSpPr/>
          <p:nvPr/>
        </p:nvSpPr>
        <p:spPr>
          <a:xfrm>
            <a:off x="5760720" y="4526280"/>
            <a:ext cx="640080" cy="640080"/>
          </a:xfrm>
          <a:prstGeom prst="ellipse">
            <a:avLst/>
          </a:prstGeom>
          <a:solidFill>
            <a:srgbClr val="00E5C7"/>
          </a:solidFill>
          <a:ln/>
        </p:spPr>
      </p:sp>
      <p:pic>
        <p:nvPicPr>
          <p:cNvPr id="23" name="Image 4" descr="/home/claude/bustrack/icons/driver_w.png"/>
          <p:cNvPicPr>
            <a:picLocks noChangeAspect="1"/>
          </p:cNvPicPr>
          <p:nvPr/>
        </p:nvPicPr>
        <p:blipFill>
          <a:blip r:embed="rId7"/>
          <a:stretch>
            <a:fillRect/>
          </a:stretch>
        </p:blipFill>
        <p:spPr>
          <a:xfrm>
            <a:off x="5920740" y="4686300"/>
            <a:ext cx="320040" cy="320040"/>
          </a:xfrm>
          <a:prstGeom prst="rect">
            <a:avLst/>
          </a:prstGeom>
        </p:spPr>
      </p:pic>
      <p:sp>
        <p:nvSpPr>
          <p:cNvPr id="24" name="Text 17"/>
          <p:cNvSpPr/>
          <p:nvPr/>
        </p:nvSpPr>
        <p:spPr>
          <a:xfrm>
            <a:off x="4503420" y="530352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Driver Interface</a:t>
            </a:r>
            <a:endParaRPr lang="en-US" sz="1400" dirty="0"/>
          </a:p>
        </p:txBody>
      </p:sp>
      <p:sp>
        <p:nvSpPr>
          <p:cNvPr id="25" name="Shape 18"/>
          <p:cNvSpPr/>
          <p:nvPr/>
        </p:nvSpPr>
        <p:spPr>
          <a:xfrm>
            <a:off x="8051292" y="4251960"/>
            <a:ext cx="3429000" cy="1920240"/>
          </a:xfrm>
          <a:prstGeom prst="roundRect">
            <a:avLst>
              <a:gd name="adj" fmla="val 5714"/>
            </a:avLst>
          </a:prstGeom>
          <a:solidFill>
            <a:srgbClr val="0F1B3D"/>
          </a:solidFill>
          <a:ln/>
        </p:spPr>
      </p:sp>
      <p:sp>
        <p:nvSpPr>
          <p:cNvPr id="26" name="Shape 19"/>
          <p:cNvSpPr/>
          <p:nvPr/>
        </p:nvSpPr>
        <p:spPr>
          <a:xfrm>
            <a:off x="9445752" y="4526280"/>
            <a:ext cx="640080" cy="640080"/>
          </a:xfrm>
          <a:prstGeom prst="ellipse">
            <a:avLst/>
          </a:prstGeom>
          <a:solidFill>
            <a:srgbClr val="34D399"/>
          </a:solidFill>
          <a:ln/>
        </p:spPr>
      </p:sp>
      <p:pic>
        <p:nvPicPr>
          <p:cNvPr id="27" name="Image 5" descr="/home/claude/bustrack/icons/bell_w.png"/>
          <p:cNvPicPr>
            <a:picLocks noChangeAspect="1"/>
          </p:cNvPicPr>
          <p:nvPr/>
        </p:nvPicPr>
        <p:blipFill>
          <a:blip r:embed="rId8"/>
          <a:stretch>
            <a:fillRect/>
          </a:stretch>
        </p:blipFill>
        <p:spPr>
          <a:xfrm>
            <a:off x="9605772" y="4686300"/>
            <a:ext cx="320040" cy="320040"/>
          </a:xfrm>
          <a:prstGeom prst="rect">
            <a:avLst/>
          </a:prstGeom>
        </p:spPr>
      </p:pic>
      <p:sp>
        <p:nvSpPr>
          <p:cNvPr id="28" name="Text 20"/>
          <p:cNvSpPr/>
          <p:nvPr/>
        </p:nvSpPr>
        <p:spPr>
          <a:xfrm>
            <a:off x="8188452" y="5303520"/>
            <a:ext cx="3154680"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mbria" pitchFamily="34" charset="0"/>
                <a:ea typeface="Cambria" pitchFamily="34" charset="-122"/>
                <a:cs typeface="Cambria" pitchFamily="34" charset="-120"/>
              </a:rPr>
              <a:t>Alerts &amp; Notifications</a:t>
            </a:r>
            <a:endParaRPr lang="en-US" sz="1400" dirty="0"/>
          </a:p>
        </p:txBody>
      </p:sp>
      <p:sp>
        <p:nvSpPr>
          <p:cNvPr id="29" name="Text 21"/>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GOALS</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681228" y="1874520"/>
            <a:ext cx="3429000" cy="1965960"/>
          </a:xfrm>
          <a:prstGeom prst="roundRect">
            <a:avLst>
              <a:gd name="adj" fmla="val 4651"/>
            </a:avLst>
          </a:prstGeom>
          <a:solidFill>
            <a:srgbClr val="132353"/>
          </a:solidFill>
          <a:ln w="12700">
            <a:solidFill>
              <a:srgbClr val="223261"/>
            </a:solidFill>
            <a:prstDash val="solid"/>
          </a:ln>
        </p:spPr>
      </p:sp>
      <p:sp>
        <p:nvSpPr>
          <p:cNvPr id="5" name="Shape 3"/>
          <p:cNvSpPr/>
          <p:nvPr/>
        </p:nvSpPr>
        <p:spPr>
          <a:xfrm>
            <a:off x="909828" y="2130552"/>
            <a:ext cx="502920" cy="502920"/>
          </a:xfrm>
          <a:prstGeom prst="ellipse">
            <a:avLst/>
          </a:prstGeom>
          <a:solidFill>
            <a:srgbClr val="0A1128"/>
          </a:solidFill>
          <a:ln w="15875">
            <a:solidFill>
              <a:srgbClr val="00E5C7"/>
            </a:solidFill>
            <a:prstDash val="solid"/>
          </a:ln>
        </p:spPr>
      </p:sp>
      <p:pic>
        <p:nvPicPr>
          <p:cNvPr id="6" name="Image 0" descr="/home/claude/bustrack/icons/pin_c.png"/>
          <p:cNvPicPr>
            <a:picLocks noChangeAspect="1"/>
          </p:cNvPicPr>
          <p:nvPr/>
        </p:nvPicPr>
        <p:blipFill>
          <a:blip r:embed="rId3"/>
          <a:stretch>
            <a:fillRect/>
          </a:stretch>
        </p:blipFill>
        <p:spPr>
          <a:xfrm>
            <a:off x="1022985" y="2243709"/>
            <a:ext cx="276606" cy="276606"/>
          </a:xfrm>
          <a:prstGeom prst="rect">
            <a:avLst/>
          </a:prstGeom>
        </p:spPr>
      </p:pic>
      <p:sp>
        <p:nvSpPr>
          <p:cNvPr id="7" name="Text 4"/>
          <p:cNvSpPr/>
          <p:nvPr/>
        </p:nvSpPr>
        <p:spPr>
          <a:xfrm>
            <a:off x="1549908" y="207568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Real-Time Location</a:t>
            </a:r>
            <a:endParaRPr lang="en-US" sz="1300" dirty="0"/>
          </a:p>
        </p:txBody>
      </p:sp>
      <p:sp>
        <p:nvSpPr>
          <p:cNvPr id="8" name="Text 5"/>
          <p:cNvSpPr/>
          <p:nvPr/>
        </p:nvSpPr>
        <p:spPr>
          <a:xfrm>
            <a:off x="909828" y="278892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Provide accurate, live bus location at all times.</a:t>
            </a:r>
            <a:endParaRPr lang="en-US" sz="1050" dirty="0"/>
          </a:p>
        </p:txBody>
      </p:sp>
      <p:sp>
        <p:nvSpPr>
          <p:cNvPr id="9" name="Shape 6"/>
          <p:cNvSpPr/>
          <p:nvPr/>
        </p:nvSpPr>
        <p:spPr>
          <a:xfrm>
            <a:off x="4366260" y="1874520"/>
            <a:ext cx="3429000" cy="1965960"/>
          </a:xfrm>
          <a:prstGeom prst="roundRect">
            <a:avLst>
              <a:gd name="adj" fmla="val 4651"/>
            </a:avLst>
          </a:prstGeom>
          <a:solidFill>
            <a:srgbClr val="132353"/>
          </a:solidFill>
          <a:ln w="12700">
            <a:solidFill>
              <a:srgbClr val="223261"/>
            </a:solidFill>
            <a:prstDash val="solid"/>
          </a:ln>
        </p:spPr>
      </p:sp>
      <p:sp>
        <p:nvSpPr>
          <p:cNvPr id="10" name="Shape 7"/>
          <p:cNvSpPr/>
          <p:nvPr/>
        </p:nvSpPr>
        <p:spPr>
          <a:xfrm>
            <a:off x="4594860" y="2130552"/>
            <a:ext cx="502920" cy="502920"/>
          </a:xfrm>
          <a:prstGeom prst="ellipse">
            <a:avLst/>
          </a:prstGeom>
          <a:solidFill>
            <a:srgbClr val="0A1128"/>
          </a:solidFill>
          <a:ln w="15875">
            <a:solidFill>
              <a:srgbClr val="00E5C7"/>
            </a:solidFill>
            <a:prstDash val="solid"/>
          </a:ln>
        </p:spPr>
      </p:sp>
      <p:pic>
        <p:nvPicPr>
          <p:cNvPr id="11" name="Image 1" descr="/home/claude/bustrack/icons/hourglass_w.png"/>
          <p:cNvPicPr>
            <a:picLocks noChangeAspect="1"/>
          </p:cNvPicPr>
          <p:nvPr/>
        </p:nvPicPr>
        <p:blipFill>
          <a:blip r:embed="rId4"/>
          <a:stretch>
            <a:fillRect/>
          </a:stretch>
        </p:blipFill>
        <p:spPr>
          <a:xfrm>
            <a:off x="4708017" y="2243709"/>
            <a:ext cx="276606" cy="276606"/>
          </a:xfrm>
          <a:prstGeom prst="rect">
            <a:avLst/>
          </a:prstGeom>
        </p:spPr>
      </p:pic>
      <p:sp>
        <p:nvSpPr>
          <p:cNvPr id="12" name="Text 8"/>
          <p:cNvSpPr/>
          <p:nvPr/>
        </p:nvSpPr>
        <p:spPr>
          <a:xfrm>
            <a:off x="5234940" y="207568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Reduce Waiting Time</a:t>
            </a:r>
            <a:endParaRPr lang="en-US" sz="1300" dirty="0"/>
          </a:p>
        </p:txBody>
      </p:sp>
      <p:sp>
        <p:nvSpPr>
          <p:cNvPr id="13" name="Text 9"/>
          <p:cNvSpPr/>
          <p:nvPr/>
        </p:nvSpPr>
        <p:spPr>
          <a:xfrm>
            <a:off x="4594860" y="278892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Help students plan and minimize time spent at stops.</a:t>
            </a:r>
            <a:endParaRPr lang="en-US" sz="1050" dirty="0"/>
          </a:p>
        </p:txBody>
      </p:sp>
      <p:sp>
        <p:nvSpPr>
          <p:cNvPr id="14" name="Shape 10"/>
          <p:cNvSpPr/>
          <p:nvPr/>
        </p:nvSpPr>
        <p:spPr>
          <a:xfrm>
            <a:off x="8051292" y="1874520"/>
            <a:ext cx="3429000" cy="1965960"/>
          </a:xfrm>
          <a:prstGeom prst="roundRect">
            <a:avLst>
              <a:gd name="adj" fmla="val 4651"/>
            </a:avLst>
          </a:prstGeom>
          <a:solidFill>
            <a:srgbClr val="132353"/>
          </a:solidFill>
          <a:ln w="12700">
            <a:solidFill>
              <a:srgbClr val="223261"/>
            </a:solidFill>
            <a:prstDash val="solid"/>
          </a:ln>
        </p:spPr>
      </p:sp>
      <p:sp>
        <p:nvSpPr>
          <p:cNvPr id="15" name="Shape 11"/>
          <p:cNvSpPr/>
          <p:nvPr/>
        </p:nvSpPr>
        <p:spPr>
          <a:xfrm>
            <a:off x="8279892" y="2130552"/>
            <a:ext cx="502920" cy="502920"/>
          </a:xfrm>
          <a:prstGeom prst="ellipse">
            <a:avLst/>
          </a:prstGeom>
          <a:solidFill>
            <a:srgbClr val="0A1128"/>
          </a:solidFill>
          <a:ln w="15875">
            <a:solidFill>
              <a:srgbClr val="00E5C7"/>
            </a:solidFill>
            <a:prstDash val="solid"/>
          </a:ln>
        </p:spPr>
      </p:sp>
      <p:pic>
        <p:nvPicPr>
          <p:cNvPr id="16" name="Image 2" descr="/home/claude/bustrack/icons/shield_w.png"/>
          <p:cNvPicPr>
            <a:picLocks noChangeAspect="1"/>
          </p:cNvPicPr>
          <p:nvPr/>
        </p:nvPicPr>
        <p:blipFill>
          <a:blip r:embed="rId5"/>
          <a:stretch>
            <a:fillRect/>
          </a:stretch>
        </p:blipFill>
        <p:spPr>
          <a:xfrm>
            <a:off x="8393049" y="2243709"/>
            <a:ext cx="276606" cy="276606"/>
          </a:xfrm>
          <a:prstGeom prst="rect">
            <a:avLst/>
          </a:prstGeom>
        </p:spPr>
      </p:pic>
      <p:sp>
        <p:nvSpPr>
          <p:cNvPr id="17" name="Text 12"/>
          <p:cNvSpPr/>
          <p:nvPr/>
        </p:nvSpPr>
        <p:spPr>
          <a:xfrm>
            <a:off x="8919972" y="207568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Improve Safety</a:t>
            </a:r>
            <a:endParaRPr lang="en-US" sz="1300" dirty="0"/>
          </a:p>
        </p:txBody>
      </p:sp>
      <p:sp>
        <p:nvSpPr>
          <p:cNvPr id="18" name="Text 13"/>
          <p:cNvSpPr/>
          <p:nvPr/>
        </p:nvSpPr>
        <p:spPr>
          <a:xfrm>
            <a:off x="8279892" y="278892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Strengthen transportation safety and emergency response.</a:t>
            </a:r>
            <a:endParaRPr lang="en-US" sz="1050" dirty="0"/>
          </a:p>
        </p:txBody>
      </p:sp>
      <p:sp>
        <p:nvSpPr>
          <p:cNvPr id="19" name="Shape 14"/>
          <p:cNvSpPr/>
          <p:nvPr/>
        </p:nvSpPr>
        <p:spPr>
          <a:xfrm>
            <a:off x="681228" y="4114800"/>
            <a:ext cx="3429000" cy="1965960"/>
          </a:xfrm>
          <a:prstGeom prst="roundRect">
            <a:avLst>
              <a:gd name="adj" fmla="val 4651"/>
            </a:avLst>
          </a:prstGeom>
          <a:solidFill>
            <a:srgbClr val="0F1B3D"/>
          </a:solidFill>
          <a:ln w="12700">
            <a:solidFill>
              <a:srgbClr val="223261"/>
            </a:solidFill>
            <a:prstDash val="solid"/>
          </a:ln>
        </p:spPr>
      </p:sp>
      <p:sp>
        <p:nvSpPr>
          <p:cNvPr id="20" name="Shape 15"/>
          <p:cNvSpPr/>
          <p:nvPr/>
        </p:nvSpPr>
        <p:spPr>
          <a:xfrm>
            <a:off x="909828" y="4370832"/>
            <a:ext cx="502920" cy="502920"/>
          </a:xfrm>
          <a:prstGeom prst="ellipse">
            <a:avLst/>
          </a:prstGeom>
          <a:solidFill>
            <a:srgbClr val="0A1128"/>
          </a:solidFill>
          <a:ln w="15875">
            <a:solidFill>
              <a:srgbClr val="00E5C7"/>
            </a:solidFill>
            <a:prstDash val="solid"/>
          </a:ln>
        </p:spPr>
      </p:sp>
      <p:pic>
        <p:nvPicPr>
          <p:cNvPr id="21" name="Image 3" descr="/home/claude/bustrack/icons/clock_w.png"/>
          <p:cNvPicPr>
            <a:picLocks noChangeAspect="1"/>
          </p:cNvPicPr>
          <p:nvPr/>
        </p:nvPicPr>
        <p:blipFill>
          <a:blip r:embed="rId6"/>
          <a:stretch>
            <a:fillRect/>
          </a:stretch>
        </p:blipFill>
        <p:spPr>
          <a:xfrm>
            <a:off x="1022985" y="4483989"/>
            <a:ext cx="276606" cy="276606"/>
          </a:xfrm>
          <a:prstGeom prst="rect">
            <a:avLst/>
          </a:prstGeom>
        </p:spPr>
      </p:pic>
      <p:sp>
        <p:nvSpPr>
          <p:cNvPr id="22" name="Text 16"/>
          <p:cNvSpPr/>
          <p:nvPr/>
        </p:nvSpPr>
        <p:spPr>
          <a:xfrm>
            <a:off x="1549908" y="431596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Estimated Arrival</a:t>
            </a:r>
            <a:endParaRPr lang="en-US" sz="1300" dirty="0"/>
          </a:p>
        </p:txBody>
      </p:sp>
      <p:sp>
        <p:nvSpPr>
          <p:cNvPr id="23" name="Text 17"/>
          <p:cNvSpPr/>
          <p:nvPr/>
        </p:nvSpPr>
        <p:spPr>
          <a:xfrm>
            <a:off x="909828" y="502920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Give reliable ETAs for every stop on the route.</a:t>
            </a:r>
            <a:endParaRPr lang="en-US" sz="1050" dirty="0"/>
          </a:p>
        </p:txBody>
      </p:sp>
      <p:sp>
        <p:nvSpPr>
          <p:cNvPr id="24" name="Shape 18"/>
          <p:cNvSpPr/>
          <p:nvPr/>
        </p:nvSpPr>
        <p:spPr>
          <a:xfrm>
            <a:off x="4366260" y="4114800"/>
            <a:ext cx="3429000" cy="1965960"/>
          </a:xfrm>
          <a:prstGeom prst="roundRect">
            <a:avLst>
              <a:gd name="adj" fmla="val 4651"/>
            </a:avLst>
          </a:prstGeom>
          <a:solidFill>
            <a:srgbClr val="0F1B3D"/>
          </a:solidFill>
          <a:ln w="12700">
            <a:solidFill>
              <a:srgbClr val="223261"/>
            </a:solidFill>
            <a:prstDash val="solid"/>
          </a:ln>
        </p:spPr>
      </p:sp>
      <p:sp>
        <p:nvSpPr>
          <p:cNvPr id="25" name="Shape 19"/>
          <p:cNvSpPr/>
          <p:nvPr/>
        </p:nvSpPr>
        <p:spPr>
          <a:xfrm>
            <a:off x="4594860" y="4370832"/>
            <a:ext cx="502920" cy="502920"/>
          </a:xfrm>
          <a:prstGeom prst="ellipse">
            <a:avLst/>
          </a:prstGeom>
          <a:solidFill>
            <a:srgbClr val="0A1128"/>
          </a:solidFill>
          <a:ln w="15875">
            <a:solidFill>
              <a:srgbClr val="00E5C7"/>
            </a:solidFill>
            <a:prstDash val="solid"/>
          </a:ln>
        </p:spPr>
      </p:sp>
      <p:pic>
        <p:nvPicPr>
          <p:cNvPr id="26" name="Image 4" descr="/home/claude/bustrack/icons/dashboard_w.png"/>
          <p:cNvPicPr>
            <a:picLocks noChangeAspect="1"/>
          </p:cNvPicPr>
          <p:nvPr/>
        </p:nvPicPr>
        <p:blipFill>
          <a:blip r:embed="rId7"/>
          <a:stretch>
            <a:fillRect/>
          </a:stretch>
        </p:blipFill>
        <p:spPr>
          <a:xfrm>
            <a:off x="4708017" y="4483989"/>
            <a:ext cx="276606" cy="276606"/>
          </a:xfrm>
          <a:prstGeom prst="rect">
            <a:avLst/>
          </a:prstGeom>
        </p:spPr>
      </p:pic>
      <p:sp>
        <p:nvSpPr>
          <p:cNvPr id="27" name="Text 20"/>
          <p:cNvSpPr/>
          <p:nvPr/>
        </p:nvSpPr>
        <p:spPr>
          <a:xfrm>
            <a:off x="5234940" y="431596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Fleet Monitoring</a:t>
            </a:r>
            <a:endParaRPr lang="en-US" sz="1300" dirty="0"/>
          </a:p>
        </p:txBody>
      </p:sp>
      <p:sp>
        <p:nvSpPr>
          <p:cNvPr id="28" name="Text 21"/>
          <p:cNvSpPr/>
          <p:nvPr/>
        </p:nvSpPr>
        <p:spPr>
          <a:xfrm>
            <a:off x="4594860" y="502920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Let administrators track and manage the whole fleet.</a:t>
            </a:r>
            <a:endParaRPr lang="en-US" sz="1050" dirty="0"/>
          </a:p>
        </p:txBody>
      </p:sp>
      <p:sp>
        <p:nvSpPr>
          <p:cNvPr id="29" name="Shape 22"/>
          <p:cNvSpPr/>
          <p:nvPr/>
        </p:nvSpPr>
        <p:spPr>
          <a:xfrm>
            <a:off x="8051292" y="4114800"/>
            <a:ext cx="3429000" cy="1965960"/>
          </a:xfrm>
          <a:prstGeom prst="roundRect">
            <a:avLst>
              <a:gd name="adj" fmla="val 4651"/>
            </a:avLst>
          </a:prstGeom>
          <a:solidFill>
            <a:srgbClr val="0F1B3D"/>
          </a:solidFill>
          <a:ln w="12700">
            <a:solidFill>
              <a:srgbClr val="223261"/>
            </a:solidFill>
            <a:prstDash val="solid"/>
          </a:ln>
        </p:spPr>
      </p:sp>
      <p:sp>
        <p:nvSpPr>
          <p:cNvPr id="30" name="Shape 23"/>
          <p:cNvSpPr/>
          <p:nvPr/>
        </p:nvSpPr>
        <p:spPr>
          <a:xfrm>
            <a:off x="8279892" y="4370832"/>
            <a:ext cx="502920" cy="502920"/>
          </a:xfrm>
          <a:prstGeom prst="ellipse">
            <a:avLst/>
          </a:prstGeom>
          <a:solidFill>
            <a:srgbClr val="0A1128"/>
          </a:solidFill>
          <a:ln w="15875">
            <a:solidFill>
              <a:srgbClr val="00E5C7"/>
            </a:solidFill>
            <a:prstDash val="solid"/>
          </a:ln>
        </p:spPr>
      </p:sp>
      <p:pic>
        <p:nvPicPr>
          <p:cNvPr id="31" name="Image 5" descr="/home/claude/bustrack/icons/comment_w.png"/>
          <p:cNvPicPr>
            <a:picLocks noChangeAspect="1"/>
          </p:cNvPicPr>
          <p:nvPr/>
        </p:nvPicPr>
        <p:blipFill>
          <a:blip r:embed="rId8"/>
          <a:stretch>
            <a:fillRect/>
          </a:stretch>
        </p:blipFill>
        <p:spPr>
          <a:xfrm>
            <a:off x="8393049" y="4483989"/>
            <a:ext cx="276606" cy="276606"/>
          </a:xfrm>
          <a:prstGeom prst="rect">
            <a:avLst/>
          </a:prstGeom>
        </p:spPr>
      </p:pic>
      <p:sp>
        <p:nvSpPr>
          <p:cNvPr id="32" name="Text 24"/>
          <p:cNvSpPr/>
          <p:nvPr/>
        </p:nvSpPr>
        <p:spPr>
          <a:xfrm>
            <a:off x="8919972" y="4315968"/>
            <a:ext cx="2377440" cy="548640"/>
          </a:xfrm>
          <a:prstGeom prst="rect">
            <a:avLst/>
          </a:prstGeom>
          <a:noFill/>
          <a:ln/>
        </p:spPr>
        <p:txBody>
          <a:bodyPr wrap="square" rtlCol="0" anchor="ctr"/>
          <a:lstStyle/>
          <a:p>
            <a:pPr marL="0" indent="0">
              <a:lnSpc>
                <a:spcPct val="105000"/>
              </a:lnSpc>
              <a:buNone/>
            </a:pPr>
            <a:r>
              <a:rPr lang="en-US" sz="1300" b="1" dirty="0">
                <a:solidFill>
                  <a:srgbClr val="FFFFFF"/>
                </a:solidFill>
                <a:latin typeface="Cambria" pitchFamily="34" charset="0"/>
                <a:ea typeface="Cambria" pitchFamily="34" charset="-122"/>
                <a:cs typeface="Cambria" pitchFamily="34" charset="-120"/>
              </a:rPr>
              <a:t>Better Communication</a:t>
            </a:r>
            <a:endParaRPr lang="en-US" sz="1300" dirty="0"/>
          </a:p>
        </p:txBody>
      </p:sp>
      <p:sp>
        <p:nvSpPr>
          <p:cNvPr id="33" name="Text 25"/>
          <p:cNvSpPr/>
          <p:nvPr/>
        </p:nvSpPr>
        <p:spPr>
          <a:xfrm>
            <a:off x="8279892" y="5029200"/>
            <a:ext cx="2971800" cy="914400"/>
          </a:xfrm>
          <a:prstGeom prst="rect">
            <a:avLst/>
          </a:prstGeom>
          <a:noFill/>
          <a:ln/>
        </p:spPr>
        <p:txBody>
          <a:bodyPr wrap="square" rtlCol="0" anchor="ctr"/>
          <a:lstStyle/>
          <a:p>
            <a:pPr marL="0" indent="0">
              <a:lnSpc>
                <a:spcPct val="115000"/>
              </a:lnSpc>
              <a:buNone/>
            </a:pPr>
            <a:r>
              <a:rPr lang="en-US" sz="1050" dirty="0">
                <a:solidFill>
                  <a:srgbClr val="9CA6C7"/>
                </a:solidFill>
                <a:latin typeface="Calibri" pitchFamily="34" charset="0"/>
                <a:ea typeface="Calibri" pitchFamily="34" charset="-122"/>
                <a:cs typeface="Calibri" pitchFamily="34" charset="-120"/>
              </a:rPr>
              <a:t>Connect students, drivers, and management seamlessly.</a:t>
            </a:r>
            <a:endParaRPr lang="en-US" sz="1050" dirty="0"/>
          </a:p>
        </p:txBody>
      </p:sp>
      <p:sp>
        <p:nvSpPr>
          <p:cNvPr id="34" name="Text 26"/>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PROCESS FLOW</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How the System Works</a:t>
            </a:r>
            <a:endParaRPr lang="en-US" sz="3000" dirty="0"/>
          </a:p>
        </p:txBody>
      </p:sp>
      <p:sp>
        <p:nvSpPr>
          <p:cNvPr id="4" name="Shape 2"/>
          <p:cNvSpPr/>
          <p:nvPr/>
        </p:nvSpPr>
        <p:spPr>
          <a:xfrm>
            <a:off x="342900" y="2011680"/>
            <a:ext cx="1783080" cy="2926080"/>
          </a:xfrm>
          <a:prstGeom prst="roundRect">
            <a:avLst>
              <a:gd name="adj" fmla="val 5128"/>
            </a:avLst>
          </a:prstGeom>
          <a:solidFill>
            <a:srgbClr val="0F1B3D"/>
          </a:solidFill>
          <a:ln w="12700">
            <a:solidFill>
              <a:srgbClr val="223261"/>
            </a:solidFill>
            <a:prstDash val="solid"/>
          </a:ln>
        </p:spPr>
      </p:sp>
      <p:sp>
        <p:nvSpPr>
          <p:cNvPr id="5" name="Shape 3"/>
          <p:cNvSpPr/>
          <p:nvPr/>
        </p:nvSpPr>
        <p:spPr>
          <a:xfrm>
            <a:off x="1051560" y="1828800"/>
            <a:ext cx="365760" cy="365760"/>
          </a:xfrm>
          <a:prstGeom prst="ellipse">
            <a:avLst/>
          </a:prstGeom>
          <a:solidFill>
            <a:srgbClr val="00E5C7"/>
          </a:solidFill>
          <a:ln/>
        </p:spPr>
      </p:sp>
      <p:sp>
        <p:nvSpPr>
          <p:cNvPr id="6" name="Text 4"/>
          <p:cNvSpPr/>
          <p:nvPr/>
        </p:nvSpPr>
        <p:spPr>
          <a:xfrm>
            <a:off x="1051560"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1</a:t>
            </a:r>
            <a:endParaRPr lang="en-US" sz="1400" dirty="0"/>
          </a:p>
        </p:txBody>
      </p:sp>
      <p:sp>
        <p:nvSpPr>
          <p:cNvPr id="7" name="Shape 5"/>
          <p:cNvSpPr/>
          <p:nvPr/>
        </p:nvSpPr>
        <p:spPr>
          <a:xfrm>
            <a:off x="960120" y="2377440"/>
            <a:ext cx="548640" cy="548640"/>
          </a:xfrm>
          <a:prstGeom prst="ellipse">
            <a:avLst/>
          </a:prstGeom>
          <a:solidFill>
            <a:srgbClr val="132353"/>
          </a:solidFill>
          <a:ln/>
        </p:spPr>
      </p:sp>
      <p:pic>
        <p:nvPicPr>
          <p:cNvPr id="8" name="Image 0" descr="/home/claude/bustrack/icons/crosshair_c.png"/>
          <p:cNvPicPr>
            <a:picLocks noChangeAspect="1"/>
          </p:cNvPicPr>
          <p:nvPr/>
        </p:nvPicPr>
        <p:blipFill>
          <a:blip r:embed="rId3"/>
          <a:stretch>
            <a:fillRect/>
          </a:stretch>
        </p:blipFill>
        <p:spPr>
          <a:xfrm>
            <a:off x="1083564" y="2500884"/>
            <a:ext cx="301752" cy="301752"/>
          </a:xfrm>
          <a:prstGeom prst="rect">
            <a:avLst/>
          </a:prstGeom>
        </p:spPr>
      </p:pic>
      <p:sp>
        <p:nvSpPr>
          <p:cNvPr id="9" name="Text 6"/>
          <p:cNvSpPr/>
          <p:nvPr/>
        </p:nvSpPr>
        <p:spPr>
          <a:xfrm>
            <a:off x="452628"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GPS Capture</a:t>
            </a:r>
            <a:endParaRPr lang="en-US" sz="1200" dirty="0"/>
          </a:p>
        </p:txBody>
      </p:sp>
      <p:sp>
        <p:nvSpPr>
          <p:cNvPr id="10" name="Text 7"/>
          <p:cNvSpPr/>
          <p:nvPr/>
        </p:nvSpPr>
        <p:spPr>
          <a:xfrm>
            <a:off x="480060"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Mobile GPS or device captures the bus location.</a:t>
            </a:r>
            <a:endParaRPr lang="en-US" sz="950" dirty="0"/>
          </a:p>
        </p:txBody>
      </p:sp>
      <p:pic>
        <p:nvPicPr>
          <p:cNvPr id="11" name="Image 1" descr="/home/claude/bustrack/icons/arrow_right_c.png"/>
          <p:cNvPicPr>
            <a:picLocks noChangeAspect="1"/>
          </p:cNvPicPr>
          <p:nvPr/>
        </p:nvPicPr>
        <p:blipFill>
          <a:blip r:embed="rId4"/>
          <a:stretch>
            <a:fillRect/>
          </a:stretch>
        </p:blipFill>
        <p:spPr>
          <a:xfrm>
            <a:off x="2135124" y="3383280"/>
            <a:ext cx="137160" cy="182880"/>
          </a:xfrm>
          <a:prstGeom prst="rect">
            <a:avLst/>
          </a:prstGeom>
        </p:spPr>
      </p:pic>
      <p:sp>
        <p:nvSpPr>
          <p:cNvPr id="12" name="Shape 8"/>
          <p:cNvSpPr/>
          <p:nvPr/>
        </p:nvSpPr>
        <p:spPr>
          <a:xfrm>
            <a:off x="2281428" y="2011680"/>
            <a:ext cx="1783080" cy="2926080"/>
          </a:xfrm>
          <a:prstGeom prst="roundRect">
            <a:avLst>
              <a:gd name="adj" fmla="val 5128"/>
            </a:avLst>
          </a:prstGeom>
          <a:solidFill>
            <a:srgbClr val="0F1B3D"/>
          </a:solidFill>
          <a:ln w="12700">
            <a:solidFill>
              <a:srgbClr val="223261"/>
            </a:solidFill>
            <a:prstDash val="solid"/>
          </a:ln>
        </p:spPr>
      </p:sp>
      <p:sp>
        <p:nvSpPr>
          <p:cNvPr id="13" name="Shape 9"/>
          <p:cNvSpPr/>
          <p:nvPr/>
        </p:nvSpPr>
        <p:spPr>
          <a:xfrm>
            <a:off x="2990088" y="1828800"/>
            <a:ext cx="365760" cy="365760"/>
          </a:xfrm>
          <a:prstGeom prst="ellipse">
            <a:avLst/>
          </a:prstGeom>
          <a:solidFill>
            <a:srgbClr val="00E5C7"/>
          </a:solidFill>
          <a:ln/>
        </p:spPr>
      </p:sp>
      <p:sp>
        <p:nvSpPr>
          <p:cNvPr id="14" name="Text 10"/>
          <p:cNvSpPr/>
          <p:nvPr/>
        </p:nvSpPr>
        <p:spPr>
          <a:xfrm>
            <a:off x="2990088"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2</a:t>
            </a:r>
            <a:endParaRPr lang="en-US" sz="1400" dirty="0"/>
          </a:p>
        </p:txBody>
      </p:sp>
      <p:sp>
        <p:nvSpPr>
          <p:cNvPr id="15" name="Shape 11"/>
          <p:cNvSpPr/>
          <p:nvPr/>
        </p:nvSpPr>
        <p:spPr>
          <a:xfrm>
            <a:off x="2898648" y="2377440"/>
            <a:ext cx="548640" cy="548640"/>
          </a:xfrm>
          <a:prstGeom prst="ellipse">
            <a:avLst/>
          </a:prstGeom>
          <a:solidFill>
            <a:srgbClr val="132353"/>
          </a:solidFill>
          <a:ln/>
        </p:spPr>
      </p:sp>
      <p:pic>
        <p:nvPicPr>
          <p:cNvPr id="16" name="Image 2" descr="/home/claude/bustrack/icons/cloud_w.png"/>
          <p:cNvPicPr>
            <a:picLocks noChangeAspect="1"/>
          </p:cNvPicPr>
          <p:nvPr/>
        </p:nvPicPr>
        <p:blipFill>
          <a:blip r:embed="rId5"/>
          <a:stretch>
            <a:fillRect/>
          </a:stretch>
        </p:blipFill>
        <p:spPr>
          <a:xfrm>
            <a:off x="3022092" y="2500884"/>
            <a:ext cx="301752" cy="301752"/>
          </a:xfrm>
          <a:prstGeom prst="rect">
            <a:avLst/>
          </a:prstGeom>
        </p:spPr>
      </p:pic>
      <p:sp>
        <p:nvSpPr>
          <p:cNvPr id="17" name="Text 12"/>
          <p:cNvSpPr/>
          <p:nvPr/>
        </p:nvSpPr>
        <p:spPr>
          <a:xfrm>
            <a:off x="2391156"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Send to Server</a:t>
            </a:r>
            <a:endParaRPr lang="en-US" sz="1200" dirty="0"/>
          </a:p>
        </p:txBody>
      </p:sp>
      <p:sp>
        <p:nvSpPr>
          <p:cNvPr id="18" name="Text 13"/>
          <p:cNvSpPr/>
          <p:nvPr/>
        </p:nvSpPr>
        <p:spPr>
          <a:xfrm>
            <a:off x="2418588"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Location data is transmitted to the backend server.</a:t>
            </a:r>
            <a:endParaRPr lang="en-US" sz="950" dirty="0"/>
          </a:p>
        </p:txBody>
      </p:sp>
      <p:pic>
        <p:nvPicPr>
          <p:cNvPr id="19" name="Image 3" descr="/home/claude/bustrack/icons/arrow_right_c.png"/>
          <p:cNvPicPr>
            <a:picLocks noChangeAspect="1"/>
          </p:cNvPicPr>
          <p:nvPr/>
        </p:nvPicPr>
        <p:blipFill>
          <a:blip r:embed="rId4"/>
          <a:stretch>
            <a:fillRect/>
          </a:stretch>
        </p:blipFill>
        <p:spPr>
          <a:xfrm>
            <a:off x="4073652" y="3383280"/>
            <a:ext cx="137160" cy="182880"/>
          </a:xfrm>
          <a:prstGeom prst="rect">
            <a:avLst/>
          </a:prstGeom>
        </p:spPr>
      </p:pic>
      <p:sp>
        <p:nvSpPr>
          <p:cNvPr id="20" name="Shape 14"/>
          <p:cNvSpPr/>
          <p:nvPr/>
        </p:nvSpPr>
        <p:spPr>
          <a:xfrm>
            <a:off x="4219956" y="2011680"/>
            <a:ext cx="1783080" cy="2926080"/>
          </a:xfrm>
          <a:prstGeom prst="roundRect">
            <a:avLst>
              <a:gd name="adj" fmla="val 5128"/>
            </a:avLst>
          </a:prstGeom>
          <a:solidFill>
            <a:srgbClr val="0F1B3D"/>
          </a:solidFill>
          <a:ln w="12700">
            <a:solidFill>
              <a:srgbClr val="223261"/>
            </a:solidFill>
            <a:prstDash val="solid"/>
          </a:ln>
        </p:spPr>
      </p:sp>
      <p:sp>
        <p:nvSpPr>
          <p:cNvPr id="21" name="Shape 15"/>
          <p:cNvSpPr/>
          <p:nvPr/>
        </p:nvSpPr>
        <p:spPr>
          <a:xfrm>
            <a:off x="4928616" y="1828800"/>
            <a:ext cx="365760" cy="365760"/>
          </a:xfrm>
          <a:prstGeom prst="ellipse">
            <a:avLst/>
          </a:prstGeom>
          <a:solidFill>
            <a:srgbClr val="00E5C7"/>
          </a:solidFill>
          <a:ln/>
        </p:spPr>
      </p:sp>
      <p:sp>
        <p:nvSpPr>
          <p:cNvPr id="22" name="Text 16"/>
          <p:cNvSpPr/>
          <p:nvPr/>
        </p:nvSpPr>
        <p:spPr>
          <a:xfrm>
            <a:off x="4928616"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3</a:t>
            </a:r>
            <a:endParaRPr lang="en-US" sz="1400" dirty="0"/>
          </a:p>
        </p:txBody>
      </p:sp>
      <p:sp>
        <p:nvSpPr>
          <p:cNvPr id="23" name="Shape 17"/>
          <p:cNvSpPr/>
          <p:nvPr/>
        </p:nvSpPr>
        <p:spPr>
          <a:xfrm>
            <a:off x="4837176" y="2377440"/>
            <a:ext cx="548640" cy="548640"/>
          </a:xfrm>
          <a:prstGeom prst="ellipse">
            <a:avLst/>
          </a:prstGeom>
          <a:solidFill>
            <a:srgbClr val="132353"/>
          </a:solidFill>
          <a:ln/>
        </p:spPr>
      </p:sp>
      <p:pic>
        <p:nvPicPr>
          <p:cNvPr id="24" name="Image 4" descr="/home/claude/bustrack/icons/server_w.png"/>
          <p:cNvPicPr>
            <a:picLocks noChangeAspect="1"/>
          </p:cNvPicPr>
          <p:nvPr/>
        </p:nvPicPr>
        <p:blipFill>
          <a:blip r:embed="rId6"/>
          <a:stretch>
            <a:fillRect/>
          </a:stretch>
        </p:blipFill>
        <p:spPr>
          <a:xfrm>
            <a:off x="4960620" y="2500884"/>
            <a:ext cx="301752" cy="301752"/>
          </a:xfrm>
          <a:prstGeom prst="rect">
            <a:avLst/>
          </a:prstGeom>
        </p:spPr>
      </p:pic>
      <p:sp>
        <p:nvSpPr>
          <p:cNvPr id="25" name="Text 18"/>
          <p:cNvSpPr/>
          <p:nvPr/>
        </p:nvSpPr>
        <p:spPr>
          <a:xfrm>
            <a:off x="4329684"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Process Data</a:t>
            </a:r>
            <a:endParaRPr lang="en-US" sz="1200" dirty="0"/>
          </a:p>
        </p:txBody>
      </p:sp>
      <p:sp>
        <p:nvSpPr>
          <p:cNvPr id="26" name="Text 19"/>
          <p:cNvSpPr/>
          <p:nvPr/>
        </p:nvSpPr>
        <p:spPr>
          <a:xfrm>
            <a:off x="4357116"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The server processes and stores the live location.</a:t>
            </a:r>
            <a:endParaRPr lang="en-US" sz="950" dirty="0"/>
          </a:p>
        </p:txBody>
      </p:sp>
      <p:pic>
        <p:nvPicPr>
          <p:cNvPr id="27" name="Image 5" descr="/home/claude/bustrack/icons/arrow_right_c.png"/>
          <p:cNvPicPr>
            <a:picLocks noChangeAspect="1"/>
          </p:cNvPicPr>
          <p:nvPr/>
        </p:nvPicPr>
        <p:blipFill>
          <a:blip r:embed="rId4"/>
          <a:stretch>
            <a:fillRect/>
          </a:stretch>
        </p:blipFill>
        <p:spPr>
          <a:xfrm>
            <a:off x="6012180" y="3383280"/>
            <a:ext cx="137160" cy="182880"/>
          </a:xfrm>
          <a:prstGeom prst="rect">
            <a:avLst/>
          </a:prstGeom>
        </p:spPr>
      </p:pic>
      <p:sp>
        <p:nvSpPr>
          <p:cNvPr id="28" name="Shape 20"/>
          <p:cNvSpPr/>
          <p:nvPr/>
        </p:nvSpPr>
        <p:spPr>
          <a:xfrm>
            <a:off x="6158484" y="2011680"/>
            <a:ext cx="1783080" cy="2926080"/>
          </a:xfrm>
          <a:prstGeom prst="roundRect">
            <a:avLst>
              <a:gd name="adj" fmla="val 5128"/>
            </a:avLst>
          </a:prstGeom>
          <a:solidFill>
            <a:srgbClr val="0F1B3D"/>
          </a:solidFill>
          <a:ln w="12700">
            <a:solidFill>
              <a:srgbClr val="223261"/>
            </a:solidFill>
            <a:prstDash val="solid"/>
          </a:ln>
        </p:spPr>
      </p:sp>
      <p:sp>
        <p:nvSpPr>
          <p:cNvPr id="29" name="Shape 21"/>
          <p:cNvSpPr/>
          <p:nvPr/>
        </p:nvSpPr>
        <p:spPr>
          <a:xfrm>
            <a:off x="6867144" y="1828800"/>
            <a:ext cx="365760" cy="365760"/>
          </a:xfrm>
          <a:prstGeom prst="ellipse">
            <a:avLst/>
          </a:prstGeom>
          <a:solidFill>
            <a:srgbClr val="00E5C7"/>
          </a:solidFill>
          <a:ln/>
        </p:spPr>
      </p:sp>
      <p:sp>
        <p:nvSpPr>
          <p:cNvPr id="30" name="Text 22"/>
          <p:cNvSpPr/>
          <p:nvPr/>
        </p:nvSpPr>
        <p:spPr>
          <a:xfrm>
            <a:off x="6867144"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4</a:t>
            </a:r>
            <a:endParaRPr lang="en-US" sz="1400" dirty="0"/>
          </a:p>
        </p:txBody>
      </p:sp>
      <p:sp>
        <p:nvSpPr>
          <p:cNvPr id="31" name="Shape 23"/>
          <p:cNvSpPr/>
          <p:nvPr/>
        </p:nvSpPr>
        <p:spPr>
          <a:xfrm>
            <a:off x="6775704" y="2377440"/>
            <a:ext cx="548640" cy="548640"/>
          </a:xfrm>
          <a:prstGeom prst="ellipse">
            <a:avLst/>
          </a:prstGeom>
          <a:solidFill>
            <a:srgbClr val="132353"/>
          </a:solidFill>
          <a:ln/>
        </p:spPr>
      </p:sp>
      <p:pic>
        <p:nvPicPr>
          <p:cNvPr id="32" name="Image 6" descr="/home/claude/bustrack/icons/mobile_w.png"/>
          <p:cNvPicPr>
            <a:picLocks noChangeAspect="1"/>
          </p:cNvPicPr>
          <p:nvPr/>
        </p:nvPicPr>
        <p:blipFill>
          <a:blip r:embed="rId7"/>
          <a:stretch>
            <a:fillRect/>
          </a:stretch>
        </p:blipFill>
        <p:spPr>
          <a:xfrm>
            <a:off x="6899148" y="2500884"/>
            <a:ext cx="301752" cy="301752"/>
          </a:xfrm>
          <a:prstGeom prst="rect">
            <a:avLst/>
          </a:prstGeom>
        </p:spPr>
      </p:pic>
      <p:sp>
        <p:nvSpPr>
          <p:cNvPr id="33" name="Text 24"/>
          <p:cNvSpPr/>
          <p:nvPr/>
        </p:nvSpPr>
        <p:spPr>
          <a:xfrm>
            <a:off x="6268212"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App Receives Live Data</a:t>
            </a:r>
            <a:endParaRPr lang="en-US" sz="1200" dirty="0"/>
          </a:p>
        </p:txBody>
      </p:sp>
      <p:sp>
        <p:nvSpPr>
          <p:cNvPr id="34" name="Text 25"/>
          <p:cNvSpPr/>
          <p:nvPr/>
        </p:nvSpPr>
        <p:spPr>
          <a:xfrm>
            <a:off x="6295644"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The student app receives the updated location.</a:t>
            </a:r>
            <a:endParaRPr lang="en-US" sz="950" dirty="0"/>
          </a:p>
        </p:txBody>
      </p:sp>
      <p:pic>
        <p:nvPicPr>
          <p:cNvPr id="35" name="Image 7" descr="/home/claude/bustrack/icons/arrow_right_c.png"/>
          <p:cNvPicPr>
            <a:picLocks noChangeAspect="1"/>
          </p:cNvPicPr>
          <p:nvPr/>
        </p:nvPicPr>
        <p:blipFill>
          <a:blip r:embed="rId4"/>
          <a:stretch>
            <a:fillRect/>
          </a:stretch>
        </p:blipFill>
        <p:spPr>
          <a:xfrm>
            <a:off x="7950708" y="3383280"/>
            <a:ext cx="137160" cy="182880"/>
          </a:xfrm>
          <a:prstGeom prst="rect">
            <a:avLst/>
          </a:prstGeom>
        </p:spPr>
      </p:pic>
      <p:sp>
        <p:nvSpPr>
          <p:cNvPr id="36" name="Shape 26"/>
          <p:cNvSpPr/>
          <p:nvPr/>
        </p:nvSpPr>
        <p:spPr>
          <a:xfrm>
            <a:off x="8097012" y="2011680"/>
            <a:ext cx="1783080" cy="2926080"/>
          </a:xfrm>
          <a:prstGeom prst="roundRect">
            <a:avLst>
              <a:gd name="adj" fmla="val 5128"/>
            </a:avLst>
          </a:prstGeom>
          <a:solidFill>
            <a:srgbClr val="0F1B3D"/>
          </a:solidFill>
          <a:ln w="12700">
            <a:solidFill>
              <a:srgbClr val="223261"/>
            </a:solidFill>
            <a:prstDash val="solid"/>
          </a:ln>
        </p:spPr>
      </p:sp>
      <p:sp>
        <p:nvSpPr>
          <p:cNvPr id="37" name="Shape 27"/>
          <p:cNvSpPr/>
          <p:nvPr/>
        </p:nvSpPr>
        <p:spPr>
          <a:xfrm>
            <a:off x="8805672" y="1828800"/>
            <a:ext cx="365760" cy="365760"/>
          </a:xfrm>
          <a:prstGeom prst="ellipse">
            <a:avLst/>
          </a:prstGeom>
          <a:solidFill>
            <a:srgbClr val="00E5C7"/>
          </a:solidFill>
          <a:ln/>
        </p:spPr>
      </p:sp>
      <p:sp>
        <p:nvSpPr>
          <p:cNvPr id="38" name="Text 28"/>
          <p:cNvSpPr/>
          <p:nvPr/>
        </p:nvSpPr>
        <p:spPr>
          <a:xfrm>
            <a:off x="8805672"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5</a:t>
            </a:r>
            <a:endParaRPr lang="en-US" sz="1400" dirty="0"/>
          </a:p>
        </p:txBody>
      </p:sp>
      <p:sp>
        <p:nvSpPr>
          <p:cNvPr id="39" name="Shape 29"/>
          <p:cNvSpPr/>
          <p:nvPr/>
        </p:nvSpPr>
        <p:spPr>
          <a:xfrm>
            <a:off x="8714232" y="2377440"/>
            <a:ext cx="548640" cy="548640"/>
          </a:xfrm>
          <a:prstGeom prst="ellipse">
            <a:avLst/>
          </a:prstGeom>
          <a:solidFill>
            <a:srgbClr val="132353"/>
          </a:solidFill>
          <a:ln/>
        </p:spPr>
      </p:sp>
      <p:pic>
        <p:nvPicPr>
          <p:cNvPr id="40" name="Image 8" descr="/home/claude/bustrack/icons/map_w.png"/>
          <p:cNvPicPr>
            <a:picLocks noChangeAspect="1"/>
          </p:cNvPicPr>
          <p:nvPr/>
        </p:nvPicPr>
        <p:blipFill>
          <a:blip r:embed="rId8"/>
          <a:stretch>
            <a:fillRect/>
          </a:stretch>
        </p:blipFill>
        <p:spPr>
          <a:xfrm>
            <a:off x="8837676" y="2500884"/>
            <a:ext cx="301752" cy="301752"/>
          </a:xfrm>
          <a:prstGeom prst="rect">
            <a:avLst/>
          </a:prstGeom>
        </p:spPr>
      </p:pic>
      <p:sp>
        <p:nvSpPr>
          <p:cNvPr id="41" name="Text 30"/>
          <p:cNvSpPr/>
          <p:nvPr/>
        </p:nvSpPr>
        <p:spPr>
          <a:xfrm>
            <a:off x="8206740"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View on Map</a:t>
            </a:r>
            <a:endParaRPr lang="en-US" sz="1200" dirty="0"/>
          </a:p>
        </p:txBody>
      </p:sp>
      <p:sp>
        <p:nvSpPr>
          <p:cNvPr id="42" name="Text 31"/>
          <p:cNvSpPr/>
          <p:nvPr/>
        </p:nvSpPr>
        <p:spPr>
          <a:xfrm>
            <a:off x="8234172"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Students see the bus moving in real time.</a:t>
            </a:r>
            <a:endParaRPr lang="en-US" sz="950" dirty="0"/>
          </a:p>
        </p:txBody>
      </p:sp>
      <p:pic>
        <p:nvPicPr>
          <p:cNvPr id="43" name="Image 9" descr="/home/claude/bustrack/icons/arrow_right_c.png"/>
          <p:cNvPicPr>
            <a:picLocks noChangeAspect="1"/>
          </p:cNvPicPr>
          <p:nvPr/>
        </p:nvPicPr>
        <p:blipFill>
          <a:blip r:embed="rId4"/>
          <a:stretch>
            <a:fillRect/>
          </a:stretch>
        </p:blipFill>
        <p:spPr>
          <a:xfrm>
            <a:off x="9889236" y="3383280"/>
            <a:ext cx="137160" cy="182880"/>
          </a:xfrm>
          <a:prstGeom prst="rect">
            <a:avLst/>
          </a:prstGeom>
        </p:spPr>
      </p:pic>
      <p:sp>
        <p:nvSpPr>
          <p:cNvPr id="44" name="Shape 32"/>
          <p:cNvSpPr/>
          <p:nvPr/>
        </p:nvSpPr>
        <p:spPr>
          <a:xfrm>
            <a:off x="10035540" y="2011680"/>
            <a:ext cx="1783080" cy="2926080"/>
          </a:xfrm>
          <a:prstGeom prst="roundRect">
            <a:avLst>
              <a:gd name="adj" fmla="val 5128"/>
            </a:avLst>
          </a:prstGeom>
          <a:solidFill>
            <a:srgbClr val="0F1B3D"/>
          </a:solidFill>
          <a:ln w="12700">
            <a:solidFill>
              <a:srgbClr val="223261"/>
            </a:solidFill>
            <a:prstDash val="solid"/>
          </a:ln>
        </p:spPr>
      </p:sp>
      <p:sp>
        <p:nvSpPr>
          <p:cNvPr id="45" name="Shape 33"/>
          <p:cNvSpPr/>
          <p:nvPr/>
        </p:nvSpPr>
        <p:spPr>
          <a:xfrm>
            <a:off x="10744200" y="1828800"/>
            <a:ext cx="365760" cy="365760"/>
          </a:xfrm>
          <a:prstGeom prst="ellipse">
            <a:avLst/>
          </a:prstGeom>
          <a:solidFill>
            <a:srgbClr val="00E5C7"/>
          </a:solidFill>
          <a:ln/>
        </p:spPr>
      </p:sp>
      <p:sp>
        <p:nvSpPr>
          <p:cNvPr id="46" name="Text 34"/>
          <p:cNvSpPr/>
          <p:nvPr/>
        </p:nvSpPr>
        <p:spPr>
          <a:xfrm>
            <a:off x="10744200" y="1828800"/>
            <a:ext cx="365760" cy="365760"/>
          </a:xfrm>
          <a:prstGeom prst="rect">
            <a:avLst/>
          </a:prstGeom>
          <a:noFill/>
          <a:ln/>
        </p:spPr>
        <p:txBody>
          <a:bodyPr wrap="square" rtlCol="0" anchor="ctr"/>
          <a:lstStyle/>
          <a:p>
            <a:pPr marL="0" indent="0" algn="ctr">
              <a:buNone/>
            </a:pPr>
            <a:r>
              <a:rPr lang="en-US" sz="1400" b="1" dirty="0">
                <a:solidFill>
                  <a:srgbClr val="0A1128"/>
                </a:solidFill>
                <a:latin typeface="Cambria" pitchFamily="34" charset="0"/>
                <a:ea typeface="Cambria" pitchFamily="34" charset="-122"/>
                <a:cs typeface="Cambria" pitchFamily="34" charset="-120"/>
              </a:rPr>
              <a:t>6</a:t>
            </a:r>
            <a:endParaRPr lang="en-US" sz="1400" dirty="0"/>
          </a:p>
        </p:txBody>
      </p:sp>
      <p:sp>
        <p:nvSpPr>
          <p:cNvPr id="47" name="Shape 35"/>
          <p:cNvSpPr/>
          <p:nvPr/>
        </p:nvSpPr>
        <p:spPr>
          <a:xfrm>
            <a:off x="10652760" y="2377440"/>
            <a:ext cx="548640" cy="548640"/>
          </a:xfrm>
          <a:prstGeom prst="ellipse">
            <a:avLst/>
          </a:prstGeom>
          <a:solidFill>
            <a:srgbClr val="132353"/>
          </a:solidFill>
          <a:ln/>
        </p:spPr>
      </p:sp>
      <p:pic>
        <p:nvPicPr>
          <p:cNvPr id="48" name="Image 10" descr="/home/claude/bustrack/icons/dashboard_w.png"/>
          <p:cNvPicPr>
            <a:picLocks noChangeAspect="1"/>
          </p:cNvPicPr>
          <p:nvPr/>
        </p:nvPicPr>
        <p:blipFill>
          <a:blip r:embed="rId9"/>
          <a:stretch>
            <a:fillRect/>
          </a:stretch>
        </p:blipFill>
        <p:spPr>
          <a:xfrm>
            <a:off x="10776204" y="2500884"/>
            <a:ext cx="301752" cy="301752"/>
          </a:xfrm>
          <a:prstGeom prst="rect">
            <a:avLst/>
          </a:prstGeom>
        </p:spPr>
      </p:pic>
      <p:sp>
        <p:nvSpPr>
          <p:cNvPr id="49" name="Text 36"/>
          <p:cNvSpPr/>
          <p:nvPr/>
        </p:nvSpPr>
        <p:spPr>
          <a:xfrm>
            <a:off x="10145268" y="3154680"/>
            <a:ext cx="1563624" cy="548640"/>
          </a:xfrm>
          <a:prstGeom prst="rect">
            <a:avLst/>
          </a:prstGeom>
          <a:noFill/>
          <a:ln/>
        </p:spPr>
        <p:txBody>
          <a:bodyPr wrap="square"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Admin Monitors Fleet</a:t>
            </a:r>
            <a:endParaRPr lang="en-US" sz="1200" dirty="0"/>
          </a:p>
        </p:txBody>
      </p:sp>
      <p:sp>
        <p:nvSpPr>
          <p:cNvPr id="50" name="Text 37"/>
          <p:cNvSpPr/>
          <p:nvPr/>
        </p:nvSpPr>
        <p:spPr>
          <a:xfrm>
            <a:off x="10172700" y="3749040"/>
            <a:ext cx="1508760" cy="1051560"/>
          </a:xfrm>
          <a:prstGeom prst="rect">
            <a:avLst/>
          </a:prstGeom>
          <a:noFill/>
          <a:ln/>
        </p:spPr>
        <p:txBody>
          <a:bodyPr wrap="square" rtlCol="0" anchor="ctr"/>
          <a:lstStyle/>
          <a:p>
            <a:pPr marL="0" indent="0" algn="ctr">
              <a:lnSpc>
                <a:spcPct val="115000"/>
              </a:lnSpc>
              <a:buNone/>
            </a:pPr>
            <a:r>
              <a:rPr lang="en-US" sz="950" dirty="0">
                <a:solidFill>
                  <a:srgbClr val="9CA6C7"/>
                </a:solidFill>
                <a:latin typeface="Calibri" pitchFamily="34" charset="0"/>
                <a:ea typeface="Calibri" pitchFamily="34" charset="-122"/>
                <a:cs typeface="Calibri" pitchFamily="34" charset="-120"/>
              </a:rPr>
              <a:t>Administrators track the complete fleet centrally.</a:t>
            </a:r>
            <a:endParaRPr lang="en-US" sz="950" dirty="0"/>
          </a:p>
        </p:txBody>
      </p:sp>
      <p:sp>
        <p:nvSpPr>
          <p:cNvPr id="51" name="Text 38"/>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TECHNICAL DESIGN</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822960" y="2103120"/>
            <a:ext cx="640080" cy="640080"/>
          </a:xfrm>
          <a:prstGeom prst="ellipse">
            <a:avLst/>
          </a:prstGeom>
          <a:solidFill>
            <a:srgbClr val="132353"/>
          </a:solidFill>
          <a:ln w="15875">
            <a:solidFill>
              <a:srgbClr val="00E5C7"/>
            </a:solidFill>
            <a:prstDash val="solid"/>
          </a:ln>
        </p:spPr>
      </p:sp>
      <p:pic>
        <p:nvPicPr>
          <p:cNvPr id="5" name="Image 0" descr="/home/claude/bustrack/icons/crosshair_c.png"/>
          <p:cNvPicPr>
            <a:picLocks noChangeAspect="1"/>
          </p:cNvPicPr>
          <p:nvPr/>
        </p:nvPicPr>
        <p:blipFill>
          <a:blip r:embed="rId3"/>
          <a:stretch>
            <a:fillRect/>
          </a:stretch>
        </p:blipFill>
        <p:spPr>
          <a:xfrm>
            <a:off x="982980" y="2263140"/>
            <a:ext cx="320040" cy="320040"/>
          </a:xfrm>
          <a:prstGeom prst="rect">
            <a:avLst/>
          </a:prstGeom>
        </p:spPr>
      </p:pic>
      <p:sp>
        <p:nvSpPr>
          <p:cNvPr id="6" name="Text 3"/>
          <p:cNvSpPr/>
          <p:nvPr/>
        </p:nvSpPr>
        <p:spPr>
          <a:xfrm>
            <a:off x="320040" y="2788920"/>
            <a:ext cx="1645920" cy="54864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GPS / Driver</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Mobile</a:t>
            </a:r>
            <a:endParaRPr lang="en-US" sz="1100" dirty="0"/>
          </a:p>
        </p:txBody>
      </p:sp>
      <p:pic>
        <p:nvPicPr>
          <p:cNvPr id="7" name="Image 1" descr="/home/claude/bustrack/icons/arrow_right_c.png"/>
          <p:cNvPicPr>
            <a:picLocks noChangeAspect="1"/>
          </p:cNvPicPr>
          <p:nvPr/>
        </p:nvPicPr>
        <p:blipFill>
          <a:blip r:embed="rId4"/>
          <a:stretch>
            <a:fillRect/>
          </a:stretch>
        </p:blipFill>
        <p:spPr>
          <a:xfrm>
            <a:off x="1874520" y="2331720"/>
            <a:ext cx="320040" cy="274320"/>
          </a:xfrm>
          <a:prstGeom prst="rect">
            <a:avLst/>
          </a:prstGeom>
        </p:spPr>
      </p:pic>
      <p:sp>
        <p:nvSpPr>
          <p:cNvPr id="8" name="Shape 4"/>
          <p:cNvSpPr/>
          <p:nvPr/>
        </p:nvSpPr>
        <p:spPr>
          <a:xfrm>
            <a:off x="2377440" y="2103120"/>
            <a:ext cx="640080" cy="640080"/>
          </a:xfrm>
          <a:prstGeom prst="ellipse">
            <a:avLst/>
          </a:prstGeom>
          <a:solidFill>
            <a:srgbClr val="132353"/>
          </a:solidFill>
          <a:ln w="15875">
            <a:solidFill>
              <a:srgbClr val="34D399"/>
            </a:solidFill>
            <a:prstDash val="solid"/>
          </a:ln>
        </p:spPr>
      </p:sp>
      <p:pic>
        <p:nvPicPr>
          <p:cNvPr id="9" name="Image 2" descr="/home/claude/bustrack/icons/wifi_w.png"/>
          <p:cNvPicPr>
            <a:picLocks noChangeAspect="1"/>
          </p:cNvPicPr>
          <p:nvPr/>
        </p:nvPicPr>
        <p:blipFill>
          <a:blip r:embed="rId5"/>
          <a:stretch>
            <a:fillRect/>
          </a:stretch>
        </p:blipFill>
        <p:spPr>
          <a:xfrm>
            <a:off x="2537460" y="2263140"/>
            <a:ext cx="320040" cy="320040"/>
          </a:xfrm>
          <a:prstGeom prst="rect">
            <a:avLst/>
          </a:prstGeom>
        </p:spPr>
      </p:pic>
      <p:sp>
        <p:nvSpPr>
          <p:cNvPr id="10" name="Text 5"/>
          <p:cNvSpPr/>
          <p:nvPr/>
        </p:nvSpPr>
        <p:spPr>
          <a:xfrm>
            <a:off x="1874520" y="2788920"/>
            <a:ext cx="164592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Internet</a:t>
            </a:r>
            <a:endParaRPr lang="en-US" sz="1100" dirty="0"/>
          </a:p>
        </p:txBody>
      </p:sp>
      <p:pic>
        <p:nvPicPr>
          <p:cNvPr id="11" name="Image 3" descr="/home/claude/bustrack/icons/arrow_right_c.png"/>
          <p:cNvPicPr>
            <a:picLocks noChangeAspect="1"/>
          </p:cNvPicPr>
          <p:nvPr/>
        </p:nvPicPr>
        <p:blipFill>
          <a:blip r:embed="rId4"/>
          <a:stretch>
            <a:fillRect/>
          </a:stretch>
        </p:blipFill>
        <p:spPr>
          <a:xfrm>
            <a:off x="3429000" y="2331720"/>
            <a:ext cx="320040" cy="274320"/>
          </a:xfrm>
          <a:prstGeom prst="rect">
            <a:avLst/>
          </a:prstGeom>
        </p:spPr>
      </p:pic>
      <p:sp>
        <p:nvSpPr>
          <p:cNvPr id="12" name="Shape 6"/>
          <p:cNvSpPr/>
          <p:nvPr/>
        </p:nvSpPr>
        <p:spPr>
          <a:xfrm>
            <a:off x="4160520" y="1645920"/>
            <a:ext cx="2834640" cy="1828800"/>
          </a:xfrm>
          <a:prstGeom prst="roundRect">
            <a:avLst>
              <a:gd name="adj" fmla="val 6000"/>
            </a:avLst>
          </a:prstGeom>
          <a:solidFill>
            <a:srgbClr val="132353"/>
          </a:solidFill>
          <a:ln w="19050">
            <a:solidFill>
              <a:srgbClr val="00E5C7"/>
            </a:solidFill>
            <a:prstDash val="solid"/>
          </a:ln>
        </p:spPr>
      </p:sp>
      <p:sp>
        <p:nvSpPr>
          <p:cNvPr id="13" name="Text 7"/>
          <p:cNvSpPr/>
          <p:nvPr/>
        </p:nvSpPr>
        <p:spPr>
          <a:xfrm>
            <a:off x="4343400" y="1783080"/>
            <a:ext cx="2468880" cy="274320"/>
          </a:xfrm>
          <a:prstGeom prst="rect">
            <a:avLst/>
          </a:prstGeom>
          <a:noFill/>
          <a:ln/>
        </p:spPr>
        <p:txBody>
          <a:bodyPr wrap="square" rtlCol="0" anchor="ctr"/>
          <a:lstStyle/>
          <a:p>
            <a:pPr marL="0" indent="0">
              <a:buNone/>
            </a:pPr>
            <a:r>
              <a:rPr lang="en-US" sz="1050" b="1" kern="0" spc="200" dirty="0">
                <a:solidFill>
                  <a:srgbClr val="00E5C7"/>
                </a:solidFill>
                <a:latin typeface="Calibri" pitchFamily="34" charset="0"/>
                <a:ea typeface="Calibri" pitchFamily="34" charset="-122"/>
                <a:cs typeface="Calibri" pitchFamily="34" charset="-120"/>
              </a:rPr>
              <a:t>CORE SYSTEM</a:t>
            </a:r>
            <a:endParaRPr lang="en-US" sz="1050" dirty="0"/>
          </a:p>
        </p:txBody>
      </p:sp>
      <p:sp>
        <p:nvSpPr>
          <p:cNvPr id="14" name="Shape 8"/>
          <p:cNvSpPr/>
          <p:nvPr/>
        </p:nvSpPr>
        <p:spPr>
          <a:xfrm>
            <a:off x="4434840" y="2148840"/>
            <a:ext cx="502920" cy="502920"/>
          </a:xfrm>
          <a:prstGeom prst="ellipse">
            <a:avLst/>
          </a:prstGeom>
          <a:solidFill>
            <a:srgbClr val="0A1128"/>
          </a:solidFill>
          <a:ln/>
        </p:spPr>
      </p:sp>
      <p:pic>
        <p:nvPicPr>
          <p:cNvPr id="15" name="Image 4" descr="/home/claude/bustrack/icons/server_w.png"/>
          <p:cNvPicPr>
            <a:picLocks noChangeAspect="1"/>
          </p:cNvPicPr>
          <p:nvPr/>
        </p:nvPicPr>
        <p:blipFill>
          <a:blip r:embed="rId6"/>
          <a:stretch>
            <a:fillRect/>
          </a:stretch>
        </p:blipFill>
        <p:spPr>
          <a:xfrm>
            <a:off x="4547997" y="2261997"/>
            <a:ext cx="276606" cy="276606"/>
          </a:xfrm>
          <a:prstGeom prst="rect">
            <a:avLst/>
          </a:prstGeom>
        </p:spPr>
      </p:pic>
      <p:sp>
        <p:nvSpPr>
          <p:cNvPr id="16" name="Text 9"/>
          <p:cNvSpPr/>
          <p:nvPr/>
        </p:nvSpPr>
        <p:spPr>
          <a:xfrm>
            <a:off x="5029200" y="2212848"/>
            <a:ext cx="182880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Server</a:t>
            </a:r>
            <a:endParaRPr lang="en-US" sz="1200" dirty="0"/>
          </a:p>
        </p:txBody>
      </p:sp>
      <p:sp>
        <p:nvSpPr>
          <p:cNvPr id="17" name="Shape 10"/>
          <p:cNvSpPr/>
          <p:nvPr/>
        </p:nvSpPr>
        <p:spPr>
          <a:xfrm>
            <a:off x="4434840" y="2788920"/>
            <a:ext cx="502920" cy="502920"/>
          </a:xfrm>
          <a:prstGeom prst="ellipse">
            <a:avLst/>
          </a:prstGeom>
          <a:solidFill>
            <a:srgbClr val="0A1128"/>
          </a:solidFill>
          <a:ln/>
        </p:spPr>
      </p:sp>
      <p:pic>
        <p:nvPicPr>
          <p:cNvPr id="18" name="Image 5" descr="/home/claude/bustrack/icons/database_w.png"/>
          <p:cNvPicPr>
            <a:picLocks noChangeAspect="1"/>
          </p:cNvPicPr>
          <p:nvPr/>
        </p:nvPicPr>
        <p:blipFill>
          <a:blip r:embed="rId7"/>
          <a:stretch>
            <a:fillRect/>
          </a:stretch>
        </p:blipFill>
        <p:spPr>
          <a:xfrm>
            <a:off x="4547997" y="2902077"/>
            <a:ext cx="276606" cy="276606"/>
          </a:xfrm>
          <a:prstGeom prst="rect">
            <a:avLst/>
          </a:prstGeom>
        </p:spPr>
      </p:pic>
      <p:sp>
        <p:nvSpPr>
          <p:cNvPr id="19" name="Text 11"/>
          <p:cNvSpPr/>
          <p:nvPr/>
        </p:nvSpPr>
        <p:spPr>
          <a:xfrm>
            <a:off x="5029200" y="2852928"/>
            <a:ext cx="182880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pic>
        <p:nvPicPr>
          <p:cNvPr id="20" name="Image 6" descr="/home/claude/bustrack/icons/arrow_right_c.png"/>
          <p:cNvPicPr>
            <a:picLocks noChangeAspect="1"/>
          </p:cNvPicPr>
          <p:nvPr/>
        </p:nvPicPr>
        <p:blipFill>
          <a:blip r:embed="rId4"/>
          <a:stretch>
            <a:fillRect/>
          </a:stretch>
        </p:blipFill>
        <p:spPr>
          <a:xfrm>
            <a:off x="7132320" y="2331720"/>
            <a:ext cx="320040" cy="274320"/>
          </a:xfrm>
          <a:prstGeom prst="rect">
            <a:avLst/>
          </a:prstGeom>
        </p:spPr>
      </p:pic>
      <p:sp>
        <p:nvSpPr>
          <p:cNvPr id="21" name="Shape 12"/>
          <p:cNvSpPr/>
          <p:nvPr/>
        </p:nvSpPr>
        <p:spPr>
          <a:xfrm>
            <a:off x="7589520" y="1645920"/>
            <a:ext cx="2377440" cy="530352"/>
          </a:xfrm>
          <a:prstGeom prst="roundRect">
            <a:avLst>
              <a:gd name="adj" fmla="val 13793"/>
            </a:avLst>
          </a:prstGeom>
          <a:solidFill>
            <a:srgbClr val="0F1B3D"/>
          </a:solidFill>
          <a:ln w="12700">
            <a:solidFill>
              <a:srgbClr val="223261"/>
            </a:solidFill>
            <a:prstDash val="solid"/>
          </a:ln>
        </p:spPr>
      </p:sp>
      <p:sp>
        <p:nvSpPr>
          <p:cNvPr id="22" name="Shape 13"/>
          <p:cNvSpPr/>
          <p:nvPr/>
        </p:nvSpPr>
        <p:spPr>
          <a:xfrm>
            <a:off x="7662672" y="1719072"/>
            <a:ext cx="384048" cy="384048"/>
          </a:xfrm>
          <a:prstGeom prst="ellipse">
            <a:avLst/>
          </a:prstGeom>
          <a:solidFill>
            <a:srgbClr val="34D399"/>
          </a:solidFill>
          <a:ln/>
        </p:spPr>
      </p:sp>
      <p:pic>
        <p:nvPicPr>
          <p:cNvPr id="23" name="Image 7" descr="/home/claude/bustrack/icons/dashboard_w.png"/>
          <p:cNvPicPr>
            <a:picLocks noChangeAspect="1"/>
          </p:cNvPicPr>
          <p:nvPr/>
        </p:nvPicPr>
        <p:blipFill>
          <a:blip r:embed="rId8"/>
          <a:stretch>
            <a:fillRect/>
          </a:stretch>
        </p:blipFill>
        <p:spPr>
          <a:xfrm>
            <a:off x="7758684" y="1815084"/>
            <a:ext cx="192024" cy="192024"/>
          </a:xfrm>
          <a:prstGeom prst="rect">
            <a:avLst/>
          </a:prstGeom>
        </p:spPr>
      </p:pic>
      <p:sp>
        <p:nvSpPr>
          <p:cNvPr id="24" name="Text 14"/>
          <p:cNvSpPr/>
          <p:nvPr/>
        </p:nvSpPr>
        <p:spPr>
          <a:xfrm>
            <a:off x="8119872" y="1645920"/>
            <a:ext cx="1755648" cy="5303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Admin Dashboard</a:t>
            </a:r>
            <a:endParaRPr lang="en-US" sz="1100" dirty="0"/>
          </a:p>
        </p:txBody>
      </p:sp>
      <p:sp>
        <p:nvSpPr>
          <p:cNvPr id="25" name="Shape 15"/>
          <p:cNvSpPr/>
          <p:nvPr/>
        </p:nvSpPr>
        <p:spPr>
          <a:xfrm>
            <a:off x="7589520" y="2304288"/>
            <a:ext cx="2377440" cy="530352"/>
          </a:xfrm>
          <a:prstGeom prst="roundRect">
            <a:avLst>
              <a:gd name="adj" fmla="val 13793"/>
            </a:avLst>
          </a:prstGeom>
          <a:solidFill>
            <a:srgbClr val="0F1B3D"/>
          </a:solidFill>
          <a:ln w="12700">
            <a:solidFill>
              <a:srgbClr val="223261"/>
            </a:solidFill>
            <a:prstDash val="solid"/>
          </a:ln>
        </p:spPr>
      </p:sp>
      <p:sp>
        <p:nvSpPr>
          <p:cNvPr id="26" name="Shape 16"/>
          <p:cNvSpPr/>
          <p:nvPr/>
        </p:nvSpPr>
        <p:spPr>
          <a:xfrm>
            <a:off x="7662672" y="2377440"/>
            <a:ext cx="384048" cy="384048"/>
          </a:xfrm>
          <a:prstGeom prst="ellipse">
            <a:avLst/>
          </a:prstGeom>
          <a:solidFill>
            <a:srgbClr val="34D399"/>
          </a:solidFill>
          <a:ln/>
        </p:spPr>
      </p:sp>
      <p:pic>
        <p:nvPicPr>
          <p:cNvPr id="27" name="Image 8" descr="/home/claude/bustrack/icons/mobile_w.png"/>
          <p:cNvPicPr>
            <a:picLocks noChangeAspect="1"/>
          </p:cNvPicPr>
          <p:nvPr/>
        </p:nvPicPr>
        <p:blipFill>
          <a:blip r:embed="rId9"/>
          <a:stretch>
            <a:fillRect/>
          </a:stretch>
        </p:blipFill>
        <p:spPr>
          <a:xfrm>
            <a:off x="7758684" y="2473452"/>
            <a:ext cx="192024" cy="192024"/>
          </a:xfrm>
          <a:prstGeom prst="rect">
            <a:avLst/>
          </a:prstGeom>
        </p:spPr>
      </p:pic>
      <p:sp>
        <p:nvSpPr>
          <p:cNvPr id="28" name="Text 17"/>
          <p:cNvSpPr/>
          <p:nvPr/>
        </p:nvSpPr>
        <p:spPr>
          <a:xfrm>
            <a:off x="8119872" y="2304288"/>
            <a:ext cx="1755648" cy="5303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Student Mobile App</a:t>
            </a:r>
            <a:endParaRPr lang="en-US" sz="1100" dirty="0"/>
          </a:p>
        </p:txBody>
      </p:sp>
      <p:sp>
        <p:nvSpPr>
          <p:cNvPr id="29" name="Shape 18"/>
          <p:cNvSpPr/>
          <p:nvPr/>
        </p:nvSpPr>
        <p:spPr>
          <a:xfrm>
            <a:off x="7589520" y="2962656"/>
            <a:ext cx="2377440" cy="530352"/>
          </a:xfrm>
          <a:prstGeom prst="roundRect">
            <a:avLst>
              <a:gd name="adj" fmla="val 13793"/>
            </a:avLst>
          </a:prstGeom>
          <a:solidFill>
            <a:srgbClr val="0F1B3D"/>
          </a:solidFill>
          <a:ln w="12700">
            <a:solidFill>
              <a:srgbClr val="223261"/>
            </a:solidFill>
            <a:prstDash val="solid"/>
          </a:ln>
        </p:spPr>
      </p:sp>
      <p:sp>
        <p:nvSpPr>
          <p:cNvPr id="30" name="Shape 19"/>
          <p:cNvSpPr/>
          <p:nvPr/>
        </p:nvSpPr>
        <p:spPr>
          <a:xfrm>
            <a:off x="7662672" y="3035808"/>
            <a:ext cx="384048" cy="384048"/>
          </a:xfrm>
          <a:prstGeom prst="ellipse">
            <a:avLst/>
          </a:prstGeom>
          <a:solidFill>
            <a:srgbClr val="34D399"/>
          </a:solidFill>
          <a:ln/>
        </p:spPr>
      </p:sp>
      <p:pic>
        <p:nvPicPr>
          <p:cNvPr id="31" name="Image 9" descr="/home/claude/bustrack/icons/bell_w.png"/>
          <p:cNvPicPr>
            <a:picLocks noChangeAspect="1"/>
          </p:cNvPicPr>
          <p:nvPr/>
        </p:nvPicPr>
        <p:blipFill>
          <a:blip r:embed="rId10"/>
          <a:stretch>
            <a:fillRect/>
          </a:stretch>
        </p:blipFill>
        <p:spPr>
          <a:xfrm>
            <a:off x="7758684" y="3131820"/>
            <a:ext cx="192024" cy="192024"/>
          </a:xfrm>
          <a:prstGeom prst="rect">
            <a:avLst/>
          </a:prstGeom>
        </p:spPr>
      </p:pic>
      <p:sp>
        <p:nvSpPr>
          <p:cNvPr id="32" name="Text 20"/>
          <p:cNvSpPr/>
          <p:nvPr/>
        </p:nvSpPr>
        <p:spPr>
          <a:xfrm>
            <a:off x="8119872" y="2962656"/>
            <a:ext cx="1755648" cy="5303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Notification System</a:t>
            </a:r>
            <a:endParaRPr lang="en-US" sz="1100" dirty="0"/>
          </a:p>
        </p:txBody>
      </p:sp>
      <p:sp>
        <p:nvSpPr>
          <p:cNvPr id="33" name="Shape 21"/>
          <p:cNvSpPr/>
          <p:nvPr/>
        </p:nvSpPr>
        <p:spPr>
          <a:xfrm>
            <a:off x="320040" y="4160520"/>
            <a:ext cx="11521440" cy="2057400"/>
          </a:xfrm>
          <a:prstGeom prst="roundRect">
            <a:avLst>
              <a:gd name="adj" fmla="val 4444"/>
            </a:avLst>
          </a:prstGeom>
          <a:solidFill>
            <a:srgbClr val="0F1B3D"/>
          </a:solidFill>
          <a:ln w="12700">
            <a:solidFill>
              <a:srgbClr val="223261"/>
            </a:solidFill>
            <a:prstDash val="solid"/>
          </a:ln>
        </p:spPr>
      </p:sp>
      <p:sp>
        <p:nvSpPr>
          <p:cNvPr id="34" name="Text 22"/>
          <p:cNvSpPr/>
          <p:nvPr/>
        </p:nvSpPr>
        <p:spPr>
          <a:xfrm>
            <a:off x="685800" y="4389120"/>
            <a:ext cx="10789920" cy="822960"/>
          </a:xfrm>
          <a:prstGeom prst="rect">
            <a:avLst/>
          </a:prstGeom>
          <a:noFill/>
          <a:ln/>
        </p:spPr>
        <p:txBody>
          <a:bodyPr wrap="square" rtlCol="0" anchor="ctr"/>
          <a:lstStyle/>
          <a:p>
            <a:pPr marL="0" indent="0">
              <a:lnSpc>
                <a:spcPct val="130000"/>
              </a:lnSpc>
              <a:buNone/>
            </a:pPr>
            <a:r>
              <a:rPr lang="en-US" sz="1300" dirty="0">
                <a:solidFill>
                  <a:srgbClr val="9CA6C7"/>
                </a:solidFill>
                <a:latin typeface="Calibri" pitchFamily="34" charset="0"/>
                <a:ea typeface="Calibri" pitchFamily="34" charset="-122"/>
                <a:cs typeface="Calibri" pitchFamily="34" charset="-120"/>
              </a:rPr>
              <a:t>Data flows from the bus (GPS/driver mobile) over the internet to the backend server, which stores records in the database and pushes updates outward to the admin dashboard, student app, and notification system — keeping every layer synchronized in real time.</a:t>
            </a:r>
            <a:endParaRPr lang="en-US" sz="1300" dirty="0"/>
          </a:p>
        </p:txBody>
      </p:sp>
      <p:sp>
        <p:nvSpPr>
          <p:cNvPr id="35" name="Shape 23"/>
          <p:cNvSpPr/>
          <p:nvPr/>
        </p:nvSpPr>
        <p:spPr>
          <a:xfrm>
            <a:off x="685800" y="5440680"/>
            <a:ext cx="146304" cy="146304"/>
          </a:xfrm>
          <a:prstGeom prst="ellipse">
            <a:avLst/>
          </a:prstGeom>
          <a:solidFill>
            <a:srgbClr val="00E5C7"/>
          </a:solidFill>
          <a:ln/>
        </p:spPr>
      </p:sp>
      <p:sp>
        <p:nvSpPr>
          <p:cNvPr id="36" name="Text 24"/>
          <p:cNvSpPr/>
          <p:nvPr/>
        </p:nvSpPr>
        <p:spPr>
          <a:xfrm>
            <a:off x="923544" y="5376672"/>
            <a:ext cx="23774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GPS / Driver Mobile</a:t>
            </a:r>
            <a:endParaRPr lang="en-US" sz="1050" dirty="0"/>
          </a:p>
        </p:txBody>
      </p:sp>
      <p:sp>
        <p:nvSpPr>
          <p:cNvPr id="37" name="Shape 25"/>
          <p:cNvSpPr/>
          <p:nvPr/>
        </p:nvSpPr>
        <p:spPr>
          <a:xfrm>
            <a:off x="3429000" y="5440680"/>
            <a:ext cx="146304" cy="146304"/>
          </a:xfrm>
          <a:prstGeom prst="ellipse">
            <a:avLst/>
          </a:prstGeom>
          <a:solidFill>
            <a:srgbClr val="34D399"/>
          </a:solidFill>
          <a:ln/>
        </p:spPr>
      </p:sp>
      <p:sp>
        <p:nvSpPr>
          <p:cNvPr id="38" name="Text 26"/>
          <p:cNvSpPr/>
          <p:nvPr/>
        </p:nvSpPr>
        <p:spPr>
          <a:xfrm>
            <a:off x="3666744" y="5376672"/>
            <a:ext cx="23774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Internet</a:t>
            </a:r>
            <a:endParaRPr lang="en-US" sz="1050" dirty="0"/>
          </a:p>
        </p:txBody>
      </p:sp>
      <p:sp>
        <p:nvSpPr>
          <p:cNvPr id="39" name="Shape 27"/>
          <p:cNvSpPr/>
          <p:nvPr/>
        </p:nvSpPr>
        <p:spPr>
          <a:xfrm>
            <a:off x="6172200" y="5440680"/>
            <a:ext cx="146304" cy="146304"/>
          </a:xfrm>
          <a:prstGeom prst="ellipse">
            <a:avLst/>
          </a:prstGeom>
          <a:solidFill>
            <a:srgbClr val="00E5C7"/>
          </a:solidFill>
          <a:ln/>
        </p:spPr>
      </p:sp>
      <p:sp>
        <p:nvSpPr>
          <p:cNvPr id="40" name="Text 28"/>
          <p:cNvSpPr/>
          <p:nvPr/>
        </p:nvSpPr>
        <p:spPr>
          <a:xfrm>
            <a:off x="6409944" y="5376672"/>
            <a:ext cx="23774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Core System</a:t>
            </a:r>
            <a:endParaRPr lang="en-US" sz="1050" dirty="0"/>
          </a:p>
        </p:txBody>
      </p:sp>
      <p:sp>
        <p:nvSpPr>
          <p:cNvPr id="41" name="Shape 29"/>
          <p:cNvSpPr/>
          <p:nvPr/>
        </p:nvSpPr>
        <p:spPr>
          <a:xfrm>
            <a:off x="8915400" y="5440680"/>
            <a:ext cx="146304" cy="146304"/>
          </a:xfrm>
          <a:prstGeom prst="ellipse">
            <a:avLst/>
          </a:prstGeom>
          <a:solidFill>
            <a:srgbClr val="34D399"/>
          </a:solidFill>
          <a:ln/>
        </p:spPr>
      </p:sp>
      <p:sp>
        <p:nvSpPr>
          <p:cNvPr id="42" name="Text 30"/>
          <p:cNvSpPr/>
          <p:nvPr/>
        </p:nvSpPr>
        <p:spPr>
          <a:xfrm>
            <a:off x="9153144" y="5376672"/>
            <a:ext cx="237744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Output Layer</a:t>
            </a:r>
            <a:endParaRPr lang="en-US" sz="1050" dirty="0"/>
          </a:p>
        </p:txBody>
      </p:sp>
      <p:sp>
        <p:nvSpPr>
          <p:cNvPr id="43" name="Text 31"/>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CAPABILITIES</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Features</a:t>
            </a:r>
            <a:endParaRPr lang="en-US" sz="3000" dirty="0"/>
          </a:p>
        </p:txBody>
      </p:sp>
      <p:sp>
        <p:nvSpPr>
          <p:cNvPr id="4" name="Shape 2"/>
          <p:cNvSpPr/>
          <p:nvPr/>
        </p:nvSpPr>
        <p:spPr>
          <a:xfrm>
            <a:off x="681228" y="1691640"/>
            <a:ext cx="3429000" cy="1325880"/>
          </a:xfrm>
          <a:prstGeom prst="roundRect">
            <a:avLst>
              <a:gd name="adj" fmla="val 6897"/>
            </a:avLst>
          </a:prstGeom>
          <a:solidFill>
            <a:srgbClr val="0F1B3D"/>
          </a:solidFill>
          <a:ln w="12700">
            <a:solidFill>
              <a:srgbClr val="223261"/>
            </a:solidFill>
            <a:prstDash val="solid"/>
          </a:ln>
        </p:spPr>
      </p:sp>
      <p:sp>
        <p:nvSpPr>
          <p:cNvPr id="5" name="Shape 3"/>
          <p:cNvSpPr/>
          <p:nvPr/>
        </p:nvSpPr>
        <p:spPr>
          <a:xfrm>
            <a:off x="909828" y="2080260"/>
            <a:ext cx="548640" cy="548640"/>
          </a:xfrm>
          <a:prstGeom prst="ellipse">
            <a:avLst/>
          </a:prstGeom>
          <a:solidFill>
            <a:srgbClr val="00E5C7"/>
          </a:solidFill>
          <a:ln/>
        </p:spPr>
      </p:sp>
      <p:pic>
        <p:nvPicPr>
          <p:cNvPr id="6" name="Image 0" descr="/home/claude/bustrack/icons/crosshair_c.png"/>
          <p:cNvPicPr>
            <a:picLocks noChangeAspect="1"/>
          </p:cNvPicPr>
          <p:nvPr/>
        </p:nvPicPr>
        <p:blipFill>
          <a:blip r:embed="rId3"/>
          <a:stretch>
            <a:fillRect/>
          </a:stretch>
        </p:blipFill>
        <p:spPr>
          <a:xfrm>
            <a:off x="1046988" y="2217420"/>
            <a:ext cx="274320" cy="274320"/>
          </a:xfrm>
          <a:prstGeom prst="rect">
            <a:avLst/>
          </a:prstGeom>
        </p:spPr>
      </p:pic>
      <p:sp>
        <p:nvSpPr>
          <p:cNvPr id="7" name="Text 4"/>
          <p:cNvSpPr/>
          <p:nvPr/>
        </p:nvSpPr>
        <p:spPr>
          <a:xfrm>
            <a:off x="1595628" y="1691640"/>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Live GPS Tracking</a:t>
            </a:r>
            <a:endParaRPr lang="en-US" sz="1400" dirty="0"/>
          </a:p>
        </p:txBody>
      </p:sp>
      <p:sp>
        <p:nvSpPr>
          <p:cNvPr id="8" name="Shape 5"/>
          <p:cNvSpPr/>
          <p:nvPr/>
        </p:nvSpPr>
        <p:spPr>
          <a:xfrm>
            <a:off x="4366260" y="1691640"/>
            <a:ext cx="3429000" cy="1325880"/>
          </a:xfrm>
          <a:prstGeom prst="roundRect">
            <a:avLst>
              <a:gd name="adj" fmla="val 6897"/>
            </a:avLst>
          </a:prstGeom>
          <a:solidFill>
            <a:srgbClr val="0F1B3D"/>
          </a:solidFill>
          <a:ln w="12700">
            <a:solidFill>
              <a:srgbClr val="223261"/>
            </a:solidFill>
            <a:prstDash val="solid"/>
          </a:ln>
        </p:spPr>
      </p:sp>
      <p:sp>
        <p:nvSpPr>
          <p:cNvPr id="9" name="Shape 6"/>
          <p:cNvSpPr/>
          <p:nvPr/>
        </p:nvSpPr>
        <p:spPr>
          <a:xfrm>
            <a:off x="4594860" y="2080260"/>
            <a:ext cx="548640" cy="548640"/>
          </a:xfrm>
          <a:prstGeom prst="ellipse">
            <a:avLst/>
          </a:prstGeom>
          <a:solidFill>
            <a:srgbClr val="34D399"/>
          </a:solidFill>
          <a:ln/>
        </p:spPr>
      </p:sp>
      <p:pic>
        <p:nvPicPr>
          <p:cNvPr id="10" name="Image 1" descr="/home/claude/bustrack/icons/clock_w.png"/>
          <p:cNvPicPr>
            <a:picLocks noChangeAspect="1"/>
          </p:cNvPicPr>
          <p:nvPr/>
        </p:nvPicPr>
        <p:blipFill>
          <a:blip r:embed="rId4"/>
          <a:stretch>
            <a:fillRect/>
          </a:stretch>
        </p:blipFill>
        <p:spPr>
          <a:xfrm>
            <a:off x="4732020" y="2217420"/>
            <a:ext cx="274320" cy="274320"/>
          </a:xfrm>
          <a:prstGeom prst="rect">
            <a:avLst/>
          </a:prstGeom>
        </p:spPr>
      </p:pic>
      <p:sp>
        <p:nvSpPr>
          <p:cNvPr id="11" name="Text 7"/>
          <p:cNvSpPr/>
          <p:nvPr/>
        </p:nvSpPr>
        <p:spPr>
          <a:xfrm>
            <a:off x="5280660" y="1691640"/>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Real-Time ETA</a:t>
            </a:r>
            <a:endParaRPr lang="en-US" sz="1400" dirty="0"/>
          </a:p>
        </p:txBody>
      </p:sp>
      <p:sp>
        <p:nvSpPr>
          <p:cNvPr id="12" name="Shape 8"/>
          <p:cNvSpPr/>
          <p:nvPr/>
        </p:nvSpPr>
        <p:spPr>
          <a:xfrm>
            <a:off x="8051292" y="1691640"/>
            <a:ext cx="3429000" cy="1325880"/>
          </a:xfrm>
          <a:prstGeom prst="roundRect">
            <a:avLst>
              <a:gd name="adj" fmla="val 6897"/>
            </a:avLst>
          </a:prstGeom>
          <a:solidFill>
            <a:srgbClr val="0F1B3D"/>
          </a:solidFill>
          <a:ln w="12700">
            <a:solidFill>
              <a:srgbClr val="223261"/>
            </a:solidFill>
            <a:prstDash val="solid"/>
          </a:ln>
        </p:spPr>
      </p:sp>
      <p:sp>
        <p:nvSpPr>
          <p:cNvPr id="13" name="Shape 9"/>
          <p:cNvSpPr/>
          <p:nvPr/>
        </p:nvSpPr>
        <p:spPr>
          <a:xfrm>
            <a:off x="8279892" y="2080260"/>
            <a:ext cx="548640" cy="548640"/>
          </a:xfrm>
          <a:prstGeom prst="ellipse">
            <a:avLst/>
          </a:prstGeom>
          <a:solidFill>
            <a:srgbClr val="00E5C7"/>
          </a:solidFill>
          <a:ln/>
        </p:spPr>
      </p:sp>
      <p:pic>
        <p:nvPicPr>
          <p:cNvPr id="14" name="Image 2" descr="/home/claude/bustrack/icons/route_w.png"/>
          <p:cNvPicPr>
            <a:picLocks noChangeAspect="1"/>
          </p:cNvPicPr>
          <p:nvPr/>
        </p:nvPicPr>
        <p:blipFill>
          <a:blip r:embed="rId5"/>
          <a:stretch>
            <a:fillRect/>
          </a:stretch>
        </p:blipFill>
        <p:spPr>
          <a:xfrm>
            <a:off x="8417052" y="2217420"/>
            <a:ext cx="274320" cy="274320"/>
          </a:xfrm>
          <a:prstGeom prst="rect">
            <a:avLst/>
          </a:prstGeom>
        </p:spPr>
      </p:pic>
      <p:sp>
        <p:nvSpPr>
          <p:cNvPr id="15" name="Text 10"/>
          <p:cNvSpPr/>
          <p:nvPr/>
        </p:nvSpPr>
        <p:spPr>
          <a:xfrm>
            <a:off x="8965692" y="1691640"/>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Route &amp; Stop Info</a:t>
            </a:r>
            <a:endParaRPr lang="en-US" sz="1400" dirty="0"/>
          </a:p>
        </p:txBody>
      </p:sp>
      <p:sp>
        <p:nvSpPr>
          <p:cNvPr id="16" name="Shape 11"/>
          <p:cNvSpPr/>
          <p:nvPr/>
        </p:nvSpPr>
        <p:spPr>
          <a:xfrm>
            <a:off x="681228" y="3218688"/>
            <a:ext cx="3429000" cy="1325880"/>
          </a:xfrm>
          <a:prstGeom prst="roundRect">
            <a:avLst>
              <a:gd name="adj" fmla="val 6897"/>
            </a:avLst>
          </a:prstGeom>
          <a:solidFill>
            <a:srgbClr val="0F1B3D"/>
          </a:solidFill>
          <a:ln w="12700">
            <a:solidFill>
              <a:srgbClr val="223261"/>
            </a:solidFill>
            <a:prstDash val="solid"/>
          </a:ln>
        </p:spPr>
      </p:sp>
      <p:sp>
        <p:nvSpPr>
          <p:cNvPr id="17" name="Shape 12"/>
          <p:cNvSpPr/>
          <p:nvPr/>
        </p:nvSpPr>
        <p:spPr>
          <a:xfrm>
            <a:off x="909828" y="3607308"/>
            <a:ext cx="548640" cy="548640"/>
          </a:xfrm>
          <a:prstGeom prst="ellipse">
            <a:avLst/>
          </a:prstGeom>
          <a:solidFill>
            <a:srgbClr val="34D399"/>
          </a:solidFill>
          <a:ln/>
        </p:spPr>
      </p:sp>
      <p:pic>
        <p:nvPicPr>
          <p:cNvPr id="18" name="Image 3" descr="/home/claude/bustrack/icons/list_w.png"/>
          <p:cNvPicPr>
            <a:picLocks noChangeAspect="1"/>
          </p:cNvPicPr>
          <p:nvPr/>
        </p:nvPicPr>
        <p:blipFill>
          <a:blip r:embed="rId6"/>
          <a:stretch>
            <a:fillRect/>
          </a:stretch>
        </p:blipFill>
        <p:spPr>
          <a:xfrm>
            <a:off x="1046988" y="3744468"/>
            <a:ext cx="274320" cy="274320"/>
          </a:xfrm>
          <a:prstGeom prst="rect">
            <a:avLst/>
          </a:prstGeom>
        </p:spPr>
      </p:pic>
      <p:sp>
        <p:nvSpPr>
          <p:cNvPr id="19" name="Text 13"/>
          <p:cNvSpPr/>
          <p:nvPr/>
        </p:nvSpPr>
        <p:spPr>
          <a:xfrm>
            <a:off x="1595628" y="3218688"/>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Bus Schedule</a:t>
            </a:r>
            <a:endParaRPr lang="en-US" sz="1400" dirty="0"/>
          </a:p>
        </p:txBody>
      </p:sp>
      <p:sp>
        <p:nvSpPr>
          <p:cNvPr id="20" name="Shape 14"/>
          <p:cNvSpPr/>
          <p:nvPr/>
        </p:nvSpPr>
        <p:spPr>
          <a:xfrm>
            <a:off x="4366260" y="3218688"/>
            <a:ext cx="3429000" cy="1325880"/>
          </a:xfrm>
          <a:prstGeom prst="roundRect">
            <a:avLst>
              <a:gd name="adj" fmla="val 6897"/>
            </a:avLst>
          </a:prstGeom>
          <a:solidFill>
            <a:srgbClr val="0F1B3D"/>
          </a:solidFill>
          <a:ln w="12700">
            <a:solidFill>
              <a:srgbClr val="223261"/>
            </a:solidFill>
            <a:prstDash val="solid"/>
          </a:ln>
        </p:spPr>
      </p:sp>
      <p:sp>
        <p:nvSpPr>
          <p:cNvPr id="21" name="Shape 15"/>
          <p:cNvSpPr/>
          <p:nvPr/>
        </p:nvSpPr>
        <p:spPr>
          <a:xfrm>
            <a:off x="4594860" y="3607308"/>
            <a:ext cx="548640" cy="548640"/>
          </a:xfrm>
          <a:prstGeom prst="ellipse">
            <a:avLst/>
          </a:prstGeom>
          <a:solidFill>
            <a:srgbClr val="00E5C7"/>
          </a:solidFill>
          <a:ln/>
        </p:spPr>
      </p:sp>
      <p:pic>
        <p:nvPicPr>
          <p:cNvPr id="22" name="Image 4" descr="/home/claude/bustrack/icons/bell_w.png"/>
          <p:cNvPicPr>
            <a:picLocks noChangeAspect="1"/>
          </p:cNvPicPr>
          <p:nvPr/>
        </p:nvPicPr>
        <p:blipFill>
          <a:blip r:embed="rId7"/>
          <a:stretch>
            <a:fillRect/>
          </a:stretch>
        </p:blipFill>
        <p:spPr>
          <a:xfrm>
            <a:off x="4732020" y="3744468"/>
            <a:ext cx="274320" cy="274320"/>
          </a:xfrm>
          <a:prstGeom prst="rect">
            <a:avLst/>
          </a:prstGeom>
        </p:spPr>
      </p:pic>
      <p:sp>
        <p:nvSpPr>
          <p:cNvPr id="23" name="Text 16"/>
          <p:cNvSpPr/>
          <p:nvPr/>
        </p:nvSpPr>
        <p:spPr>
          <a:xfrm>
            <a:off x="5280660" y="3218688"/>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Push Notifications</a:t>
            </a:r>
            <a:endParaRPr lang="en-US" sz="1400" dirty="0"/>
          </a:p>
        </p:txBody>
      </p:sp>
      <p:sp>
        <p:nvSpPr>
          <p:cNvPr id="24" name="Shape 17"/>
          <p:cNvSpPr/>
          <p:nvPr/>
        </p:nvSpPr>
        <p:spPr>
          <a:xfrm>
            <a:off x="8051292" y="3218688"/>
            <a:ext cx="3429000" cy="1325880"/>
          </a:xfrm>
          <a:prstGeom prst="roundRect">
            <a:avLst>
              <a:gd name="adj" fmla="val 6897"/>
            </a:avLst>
          </a:prstGeom>
          <a:solidFill>
            <a:srgbClr val="0F1B3D"/>
          </a:solidFill>
          <a:ln w="12700">
            <a:solidFill>
              <a:srgbClr val="223261"/>
            </a:solidFill>
            <a:prstDash val="solid"/>
          </a:ln>
        </p:spPr>
      </p:sp>
      <p:sp>
        <p:nvSpPr>
          <p:cNvPr id="25" name="Shape 18"/>
          <p:cNvSpPr/>
          <p:nvPr/>
        </p:nvSpPr>
        <p:spPr>
          <a:xfrm>
            <a:off x="8279892" y="3607308"/>
            <a:ext cx="548640" cy="548640"/>
          </a:xfrm>
          <a:prstGeom prst="ellipse">
            <a:avLst/>
          </a:prstGeom>
          <a:solidFill>
            <a:srgbClr val="34D399"/>
          </a:solidFill>
          <a:ln/>
        </p:spPr>
      </p:sp>
      <p:pic>
        <p:nvPicPr>
          <p:cNvPr id="26" name="Image 5" descr="/home/claude/bustrack/icons/driver_w.png"/>
          <p:cNvPicPr>
            <a:picLocks noChangeAspect="1"/>
          </p:cNvPicPr>
          <p:nvPr/>
        </p:nvPicPr>
        <p:blipFill>
          <a:blip r:embed="rId8"/>
          <a:stretch>
            <a:fillRect/>
          </a:stretch>
        </p:blipFill>
        <p:spPr>
          <a:xfrm>
            <a:off x="8417052" y="3744468"/>
            <a:ext cx="274320" cy="274320"/>
          </a:xfrm>
          <a:prstGeom prst="rect">
            <a:avLst/>
          </a:prstGeom>
        </p:spPr>
      </p:pic>
      <p:sp>
        <p:nvSpPr>
          <p:cNvPr id="27" name="Text 19"/>
          <p:cNvSpPr/>
          <p:nvPr/>
        </p:nvSpPr>
        <p:spPr>
          <a:xfrm>
            <a:off x="8965692" y="3218688"/>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Driver Information</a:t>
            </a:r>
            <a:endParaRPr lang="en-US" sz="1400" dirty="0"/>
          </a:p>
        </p:txBody>
      </p:sp>
      <p:sp>
        <p:nvSpPr>
          <p:cNvPr id="28" name="Shape 20"/>
          <p:cNvSpPr/>
          <p:nvPr/>
        </p:nvSpPr>
        <p:spPr>
          <a:xfrm>
            <a:off x="681228" y="4745736"/>
            <a:ext cx="3429000" cy="1325880"/>
          </a:xfrm>
          <a:prstGeom prst="roundRect">
            <a:avLst>
              <a:gd name="adj" fmla="val 6897"/>
            </a:avLst>
          </a:prstGeom>
          <a:solidFill>
            <a:srgbClr val="0F1B3D"/>
          </a:solidFill>
          <a:ln w="12700">
            <a:solidFill>
              <a:srgbClr val="223261"/>
            </a:solidFill>
            <a:prstDash val="solid"/>
          </a:ln>
        </p:spPr>
      </p:sp>
      <p:sp>
        <p:nvSpPr>
          <p:cNvPr id="29" name="Shape 21"/>
          <p:cNvSpPr/>
          <p:nvPr/>
        </p:nvSpPr>
        <p:spPr>
          <a:xfrm>
            <a:off x="909828" y="5134356"/>
            <a:ext cx="548640" cy="548640"/>
          </a:xfrm>
          <a:prstGeom prst="ellipse">
            <a:avLst/>
          </a:prstGeom>
          <a:solidFill>
            <a:srgbClr val="00E5C7"/>
          </a:solidFill>
          <a:ln/>
        </p:spPr>
      </p:sp>
      <p:pic>
        <p:nvPicPr>
          <p:cNvPr id="30" name="Image 6" descr="/home/claude/bustrack/icons/dashboard_w.png"/>
          <p:cNvPicPr>
            <a:picLocks noChangeAspect="1"/>
          </p:cNvPicPr>
          <p:nvPr/>
        </p:nvPicPr>
        <p:blipFill>
          <a:blip r:embed="rId9"/>
          <a:stretch>
            <a:fillRect/>
          </a:stretch>
        </p:blipFill>
        <p:spPr>
          <a:xfrm>
            <a:off x="1046988" y="5271516"/>
            <a:ext cx="274320" cy="274320"/>
          </a:xfrm>
          <a:prstGeom prst="rect">
            <a:avLst/>
          </a:prstGeom>
        </p:spPr>
      </p:pic>
      <p:sp>
        <p:nvSpPr>
          <p:cNvPr id="31" name="Text 22"/>
          <p:cNvSpPr/>
          <p:nvPr/>
        </p:nvSpPr>
        <p:spPr>
          <a:xfrm>
            <a:off x="1595628" y="4745736"/>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Admin Dashboard</a:t>
            </a:r>
            <a:endParaRPr lang="en-US" sz="1400" dirty="0"/>
          </a:p>
        </p:txBody>
      </p:sp>
      <p:sp>
        <p:nvSpPr>
          <p:cNvPr id="32" name="Shape 23"/>
          <p:cNvSpPr/>
          <p:nvPr/>
        </p:nvSpPr>
        <p:spPr>
          <a:xfrm>
            <a:off x="4366260" y="4745736"/>
            <a:ext cx="3429000" cy="1325880"/>
          </a:xfrm>
          <a:prstGeom prst="roundRect">
            <a:avLst>
              <a:gd name="adj" fmla="val 6897"/>
            </a:avLst>
          </a:prstGeom>
          <a:solidFill>
            <a:srgbClr val="0F1B3D"/>
          </a:solidFill>
          <a:ln w="12700">
            <a:solidFill>
              <a:srgbClr val="223261"/>
            </a:solidFill>
            <a:prstDash val="solid"/>
          </a:ln>
        </p:spPr>
      </p:sp>
      <p:sp>
        <p:nvSpPr>
          <p:cNvPr id="33" name="Shape 24"/>
          <p:cNvSpPr/>
          <p:nvPr/>
        </p:nvSpPr>
        <p:spPr>
          <a:xfrm>
            <a:off x="4594860" y="5134356"/>
            <a:ext cx="548640" cy="548640"/>
          </a:xfrm>
          <a:prstGeom prst="ellipse">
            <a:avLst/>
          </a:prstGeom>
          <a:solidFill>
            <a:srgbClr val="34D399"/>
          </a:solidFill>
          <a:ln/>
        </p:spPr>
      </p:sp>
      <p:pic>
        <p:nvPicPr>
          <p:cNvPr id="34" name="Image 7" descr="/home/claude/bustrack/icons/alert_w.png"/>
          <p:cNvPicPr>
            <a:picLocks noChangeAspect="1"/>
          </p:cNvPicPr>
          <p:nvPr/>
        </p:nvPicPr>
        <p:blipFill>
          <a:blip r:embed="rId10"/>
          <a:stretch>
            <a:fillRect/>
          </a:stretch>
        </p:blipFill>
        <p:spPr>
          <a:xfrm>
            <a:off x="4732020" y="5271516"/>
            <a:ext cx="274320" cy="274320"/>
          </a:xfrm>
          <a:prstGeom prst="rect">
            <a:avLst/>
          </a:prstGeom>
        </p:spPr>
      </p:pic>
      <p:sp>
        <p:nvSpPr>
          <p:cNvPr id="35" name="Text 25"/>
          <p:cNvSpPr/>
          <p:nvPr/>
        </p:nvSpPr>
        <p:spPr>
          <a:xfrm>
            <a:off x="5280660" y="4745736"/>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Emergency / SOS Alert</a:t>
            </a:r>
            <a:endParaRPr lang="en-US" sz="1400" dirty="0"/>
          </a:p>
        </p:txBody>
      </p:sp>
      <p:sp>
        <p:nvSpPr>
          <p:cNvPr id="36" name="Shape 26"/>
          <p:cNvSpPr/>
          <p:nvPr/>
        </p:nvSpPr>
        <p:spPr>
          <a:xfrm>
            <a:off x="8051292" y="4745736"/>
            <a:ext cx="3429000" cy="1325880"/>
          </a:xfrm>
          <a:prstGeom prst="roundRect">
            <a:avLst>
              <a:gd name="adj" fmla="val 6897"/>
            </a:avLst>
          </a:prstGeom>
          <a:solidFill>
            <a:srgbClr val="0F1B3D"/>
          </a:solidFill>
          <a:ln w="12700">
            <a:solidFill>
              <a:srgbClr val="223261"/>
            </a:solidFill>
            <a:prstDash val="solid"/>
          </a:ln>
        </p:spPr>
      </p:sp>
      <p:sp>
        <p:nvSpPr>
          <p:cNvPr id="37" name="Shape 27"/>
          <p:cNvSpPr/>
          <p:nvPr/>
        </p:nvSpPr>
        <p:spPr>
          <a:xfrm>
            <a:off x="8279892" y="5134356"/>
            <a:ext cx="548640" cy="548640"/>
          </a:xfrm>
          <a:prstGeom prst="ellipse">
            <a:avLst/>
          </a:prstGeom>
          <a:solidFill>
            <a:srgbClr val="00E5C7"/>
          </a:solidFill>
          <a:ln/>
        </p:spPr>
      </p:sp>
      <p:pic>
        <p:nvPicPr>
          <p:cNvPr id="38" name="Image 8" descr="/home/claude/bustrack/icons/users_w.png"/>
          <p:cNvPicPr>
            <a:picLocks noChangeAspect="1"/>
          </p:cNvPicPr>
          <p:nvPr/>
        </p:nvPicPr>
        <p:blipFill>
          <a:blip r:embed="rId11"/>
          <a:stretch>
            <a:fillRect/>
          </a:stretch>
        </p:blipFill>
        <p:spPr>
          <a:xfrm>
            <a:off x="8417052" y="5271516"/>
            <a:ext cx="274320" cy="274320"/>
          </a:xfrm>
          <a:prstGeom prst="rect">
            <a:avLst/>
          </a:prstGeom>
        </p:spPr>
      </p:pic>
      <p:sp>
        <p:nvSpPr>
          <p:cNvPr id="39" name="Text 28"/>
          <p:cNvSpPr/>
          <p:nvPr/>
        </p:nvSpPr>
        <p:spPr>
          <a:xfrm>
            <a:off x="8965692" y="4745736"/>
            <a:ext cx="2331720" cy="13258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Multi-Bus Monitoring</a:t>
            </a:r>
            <a:endParaRPr lang="en-US" sz="1400" dirty="0"/>
          </a:p>
        </p:txBody>
      </p:sp>
      <p:sp>
        <p:nvSpPr>
          <p:cNvPr id="40" name="Text 29"/>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USER EXPERIENCE</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Student Mobile App</a:t>
            </a:r>
            <a:endParaRPr lang="en-US" sz="3000" dirty="0"/>
          </a:p>
        </p:txBody>
      </p:sp>
      <p:sp>
        <p:nvSpPr>
          <p:cNvPr id="4" name="Text 2"/>
          <p:cNvSpPr/>
          <p:nvPr/>
        </p:nvSpPr>
        <p:spPr>
          <a:xfrm>
            <a:off x="640080" y="1417320"/>
            <a:ext cx="5852160" cy="457200"/>
          </a:xfrm>
          <a:prstGeom prst="rect">
            <a:avLst/>
          </a:prstGeom>
          <a:noFill/>
          <a:ln/>
        </p:spPr>
        <p:txBody>
          <a:bodyPr wrap="square" rtlCol="0" anchor="ctr"/>
          <a:lstStyle/>
          <a:p>
            <a:pPr marL="0" indent="0">
              <a:lnSpc>
                <a:spcPct val="120000"/>
              </a:lnSpc>
              <a:buNone/>
            </a:pPr>
            <a:r>
              <a:rPr lang="en-US" sz="1350" dirty="0">
                <a:solidFill>
                  <a:srgbClr val="9CA6C7"/>
                </a:solidFill>
                <a:latin typeface="Calibri" pitchFamily="34" charset="0"/>
                <a:ea typeface="Calibri" pitchFamily="34" charset="-122"/>
                <a:cs typeface="Calibri" pitchFamily="34" charset="-120"/>
              </a:rPr>
              <a:t>A simple, map-first app that tells students exactly where their bus is.</a:t>
            </a:r>
            <a:endParaRPr lang="en-US" sz="1350" dirty="0"/>
          </a:p>
        </p:txBody>
      </p:sp>
      <p:sp>
        <p:nvSpPr>
          <p:cNvPr id="5" name="Shape 3"/>
          <p:cNvSpPr/>
          <p:nvPr/>
        </p:nvSpPr>
        <p:spPr>
          <a:xfrm>
            <a:off x="640080" y="2331720"/>
            <a:ext cx="502920" cy="502920"/>
          </a:xfrm>
          <a:prstGeom prst="ellipse">
            <a:avLst/>
          </a:prstGeom>
          <a:solidFill>
            <a:srgbClr val="132353"/>
          </a:solidFill>
          <a:ln w="15875">
            <a:solidFill>
              <a:srgbClr val="00E5C7"/>
            </a:solidFill>
            <a:prstDash val="solid"/>
          </a:ln>
        </p:spPr>
      </p:sp>
      <p:pic>
        <p:nvPicPr>
          <p:cNvPr id="6" name="Image 0" descr="/home/claude/bustrack/icons/maplocation_w.png"/>
          <p:cNvPicPr>
            <a:picLocks noChangeAspect="1"/>
          </p:cNvPicPr>
          <p:nvPr/>
        </p:nvPicPr>
        <p:blipFill>
          <a:blip r:embed="rId3"/>
          <a:stretch>
            <a:fillRect/>
          </a:stretch>
        </p:blipFill>
        <p:spPr>
          <a:xfrm>
            <a:off x="753237" y="2444877"/>
            <a:ext cx="276606" cy="276606"/>
          </a:xfrm>
          <a:prstGeom prst="rect">
            <a:avLst/>
          </a:prstGeom>
        </p:spPr>
      </p:pic>
      <p:sp>
        <p:nvSpPr>
          <p:cNvPr id="7" name="Text 4"/>
          <p:cNvSpPr/>
          <p:nvPr/>
        </p:nvSpPr>
        <p:spPr>
          <a:xfrm>
            <a:off x="1280160" y="2313432"/>
            <a:ext cx="5120640" cy="29260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Live Map View</a:t>
            </a:r>
            <a:endParaRPr lang="en-US" sz="1400" dirty="0"/>
          </a:p>
        </p:txBody>
      </p:sp>
      <p:sp>
        <p:nvSpPr>
          <p:cNvPr id="8" name="Text 5"/>
          <p:cNvSpPr/>
          <p:nvPr/>
        </p:nvSpPr>
        <p:spPr>
          <a:xfrm>
            <a:off x="1280160" y="2606040"/>
            <a:ext cx="5212080" cy="502920"/>
          </a:xfrm>
          <a:prstGeom prst="rect">
            <a:avLst/>
          </a:prstGeom>
          <a:noFill/>
          <a:ln/>
        </p:spPr>
        <p:txBody>
          <a:bodyPr wrap="square" rtlCol="0" anchor="ctr"/>
          <a:lstStyle/>
          <a:p>
            <a:pPr marL="0" indent="0">
              <a:lnSpc>
                <a:spcPct val="115000"/>
              </a:lnSpc>
              <a:buNone/>
            </a:pPr>
            <a:r>
              <a:rPr lang="en-US" sz="1100" dirty="0">
                <a:solidFill>
                  <a:srgbClr val="9CA6C7"/>
                </a:solidFill>
                <a:latin typeface="Calibri" pitchFamily="34" charset="0"/>
                <a:ea typeface="Calibri" pitchFamily="34" charset="-122"/>
                <a:cs typeface="Calibri" pitchFamily="34" charset="-120"/>
              </a:rPr>
              <a:t>Track the exact bus location as it moves along the route.</a:t>
            </a:r>
            <a:endParaRPr lang="en-US" sz="1100" dirty="0"/>
          </a:p>
        </p:txBody>
      </p:sp>
      <p:sp>
        <p:nvSpPr>
          <p:cNvPr id="9" name="Shape 6"/>
          <p:cNvSpPr/>
          <p:nvPr/>
        </p:nvSpPr>
        <p:spPr>
          <a:xfrm>
            <a:off x="640080" y="3291840"/>
            <a:ext cx="502920" cy="502920"/>
          </a:xfrm>
          <a:prstGeom prst="ellipse">
            <a:avLst/>
          </a:prstGeom>
          <a:solidFill>
            <a:srgbClr val="132353"/>
          </a:solidFill>
          <a:ln w="15875">
            <a:solidFill>
              <a:srgbClr val="00E5C7"/>
            </a:solidFill>
            <a:prstDash val="solid"/>
          </a:ln>
        </p:spPr>
      </p:sp>
      <p:pic>
        <p:nvPicPr>
          <p:cNvPr id="10" name="Image 1" descr="/home/claude/bustrack/icons/clock_w.png"/>
          <p:cNvPicPr>
            <a:picLocks noChangeAspect="1"/>
          </p:cNvPicPr>
          <p:nvPr/>
        </p:nvPicPr>
        <p:blipFill>
          <a:blip r:embed="rId4"/>
          <a:stretch>
            <a:fillRect/>
          </a:stretch>
        </p:blipFill>
        <p:spPr>
          <a:xfrm>
            <a:off x="753237" y="3404997"/>
            <a:ext cx="276606" cy="276606"/>
          </a:xfrm>
          <a:prstGeom prst="rect">
            <a:avLst/>
          </a:prstGeom>
        </p:spPr>
      </p:pic>
      <p:sp>
        <p:nvSpPr>
          <p:cNvPr id="11" name="Text 7"/>
          <p:cNvSpPr/>
          <p:nvPr/>
        </p:nvSpPr>
        <p:spPr>
          <a:xfrm>
            <a:off x="1280160" y="3273552"/>
            <a:ext cx="5120640" cy="29260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Estimated Arrival</a:t>
            </a:r>
            <a:endParaRPr lang="en-US" sz="1400" dirty="0"/>
          </a:p>
        </p:txBody>
      </p:sp>
      <p:sp>
        <p:nvSpPr>
          <p:cNvPr id="12" name="Text 8"/>
          <p:cNvSpPr/>
          <p:nvPr/>
        </p:nvSpPr>
        <p:spPr>
          <a:xfrm>
            <a:off x="1280160" y="3566160"/>
            <a:ext cx="5212080" cy="502920"/>
          </a:xfrm>
          <a:prstGeom prst="rect">
            <a:avLst/>
          </a:prstGeom>
          <a:noFill/>
          <a:ln/>
        </p:spPr>
        <p:txBody>
          <a:bodyPr wrap="square" rtlCol="0" anchor="ctr"/>
          <a:lstStyle/>
          <a:p>
            <a:pPr marL="0" indent="0">
              <a:lnSpc>
                <a:spcPct val="115000"/>
              </a:lnSpc>
              <a:buNone/>
            </a:pPr>
            <a:r>
              <a:rPr lang="en-US" sz="1100" dirty="0">
                <a:solidFill>
                  <a:srgbClr val="9CA6C7"/>
                </a:solidFill>
                <a:latin typeface="Calibri" pitchFamily="34" charset="0"/>
                <a:ea typeface="Calibri" pitchFamily="34" charset="-122"/>
                <a:cs typeface="Calibri" pitchFamily="34" charset="-120"/>
              </a:rPr>
              <a:t>See ETA at your stop before you leave home.</a:t>
            </a:r>
            <a:endParaRPr lang="en-US" sz="1100" dirty="0"/>
          </a:p>
        </p:txBody>
      </p:sp>
      <p:sp>
        <p:nvSpPr>
          <p:cNvPr id="13" name="Shape 9"/>
          <p:cNvSpPr/>
          <p:nvPr/>
        </p:nvSpPr>
        <p:spPr>
          <a:xfrm>
            <a:off x="640080" y="4251960"/>
            <a:ext cx="502920" cy="502920"/>
          </a:xfrm>
          <a:prstGeom prst="ellipse">
            <a:avLst/>
          </a:prstGeom>
          <a:solidFill>
            <a:srgbClr val="132353"/>
          </a:solidFill>
          <a:ln w="15875">
            <a:solidFill>
              <a:srgbClr val="00E5C7"/>
            </a:solidFill>
            <a:prstDash val="solid"/>
          </a:ln>
        </p:spPr>
      </p:sp>
      <p:pic>
        <p:nvPicPr>
          <p:cNvPr id="14" name="Image 2" descr="/home/claude/bustrack/icons/route_w.png"/>
          <p:cNvPicPr>
            <a:picLocks noChangeAspect="1"/>
          </p:cNvPicPr>
          <p:nvPr/>
        </p:nvPicPr>
        <p:blipFill>
          <a:blip r:embed="rId5"/>
          <a:stretch>
            <a:fillRect/>
          </a:stretch>
        </p:blipFill>
        <p:spPr>
          <a:xfrm>
            <a:off x="753237" y="4365117"/>
            <a:ext cx="276606" cy="276606"/>
          </a:xfrm>
          <a:prstGeom prst="rect">
            <a:avLst/>
          </a:prstGeom>
        </p:spPr>
      </p:pic>
      <p:sp>
        <p:nvSpPr>
          <p:cNvPr id="15" name="Text 10"/>
          <p:cNvSpPr/>
          <p:nvPr/>
        </p:nvSpPr>
        <p:spPr>
          <a:xfrm>
            <a:off x="1280160" y="4233672"/>
            <a:ext cx="5120640" cy="29260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Route &amp; Nearby Stops</a:t>
            </a:r>
            <a:endParaRPr lang="en-US" sz="1400" dirty="0"/>
          </a:p>
        </p:txBody>
      </p:sp>
      <p:sp>
        <p:nvSpPr>
          <p:cNvPr id="16" name="Text 11"/>
          <p:cNvSpPr/>
          <p:nvPr/>
        </p:nvSpPr>
        <p:spPr>
          <a:xfrm>
            <a:off x="1280160" y="4526280"/>
            <a:ext cx="5212080" cy="502920"/>
          </a:xfrm>
          <a:prstGeom prst="rect">
            <a:avLst/>
          </a:prstGeom>
          <a:noFill/>
          <a:ln/>
        </p:spPr>
        <p:txBody>
          <a:bodyPr wrap="square" rtlCol="0" anchor="ctr"/>
          <a:lstStyle/>
          <a:p>
            <a:pPr marL="0" indent="0">
              <a:lnSpc>
                <a:spcPct val="115000"/>
              </a:lnSpc>
              <a:buNone/>
            </a:pPr>
            <a:r>
              <a:rPr lang="en-US" sz="1100" dirty="0">
                <a:solidFill>
                  <a:srgbClr val="9CA6C7"/>
                </a:solidFill>
                <a:latin typeface="Calibri" pitchFamily="34" charset="0"/>
                <a:ea typeface="Calibri" pitchFamily="34" charset="-122"/>
                <a:cs typeface="Calibri" pitchFamily="34" charset="-120"/>
              </a:rPr>
              <a:t>View the selected route and nearby stop options.</a:t>
            </a:r>
            <a:endParaRPr lang="en-US" sz="1100" dirty="0"/>
          </a:p>
        </p:txBody>
      </p:sp>
      <p:sp>
        <p:nvSpPr>
          <p:cNvPr id="17" name="Shape 12"/>
          <p:cNvSpPr/>
          <p:nvPr/>
        </p:nvSpPr>
        <p:spPr>
          <a:xfrm>
            <a:off x="640080" y="5212080"/>
            <a:ext cx="502920" cy="502920"/>
          </a:xfrm>
          <a:prstGeom prst="ellipse">
            <a:avLst/>
          </a:prstGeom>
          <a:solidFill>
            <a:srgbClr val="132353"/>
          </a:solidFill>
          <a:ln w="15875">
            <a:solidFill>
              <a:srgbClr val="00E5C7"/>
            </a:solidFill>
            <a:prstDash val="solid"/>
          </a:ln>
        </p:spPr>
      </p:sp>
      <p:pic>
        <p:nvPicPr>
          <p:cNvPr id="18" name="Image 3" descr="/home/claude/bustrack/icons/bell_w.png"/>
          <p:cNvPicPr>
            <a:picLocks noChangeAspect="1"/>
          </p:cNvPicPr>
          <p:nvPr/>
        </p:nvPicPr>
        <p:blipFill>
          <a:blip r:embed="rId6"/>
          <a:stretch>
            <a:fillRect/>
          </a:stretch>
        </p:blipFill>
        <p:spPr>
          <a:xfrm>
            <a:off x="753237" y="5325237"/>
            <a:ext cx="276606" cy="276606"/>
          </a:xfrm>
          <a:prstGeom prst="rect">
            <a:avLst/>
          </a:prstGeom>
        </p:spPr>
      </p:pic>
      <p:sp>
        <p:nvSpPr>
          <p:cNvPr id="19" name="Text 13"/>
          <p:cNvSpPr/>
          <p:nvPr/>
        </p:nvSpPr>
        <p:spPr>
          <a:xfrm>
            <a:off x="1280160" y="5193792"/>
            <a:ext cx="5120640" cy="29260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Alerts</a:t>
            </a:r>
            <a:endParaRPr lang="en-US" sz="1400" dirty="0"/>
          </a:p>
        </p:txBody>
      </p:sp>
      <p:sp>
        <p:nvSpPr>
          <p:cNvPr id="20" name="Text 14"/>
          <p:cNvSpPr/>
          <p:nvPr/>
        </p:nvSpPr>
        <p:spPr>
          <a:xfrm>
            <a:off x="1280160" y="5486400"/>
            <a:ext cx="5212080" cy="502920"/>
          </a:xfrm>
          <a:prstGeom prst="rect">
            <a:avLst/>
          </a:prstGeom>
          <a:noFill/>
          <a:ln/>
        </p:spPr>
        <p:txBody>
          <a:bodyPr wrap="square" rtlCol="0" anchor="ctr"/>
          <a:lstStyle/>
          <a:p>
            <a:pPr marL="0" indent="0">
              <a:lnSpc>
                <a:spcPct val="115000"/>
              </a:lnSpc>
              <a:buNone/>
            </a:pPr>
            <a:r>
              <a:rPr lang="en-US" sz="1100" dirty="0">
                <a:solidFill>
                  <a:srgbClr val="9CA6C7"/>
                </a:solidFill>
                <a:latin typeface="Calibri" pitchFamily="34" charset="0"/>
                <a:ea typeface="Calibri" pitchFamily="34" charset="-122"/>
                <a:cs typeface="Calibri" pitchFamily="34" charset="-120"/>
              </a:rPr>
              <a:t>Get notified of delays, route changes, or emergencies.</a:t>
            </a:r>
            <a:endParaRPr lang="en-US" sz="1100" dirty="0"/>
          </a:p>
        </p:txBody>
      </p:sp>
      <p:sp>
        <p:nvSpPr>
          <p:cNvPr id="21" name="Shape 15"/>
          <p:cNvSpPr/>
          <p:nvPr/>
        </p:nvSpPr>
        <p:spPr>
          <a:xfrm>
            <a:off x="7818120" y="1005840"/>
            <a:ext cx="2834640" cy="5349240"/>
          </a:xfrm>
          <a:prstGeom prst="roundRect">
            <a:avLst>
              <a:gd name="adj" fmla="val 9032"/>
            </a:avLst>
          </a:prstGeom>
          <a:solidFill>
            <a:srgbClr val="060B1C"/>
          </a:solidFill>
          <a:ln w="25400">
            <a:solidFill>
              <a:srgbClr val="223261"/>
            </a:solidFill>
            <a:prstDash val="solid"/>
          </a:ln>
        </p:spPr>
      </p:sp>
      <p:sp>
        <p:nvSpPr>
          <p:cNvPr id="22" name="Shape 16"/>
          <p:cNvSpPr/>
          <p:nvPr/>
        </p:nvSpPr>
        <p:spPr>
          <a:xfrm>
            <a:off x="7955280" y="1325880"/>
            <a:ext cx="2560320" cy="4389120"/>
          </a:xfrm>
          <a:prstGeom prst="roundRect">
            <a:avLst>
              <a:gd name="adj" fmla="val 3571"/>
            </a:avLst>
          </a:prstGeom>
          <a:solidFill>
            <a:srgbClr val="0F1B3D"/>
          </a:solidFill>
          <a:ln/>
        </p:spPr>
      </p:sp>
      <p:sp>
        <p:nvSpPr>
          <p:cNvPr id="23" name="Text 17"/>
          <p:cNvSpPr/>
          <p:nvPr/>
        </p:nvSpPr>
        <p:spPr>
          <a:xfrm>
            <a:off x="8092440" y="1435608"/>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Bus 12 · Route A</a:t>
            </a:r>
            <a:endParaRPr lang="en-US" sz="1100" dirty="0"/>
          </a:p>
        </p:txBody>
      </p:sp>
      <p:sp>
        <p:nvSpPr>
          <p:cNvPr id="24" name="Shape 18"/>
          <p:cNvSpPr/>
          <p:nvPr/>
        </p:nvSpPr>
        <p:spPr>
          <a:xfrm>
            <a:off x="10058400" y="1399032"/>
            <a:ext cx="320040" cy="320040"/>
          </a:xfrm>
          <a:prstGeom prst="ellipse">
            <a:avLst/>
          </a:prstGeom>
          <a:solidFill>
            <a:srgbClr val="132353"/>
          </a:solidFill>
          <a:ln/>
        </p:spPr>
      </p:sp>
      <p:pic>
        <p:nvPicPr>
          <p:cNvPr id="25" name="Image 4" descr="/home/claude/bustrack/icons/bell_w.png"/>
          <p:cNvPicPr>
            <a:picLocks noChangeAspect="1"/>
          </p:cNvPicPr>
          <p:nvPr/>
        </p:nvPicPr>
        <p:blipFill>
          <a:blip r:embed="rId6"/>
          <a:stretch>
            <a:fillRect/>
          </a:stretch>
        </p:blipFill>
        <p:spPr>
          <a:xfrm>
            <a:off x="10130409" y="1471041"/>
            <a:ext cx="176022" cy="176022"/>
          </a:xfrm>
          <a:prstGeom prst="rect">
            <a:avLst/>
          </a:prstGeom>
        </p:spPr>
      </p:pic>
      <p:sp>
        <p:nvSpPr>
          <p:cNvPr id="26" name="Shape 19"/>
          <p:cNvSpPr/>
          <p:nvPr/>
        </p:nvSpPr>
        <p:spPr>
          <a:xfrm>
            <a:off x="8065008" y="1828800"/>
            <a:ext cx="2340864" cy="2880360"/>
          </a:xfrm>
          <a:prstGeom prst="roundRect">
            <a:avLst>
              <a:gd name="adj" fmla="val 3125"/>
            </a:avLst>
          </a:prstGeom>
          <a:solidFill>
            <a:srgbClr val="11224A"/>
          </a:solidFill>
          <a:ln/>
        </p:spPr>
      </p:sp>
      <p:sp>
        <p:nvSpPr>
          <p:cNvPr id="27" name="Shape 20"/>
          <p:cNvSpPr/>
          <p:nvPr/>
        </p:nvSpPr>
        <p:spPr>
          <a:xfrm rot="2100000">
            <a:off x="8229600" y="2011680"/>
            <a:ext cx="320040" cy="73152"/>
          </a:xfrm>
          <a:prstGeom prst="roundRect">
            <a:avLst/>
          </a:prstGeom>
          <a:solidFill>
            <a:srgbClr val="1B2E5C"/>
          </a:solidFill>
          <a:ln/>
        </p:spPr>
      </p:sp>
      <p:sp>
        <p:nvSpPr>
          <p:cNvPr id="28" name="Shape 21"/>
          <p:cNvSpPr/>
          <p:nvPr/>
        </p:nvSpPr>
        <p:spPr>
          <a:xfrm rot="2100000">
            <a:off x="8686800" y="2834640"/>
            <a:ext cx="320040" cy="73152"/>
          </a:xfrm>
          <a:prstGeom prst="roundRect">
            <a:avLst/>
          </a:prstGeom>
          <a:solidFill>
            <a:srgbClr val="1B2E5C"/>
          </a:solidFill>
          <a:ln/>
        </p:spPr>
      </p:sp>
      <p:sp>
        <p:nvSpPr>
          <p:cNvPr id="29" name="Shape 22"/>
          <p:cNvSpPr/>
          <p:nvPr/>
        </p:nvSpPr>
        <p:spPr>
          <a:xfrm rot="2100000">
            <a:off x="9144000" y="2011680"/>
            <a:ext cx="320040" cy="73152"/>
          </a:xfrm>
          <a:prstGeom prst="roundRect">
            <a:avLst/>
          </a:prstGeom>
          <a:solidFill>
            <a:srgbClr val="1B2E5C"/>
          </a:solidFill>
          <a:ln/>
        </p:spPr>
      </p:sp>
      <p:sp>
        <p:nvSpPr>
          <p:cNvPr id="30" name="Shape 23"/>
          <p:cNvSpPr/>
          <p:nvPr/>
        </p:nvSpPr>
        <p:spPr>
          <a:xfrm rot="2100000">
            <a:off x="9601200" y="2834640"/>
            <a:ext cx="320040" cy="73152"/>
          </a:xfrm>
          <a:prstGeom prst="roundRect">
            <a:avLst/>
          </a:prstGeom>
          <a:solidFill>
            <a:srgbClr val="1B2E5C"/>
          </a:solidFill>
          <a:ln/>
        </p:spPr>
      </p:sp>
      <p:sp>
        <p:nvSpPr>
          <p:cNvPr id="31" name="Shape 24"/>
          <p:cNvSpPr/>
          <p:nvPr/>
        </p:nvSpPr>
        <p:spPr>
          <a:xfrm>
            <a:off x="8979408" y="3012948"/>
            <a:ext cx="512064" cy="512064"/>
          </a:xfrm>
          <a:prstGeom prst="ellipse">
            <a:avLst/>
          </a:prstGeom>
          <a:solidFill>
            <a:srgbClr val="00E5C7"/>
          </a:solidFill>
          <a:ln/>
        </p:spPr>
      </p:sp>
      <p:pic>
        <p:nvPicPr>
          <p:cNvPr id="32" name="Image 5" descr="/home/claude/bustrack/icons/bus_w.png"/>
          <p:cNvPicPr>
            <a:picLocks noChangeAspect="1"/>
          </p:cNvPicPr>
          <p:nvPr/>
        </p:nvPicPr>
        <p:blipFill>
          <a:blip r:embed="rId7"/>
          <a:stretch>
            <a:fillRect/>
          </a:stretch>
        </p:blipFill>
        <p:spPr>
          <a:xfrm>
            <a:off x="9094622" y="3128162"/>
            <a:ext cx="281635" cy="281635"/>
          </a:xfrm>
          <a:prstGeom prst="rect">
            <a:avLst/>
          </a:prstGeom>
        </p:spPr>
      </p:pic>
      <p:sp>
        <p:nvSpPr>
          <p:cNvPr id="33" name="Shape 25"/>
          <p:cNvSpPr/>
          <p:nvPr/>
        </p:nvSpPr>
        <p:spPr>
          <a:xfrm>
            <a:off x="8275320" y="4206240"/>
            <a:ext cx="292608" cy="292608"/>
          </a:xfrm>
          <a:prstGeom prst="ellipse">
            <a:avLst/>
          </a:prstGeom>
          <a:solidFill>
            <a:srgbClr val="34D399"/>
          </a:solidFill>
          <a:ln/>
        </p:spPr>
      </p:sp>
      <p:pic>
        <p:nvPicPr>
          <p:cNvPr id="34" name="Image 6" descr="/home/claude/bustrack/icons/pin_w.png"/>
          <p:cNvPicPr>
            <a:picLocks noChangeAspect="1"/>
          </p:cNvPicPr>
          <p:nvPr/>
        </p:nvPicPr>
        <p:blipFill>
          <a:blip r:embed="rId8"/>
          <a:stretch>
            <a:fillRect/>
          </a:stretch>
        </p:blipFill>
        <p:spPr>
          <a:xfrm>
            <a:off x="8341157" y="4272077"/>
            <a:ext cx="160934" cy="160934"/>
          </a:xfrm>
          <a:prstGeom prst="rect">
            <a:avLst/>
          </a:prstGeom>
        </p:spPr>
      </p:pic>
      <p:sp>
        <p:nvSpPr>
          <p:cNvPr id="35" name="Shape 26"/>
          <p:cNvSpPr/>
          <p:nvPr/>
        </p:nvSpPr>
        <p:spPr>
          <a:xfrm>
            <a:off x="9921240" y="2057400"/>
            <a:ext cx="292608" cy="292608"/>
          </a:xfrm>
          <a:prstGeom prst="ellipse">
            <a:avLst/>
          </a:prstGeom>
          <a:solidFill>
            <a:srgbClr val="34D399"/>
          </a:solidFill>
          <a:ln/>
        </p:spPr>
      </p:sp>
      <p:pic>
        <p:nvPicPr>
          <p:cNvPr id="36" name="Image 7" descr="/home/claude/bustrack/icons/pin_w.png"/>
          <p:cNvPicPr>
            <a:picLocks noChangeAspect="1"/>
          </p:cNvPicPr>
          <p:nvPr/>
        </p:nvPicPr>
        <p:blipFill>
          <a:blip r:embed="rId8"/>
          <a:stretch>
            <a:fillRect/>
          </a:stretch>
        </p:blipFill>
        <p:spPr>
          <a:xfrm>
            <a:off x="9987077" y="2123237"/>
            <a:ext cx="160934" cy="160934"/>
          </a:xfrm>
          <a:prstGeom prst="rect">
            <a:avLst/>
          </a:prstGeom>
        </p:spPr>
      </p:pic>
      <p:sp>
        <p:nvSpPr>
          <p:cNvPr id="37" name="Shape 27"/>
          <p:cNvSpPr/>
          <p:nvPr/>
        </p:nvSpPr>
        <p:spPr>
          <a:xfrm>
            <a:off x="8065008" y="4818888"/>
            <a:ext cx="2340864" cy="502920"/>
          </a:xfrm>
          <a:prstGeom prst="roundRect">
            <a:avLst>
              <a:gd name="adj" fmla="val 10909"/>
            </a:avLst>
          </a:prstGeom>
          <a:solidFill>
            <a:srgbClr val="132353"/>
          </a:solidFill>
          <a:ln/>
        </p:spPr>
      </p:sp>
      <p:sp>
        <p:nvSpPr>
          <p:cNvPr id="38" name="Text 28"/>
          <p:cNvSpPr/>
          <p:nvPr/>
        </p:nvSpPr>
        <p:spPr>
          <a:xfrm>
            <a:off x="8229600" y="4818888"/>
            <a:ext cx="1371600" cy="502920"/>
          </a:xfrm>
          <a:prstGeom prst="rect">
            <a:avLst/>
          </a:prstGeom>
          <a:noFill/>
          <a:ln/>
        </p:spPr>
        <p:txBody>
          <a:bodyPr wrap="square" rtlCol="0" anchor="ctr"/>
          <a:lstStyle/>
          <a:p>
            <a:pPr marL="0" indent="0">
              <a:buNone/>
            </a:pPr>
            <a:r>
              <a:rPr lang="en-US" sz="1300" b="1" dirty="0">
                <a:solidFill>
                  <a:srgbClr val="00E5C7"/>
                </a:solidFill>
                <a:latin typeface="Cambria" pitchFamily="34" charset="0"/>
                <a:ea typeface="Cambria" pitchFamily="34" charset="-122"/>
                <a:cs typeface="Cambria" pitchFamily="34" charset="-120"/>
              </a:rPr>
              <a:t>ETA: 6 min</a:t>
            </a:r>
            <a:endParaRPr lang="en-US" sz="1300" dirty="0"/>
          </a:p>
        </p:txBody>
      </p:sp>
      <p:sp>
        <p:nvSpPr>
          <p:cNvPr id="39" name="Text 29"/>
          <p:cNvSpPr/>
          <p:nvPr/>
        </p:nvSpPr>
        <p:spPr>
          <a:xfrm>
            <a:off x="8961120" y="4818888"/>
            <a:ext cx="1371600" cy="502920"/>
          </a:xfrm>
          <a:prstGeom prst="rect">
            <a:avLst/>
          </a:prstGeom>
          <a:noFill/>
          <a:ln/>
        </p:spPr>
        <p:txBody>
          <a:bodyPr wrap="square" rtlCol="0" anchor="ctr"/>
          <a:lstStyle/>
          <a:p>
            <a:pPr marL="0" indent="0" algn="r">
              <a:buNone/>
            </a:pPr>
            <a:r>
              <a:rPr lang="en-US" sz="1050" dirty="0">
                <a:solidFill>
                  <a:srgbClr val="9CA6C7"/>
                </a:solidFill>
                <a:latin typeface="Calibri" pitchFamily="34" charset="0"/>
                <a:ea typeface="Calibri" pitchFamily="34" charset="-122"/>
                <a:cs typeface="Calibri" pitchFamily="34" charset="-120"/>
              </a:rPr>
              <a:t>Next: Gate 2</a:t>
            </a:r>
            <a:endParaRPr lang="en-US" sz="1050" dirty="0"/>
          </a:p>
        </p:txBody>
      </p:sp>
      <p:sp>
        <p:nvSpPr>
          <p:cNvPr id="40" name="Shape 30"/>
          <p:cNvSpPr/>
          <p:nvPr/>
        </p:nvSpPr>
        <p:spPr>
          <a:xfrm>
            <a:off x="8869680" y="6153912"/>
            <a:ext cx="731520" cy="54864"/>
          </a:xfrm>
          <a:prstGeom prst="roundRect">
            <a:avLst>
              <a:gd name="adj" fmla="val 50000"/>
            </a:avLst>
          </a:prstGeom>
          <a:solidFill>
            <a:srgbClr val="223261"/>
          </a:solidFill>
          <a:ln/>
        </p:spPr>
      </p:sp>
      <p:sp>
        <p:nvSpPr>
          <p:cNvPr id="41" name="Text 31"/>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MANAGEMENT CONSOLE</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Admin Dashboard</a:t>
            </a:r>
            <a:endParaRPr lang="en-US" sz="3000" dirty="0"/>
          </a:p>
        </p:txBody>
      </p:sp>
      <p:sp>
        <p:nvSpPr>
          <p:cNvPr id="4" name="Text 2"/>
          <p:cNvSpPr/>
          <p:nvPr/>
        </p:nvSpPr>
        <p:spPr>
          <a:xfrm>
            <a:off x="640080" y="1417320"/>
            <a:ext cx="7315200" cy="365760"/>
          </a:xfrm>
          <a:prstGeom prst="rect">
            <a:avLst/>
          </a:prstGeom>
          <a:noFill/>
          <a:ln/>
        </p:spPr>
        <p:txBody>
          <a:bodyPr wrap="square" rtlCol="0" anchor="ctr"/>
          <a:lstStyle/>
          <a:p>
            <a:pPr marL="0" indent="0">
              <a:buNone/>
            </a:pPr>
            <a:r>
              <a:rPr lang="en-US" sz="1350" dirty="0">
                <a:solidFill>
                  <a:srgbClr val="9CA6C7"/>
                </a:solidFill>
                <a:latin typeface="Calibri" pitchFamily="34" charset="0"/>
                <a:ea typeface="Calibri" pitchFamily="34" charset="-122"/>
                <a:cs typeface="Calibri" pitchFamily="34" charset="-120"/>
              </a:rPr>
              <a:t>A single control center for monitoring the entire bus fleet.</a:t>
            </a:r>
            <a:endParaRPr lang="en-US" sz="1350" dirty="0"/>
          </a:p>
        </p:txBody>
      </p:sp>
      <p:sp>
        <p:nvSpPr>
          <p:cNvPr id="5" name="Shape 3"/>
          <p:cNvSpPr/>
          <p:nvPr/>
        </p:nvSpPr>
        <p:spPr>
          <a:xfrm>
            <a:off x="640080" y="1965960"/>
            <a:ext cx="2606040" cy="1097280"/>
          </a:xfrm>
          <a:prstGeom prst="roundRect">
            <a:avLst>
              <a:gd name="adj" fmla="val 8333"/>
            </a:avLst>
          </a:prstGeom>
          <a:solidFill>
            <a:srgbClr val="0F1B3D"/>
          </a:solidFill>
          <a:ln w="12700">
            <a:solidFill>
              <a:srgbClr val="223261"/>
            </a:solidFill>
            <a:prstDash val="solid"/>
          </a:ln>
        </p:spPr>
      </p:sp>
      <p:sp>
        <p:nvSpPr>
          <p:cNvPr id="6" name="Shape 4"/>
          <p:cNvSpPr/>
          <p:nvPr/>
        </p:nvSpPr>
        <p:spPr>
          <a:xfrm>
            <a:off x="804672" y="2240280"/>
            <a:ext cx="502920" cy="502920"/>
          </a:xfrm>
          <a:prstGeom prst="ellipse">
            <a:avLst/>
          </a:prstGeom>
          <a:solidFill>
            <a:srgbClr val="0A1128"/>
          </a:solidFill>
          <a:ln w="15875">
            <a:solidFill>
              <a:srgbClr val="00E5C7"/>
            </a:solidFill>
            <a:prstDash val="solid"/>
          </a:ln>
        </p:spPr>
      </p:sp>
      <p:pic>
        <p:nvPicPr>
          <p:cNvPr id="7" name="Image 0" descr="/home/claude/bustrack/icons/bus_w.png"/>
          <p:cNvPicPr>
            <a:picLocks noChangeAspect="1"/>
          </p:cNvPicPr>
          <p:nvPr/>
        </p:nvPicPr>
        <p:blipFill>
          <a:blip r:embed="rId3"/>
          <a:stretch>
            <a:fillRect/>
          </a:stretch>
        </p:blipFill>
        <p:spPr>
          <a:xfrm>
            <a:off x="930402" y="2366010"/>
            <a:ext cx="251460" cy="251460"/>
          </a:xfrm>
          <a:prstGeom prst="rect">
            <a:avLst/>
          </a:prstGeom>
        </p:spPr>
      </p:pic>
      <p:sp>
        <p:nvSpPr>
          <p:cNvPr id="8" name="Text 5"/>
          <p:cNvSpPr/>
          <p:nvPr/>
        </p:nvSpPr>
        <p:spPr>
          <a:xfrm>
            <a:off x="1417320" y="2075688"/>
            <a:ext cx="16916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24</a:t>
            </a:r>
            <a:endParaRPr lang="en-US" sz="2400" dirty="0"/>
          </a:p>
        </p:txBody>
      </p:sp>
      <p:sp>
        <p:nvSpPr>
          <p:cNvPr id="9" name="Text 6"/>
          <p:cNvSpPr/>
          <p:nvPr/>
        </p:nvSpPr>
        <p:spPr>
          <a:xfrm>
            <a:off x="1417320" y="2587752"/>
            <a:ext cx="1691640" cy="274320"/>
          </a:xfrm>
          <a:prstGeom prst="rect">
            <a:avLst/>
          </a:prstGeom>
          <a:noFill/>
          <a:ln/>
        </p:spPr>
        <p:txBody>
          <a:bodyPr wrap="square" rtlCol="0" anchor="ctr"/>
          <a:lstStyle/>
          <a:p>
            <a:pPr marL="0" indent="0">
              <a:buNone/>
            </a:pPr>
            <a:r>
              <a:rPr lang="en-US" sz="1000" dirty="0">
                <a:solidFill>
                  <a:srgbClr val="9CA6C7"/>
                </a:solidFill>
                <a:latin typeface="Calibri" pitchFamily="34" charset="0"/>
                <a:ea typeface="Calibri" pitchFamily="34" charset="-122"/>
                <a:cs typeface="Calibri" pitchFamily="34" charset="-120"/>
              </a:rPr>
              <a:t>Total Buses</a:t>
            </a:r>
            <a:endParaRPr lang="en-US" sz="1000" dirty="0"/>
          </a:p>
        </p:txBody>
      </p:sp>
      <p:sp>
        <p:nvSpPr>
          <p:cNvPr id="10" name="Shape 7"/>
          <p:cNvSpPr/>
          <p:nvPr/>
        </p:nvSpPr>
        <p:spPr>
          <a:xfrm>
            <a:off x="3429000" y="1965960"/>
            <a:ext cx="2606040" cy="1097280"/>
          </a:xfrm>
          <a:prstGeom prst="roundRect">
            <a:avLst>
              <a:gd name="adj" fmla="val 8333"/>
            </a:avLst>
          </a:prstGeom>
          <a:solidFill>
            <a:srgbClr val="0F1B3D"/>
          </a:solidFill>
          <a:ln w="12700">
            <a:solidFill>
              <a:srgbClr val="223261"/>
            </a:solidFill>
            <a:prstDash val="solid"/>
          </a:ln>
        </p:spPr>
      </p:sp>
      <p:sp>
        <p:nvSpPr>
          <p:cNvPr id="11" name="Shape 8"/>
          <p:cNvSpPr/>
          <p:nvPr/>
        </p:nvSpPr>
        <p:spPr>
          <a:xfrm>
            <a:off x="3593592" y="2240280"/>
            <a:ext cx="502920" cy="502920"/>
          </a:xfrm>
          <a:prstGeom prst="ellipse">
            <a:avLst/>
          </a:prstGeom>
          <a:solidFill>
            <a:srgbClr val="0A1128"/>
          </a:solidFill>
          <a:ln w="15875">
            <a:solidFill>
              <a:srgbClr val="34D399"/>
            </a:solidFill>
            <a:prstDash val="solid"/>
          </a:ln>
        </p:spPr>
      </p:sp>
      <p:pic>
        <p:nvPicPr>
          <p:cNvPr id="12" name="Image 1" descr="/home/claude/bustrack/icons/check_c.png"/>
          <p:cNvPicPr>
            <a:picLocks noChangeAspect="1"/>
          </p:cNvPicPr>
          <p:nvPr/>
        </p:nvPicPr>
        <p:blipFill>
          <a:blip r:embed="rId4"/>
          <a:stretch>
            <a:fillRect/>
          </a:stretch>
        </p:blipFill>
        <p:spPr>
          <a:xfrm>
            <a:off x="3719322" y="2366010"/>
            <a:ext cx="251460" cy="251460"/>
          </a:xfrm>
          <a:prstGeom prst="rect">
            <a:avLst/>
          </a:prstGeom>
        </p:spPr>
      </p:pic>
      <p:sp>
        <p:nvSpPr>
          <p:cNvPr id="13" name="Text 9"/>
          <p:cNvSpPr/>
          <p:nvPr/>
        </p:nvSpPr>
        <p:spPr>
          <a:xfrm>
            <a:off x="4206240" y="2075688"/>
            <a:ext cx="16916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19</a:t>
            </a:r>
            <a:endParaRPr lang="en-US" sz="2400" dirty="0"/>
          </a:p>
        </p:txBody>
      </p:sp>
      <p:sp>
        <p:nvSpPr>
          <p:cNvPr id="14" name="Text 10"/>
          <p:cNvSpPr/>
          <p:nvPr/>
        </p:nvSpPr>
        <p:spPr>
          <a:xfrm>
            <a:off x="4206240" y="2587752"/>
            <a:ext cx="1691640" cy="274320"/>
          </a:xfrm>
          <a:prstGeom prst="rect">
            <a:avLst/>
          </a:prstGeom>
          <a:noFill/>
          <a:ln/>
        </p:spPr>
        <p:txBody>
          <a:bodyPr wrap="square" rtlCol="0" anchor="ctr"/>
          <a:lstStyle/>
          <a:p>
            <a:pPr marL="0" indent="0">
              <a:buNone/>
            </a:pPr>
            <a:r>
              <a:rPr lang="en-US" sz="1000" dirty="0">
                <a:solidFill>
                  <a:srgbClr val="9CA6C7"/>
                </a:solidFill>
                <a:latin typeface="Calibri" pitchFamily="34" charset="0"/>
                <a:ea typeface="Calibri" pitchFamily="34" charset="-122"/>
                <a:cs typeface="Calibri" pitchFamily="34" charset="-120"/>
              </a:rPr>
              <a:t>Active Buses</a:t>
            </a:r>
            <a:endParaRPr lang="en-US" sz="1000" dirty="0"/>
          </a:p>
        </p:txBody>
      </p:sp>
      <p:sp>
        <p:nvSpPr>
          <p:cNvPr id="15" name="Shape 11"/>
          <p:cNvSpPr/>
          <p:nvPr/>
        </p:nvSpPr>
        <p:spPr>
          <a:xfrm>
            <a:off x="6217920" y="1965960"/>
            <a:ext cx="2606040" cy="1097280"/>
          </a:xfrm>
          <a:prstGeom prst="roundRect">
            <a:avLst>
              <a:gd name="adj" fmla="val 8333"/>
            </a:avLst>
          </a:prstGeom>
          <a:solidFill>
            <a:srgbClr val="0F1B3D"/>
          </a:solidFill>
          <a:ln w="12700">
            <a:solidFill>
              <a:srgbClr val="223261"/>
            </a:solidFill>
            <a:prstDash val="solid"/>
          </a:ln>
        </p:spPr>
      </p:sp>
      <p:sp>
        <p:nvSpPr>
          <p:cNvPr id="16" name="Shape 12"/>
          <p:cNvSpPr/>
          <p:nvPr/>
        </p:nvSpPr>
        <p:spPr>
          <a:xfrm>
            <a:off x="6382512" y="2240280"/>
            <a:ext cx="502920" cy="502920"/>
          </a:xfrm>
          <a:prstGeom prst="ellipse">
            <a:avLst/>
          </a:prstGeom>
          <a:solidFill>
            <a:srgbClr val="0A1128"/>
          </a:solidFill>
          <a:ln w="15875">
            <a:solidFill>
              <a:srgbClr val="F87171"/>
            </a:solidFill>
            <a:prstDash val="solid"/>
          </a:ln>
        </p:spPr>
      </p:sp>
      <p:pic>
        <p:nvPicPr>
          <p:cNvPr id="17" name="Image 2" descr="/home/claude/bustrack/icons/cross_w.png"/>
          <p:cNvPicPr>
            <a:picLocks noChangeAspect="1"/>
          </p:cNvPicPr>
          <p:nvPr/>
        </p:nvPicPr>
        <p:blipFill>
          <a:blip r:embed="rId5"/>
          <a:stretch>
            <a:fillRect/>
          </a:stretch>
        </p:blipFill>
        <p:spPr>
          <a:xfrm>
            <a:off x="6508242" y="2366010"/>
            <a:ext cx="251460" cy="251460"/>
          </a:xfrm>
          <a:prstGeom prst="rect">
            <a:avLst/>
          </a:prstGeom>
        </p:spPr>
      </p:pic>
      <p:sp>
        <p:nvSpPr>
          <p:cNvPr id="18" name="Text 13"/>
          <p:cNvSpPr/>
          <p:nvPr/>
        </p:nvSpPr>
        <p:spPr>
          <a:xfrm>
            <a:off x="6995160" y="2075688"/>
            <a:ext cx="16916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19" name="Text 14"/>
          <p:cNvSpPr/>
          <p:nvPr/>
        </p:nvSpPr>
        <p:spPr>
          <a:xfrm>
            <a:off x="6995160" y="2587752"/>
            <a:ext cx="1691640" cy="274320"/>
          </a:xfrm>
          <a:prstGeom prst="rect">
            <a:avLst/>
          </a:prstGeom>
          <a:noFill/>
          <a:ln/>
        </p:spPr>
        <p:txBody>
          <a:bodyPr wrap="square" rtlCol="0" anchor="ctr"/>
          <a:lstStyle/>
          <a:p>
            <a:pPr marL="0" indent="0">
              <a:buNone/>
            </a:pPr>
            <a:r>
              <a:rPr lang="en-US" sz="1000" dirty="0">
                <a:solidFill>
                  <a:srgbClr val="9CA6C7"/>
                </a:solidFill>
                <a:latin typeface="Calibri" pitchFamily="34" charset="0"/>
                <a:ea typeface="Calibri" pitchFamily="34" charset="-122"/>
                <a:cs typeface="Calibri" pitchFamily="34" charset="-120"/>
              </a:rPr>
              <a:t>Offline Buses</a:t>
            </a:r>
            <a:endParaRPr lang="en-US" sz="1000" dirty="0"/>
          </a:p>
        </p:txBody>
      </p:sp>
      <p:sp>
        <p:nvSpPr>
          <p:cNvPr id="20" name="Shape 15"/>
          <p:cNvSpPr/>
          <p:nvPr/>
        </p:nvSpPr>
        <p:spPr>
          <a:xfrm>
            <a:off x="9006840" y="1965960"/>
            <a:ext cx="2606040" cy="1097280"/>
          </a:xfrm>
          <a:prstGeom prst="roundRect">
            <a:avLst>
              <a:gd name="adj" fmla="val 8333"/>
            </a:avLst>
          </a:prstGeom>
          <a:solidFill>
            <a:srgbClr val="0F1B3D"/>
          </a:solidFill>
          <a:ln w="12700">
            <a:solidFill>
              <a:srgbClr val="223261"/>
            </a:solidFill>
            <a:prstDash val="solid"/>
          </a:ln>
        </p:spPr>
      </p:sp>
      <p:sp>
        <p:nvSpPr>
          <p:cNvPr id="21" name="Shape 16"/>
          <p:cNvSpPr/>
          <p:nvPr/>
        </p:nvSpPr>
        <p:spPr>
          <a:xfrm>
            <a:off x="9171432" y="2240280"/>
            <a:ext cx="502920" cy="502920"/>
          </a:xfrm>
          <a:prstGeom prst="ellipse">
            <a:avLst/>
          </a:prstGeom>
          <a:solidFill>
            <a:srgbClr val="0A1128"/>
          </a:solidFill>
          <a:ln w="15875">
            <a:solidFill>
              <a:srgbClr val="FBBF24"/>
            </a:solidFill>
            <a:prstDash val="solid"/>
          </a:ln>
        </p:spPr>
      </p:sp>
      <p:pic>
        <p:nvPicPr>
          <p:cNvPr id="22" name="Image 3" descr="/home/claude/bustrack/icons/alert_w.png"/>
          <p:cNvPicPr>
            <a:picLocks noChangeAspect="1"/>
          </p:cNvPicPr>
          <p:nvPr/>
        </p:nvPicPr>
        <p:blipFill>
          <a:blip r:embed="rId6"/>
          <a:stretch>
            <a:fillRect/>
          </a:stretch>
        </p:blipFill>
        <p:spPr>
          <a:xfrm>
            <a:off x="9297162" y="2366010"/>
            <a:ext cx="251460" cy="251460"/>
          </a:xfrm>
          <a:prstGeom prst="rect">
            <a:avLst/>
          </a:prstGeom>
        </p:spPr>
      </p:pic>
      <p:sp>
        <p:nvSpPr>
          <p:cNvPr id="23" name="Text 17"/>
          <p:cNvSpPr/>
          <p:nvPr/>
        </p:nvSpPr>
        <p:spPr>
          <a:xfrm>
            <a:off x="9784080" y="2075688"/>
            <a:ext cx="16916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24" name="Text 18"/>
          <p:cNvSpPr/>
          <p:nvPr/>
        </p:nvSpPr>
        <p:spPr>
          <a:xfrm>
            <a:off x="9784080" y="2587752"/>
            <a:ext cx="1691640" cy="274320"/>
          </a:xfrm>
          <a:prstGeom prst="rect">
            <a:avLst/>
          </a:prstGeom>
          <a:noFill/>
          <a:ln/>
        </p:spPr>
        <p:txBody>
          <a:bodyPr wrap="square" rtlCol="0" anchor="ctr"/>
          <a:lstStyle/>
          <a:p>
            <a:pPr marL="0" indent="0">
              <a:buNone/>
            </a:pPr>
            <a:r>
              <a:rPr lang="en-US" sz="1000" dirty="0">
                <a:solidFill>
                  <a:srgbClr val="9CA6C7"/>
                </a:solidFill>
                <a:latin typeface="Calibri" pitchFamily="34" charset="0"/>
                <a:ea typeface="Calibri" pitchFamily="34" charset="-122"/>
                <a:cs typeface="Calibri" pitchFamily="34" charset="-120"/>
              </a:rPr>
              <a:t>Alerts Today</a:t>
            </a:r>
            <a:endParaRPr lang="en-US" sz="1000" dirty="0"/>
          </a:p>
        </p:txBody>
      </p:sp>
      <p:sp>
        <p:nvSpPr>
          <p:cNvPr id="25" name="Shape 19"/>
          <p:cNvSpPr/>
          <p:nvPr/>
        </p:nvSpPr>
        <p:spPr>
          <a:xfrm>
            <a:off x="640080" y="3291840"/>
            <a:ext cx="5212080" cy="3063240"/>
          </a:xfrm>
          <a:prstGeom prst="roundRect">
            <a:avLst>
              <a:gd name="adj" fmla="val 2985"/>
            </a:avLst>
          </a:prstGeom>
          <a:solidFill>
            <a:srgbClr val="0F1B3D"/>
          </a:solidFill>
          <a:ln w="12700">
            <a:solidFill>
              <a:srgbClr val="223261"/>
            </a:solidFill>
            <a:prstDash val="solid"/>
          </a:ln>
        </p:spPr>
      </p:sp>
      <p:sp>
        <p:nvSpPr>
          <p:cNvPr id="26" name="Text 20"/>
          <p:cNvSpPr/>
          <p:nvPr/>
        </p:nvSpPr>
        <p:spPr>
          <a:xfrm>
            <a:off x="868680" y="3474720"/>
            <a:ext cx="2743200" cy="274320"/>
          </a:xfrm>
          <a:prstGeom prst="rect">
            <a:avLst/>
          </a:prstGeom>
          <a:noFill/>
          <a:ln/>
        </p:spPr>
        <p:txBody>
          <a:bodyPr wrap="square" rtlCol="0" anchor="ctr"/>
          <a:lstStyle/>
          <a:p>
            <a:pPr marL="0" indent="0">
              <a:buNone/>
            </a:pPr>
            <a:r>
              <a:rPr lang="en-US" sz="1050" b="1" kern="0" spc="150" dirty="0">
                <a:solidFill>
                  <a:srgbClr val="00E5C7"/>
                </a:solidFill>
                <a:latin typeface="Calibri" pitchFamily="34" charset="0"/>
                <a:ea typeface="Calibri" pitchFamily="34" charset="-122"/>
                <a:cs typeface="Calibri" pitchFamily="34" charset="-120"/>
              </a:rPr>
              <a:t>LIVE FLEET MAP</a:t>
            </a:r>
            <a:endParaRPr lang="en-US" sz="1050" dirty="0"/>
          </a:p>
        </p:txBody>
      </p:sp>
      <p:sp>
        <p:nvSpPr>
          <p:cNvPr id="27" name="Shape 21"/>
          <p:cNvSpPr/>
          <p:nvPr/>
        </p:nvSpPr>
        <p:spPr>
          <a:xfrm>
            <a:off x="1463040" y="4754880"/>
            <a:ext cx="365760" cy="365760"/>
          </a:xfrm>
          <a:prstGeom prst="ellipse">
            <a:avLst/>
          </a:prstGeom>
          <a:solidFill>
            <a:srgbClr val="00E5C7"/>
          </a:solidFill>
          <a:ln/>
        </p:spPr>
      </p:sp>
      <p:pic>
        <p:nvPicPr>
          <p:cNvPr id="28" name="Image 4" descr="/home/claude/bustrack/icons/bus_w.png"/>
          <p:cNvPicPr>
            <a:picLocks noChangeAspect="1"/>
          </p:cNvPicPr>
          <p:nvPr/>
        </p:nvPicPr>
        <p:blipFill>
          <a:blip r:embed="rId3"/>
          <a:stretch>
            <a:fillRect/>
          </a:stretch>
        </p:blipFill>
        <p:spPr>
          <a:xfrm>
            <a:off x="1545336" y="4837176"/>
            <a:ext cx="201168" cy="201168"/>
          </a:xfrm>
          <a:prstGeom prst="rect">
            <a:avLst/>
          </a:prstGeom>
        </p:spPr>
      </p:pic>
      <p:sp>
        <p:nvSpPr>
          <p:cNvPr id="29" name="Shape 22"/>
          <p:cNvSpPr/>
          <p:nvPr/>
        </p:nvSpPr>
        <p:spPr>
          <a:xfrm>
            <a:off x="2743200" y="5394960"/>
            <a:ext cx="365760" cy="365760"/>
          </a:xfrm>
          <a:prstGeom prst="ellipse">
            <a:avLst/>
          </a:prstGeom>
          <a:solidFill>
            <a:srgbClr val="00E5C7"/>
          </a:solidFill>
          <a:ln/>
        </p:spPr>
      </p:sp>
      <p:pic>
        <p:nvPicPr>
          <p:cNvPr id="30" name="Image 5" descr="/home/claude/bustrack/icons/bus_w.png"/>
          <p:cNvPicPr>
            <a:picLocks noChangeAspect="1"/>
          </p:cNvPicPr>
          <p:nvPr/>
        </p:nvPicPr>
        <p:blipFill>
          <a:blip r:embed="rId3"/>
          <a:stretch>
            <a:fillRect/>
          </a:stretch>
        </p:blipFill>
        <p:spPr>
          <a:xfrm>
            <a:off x="2825496" y="5477256"/>
            <a:ext cx="201168" cy="201168"/>
          </a:xfrm>
          <a:prstGeom prst="rect">
            <a:avLst/>
          </a:prstGeom>
        </p:spPr>
      </p:pic>
      <p:sp>
        <p:nvSpPr>
          <p:cNvPr id="31" name="Shape 23"/>
          <p:cNvSpPr/>
          <p:nvPr/>
        </p:nvSpPr>
        <p:spPr>
          <a:xfrm>
            <a:off x="3931920" y="4663440"/>
            <a:ext cx="365760" cy="365760"/>
          </a:xfrm>
          <a:prstGeom prst="ellipse">
            <a:avLst/>
          </a:prstGeom>
          <a:solidFill>
            <a:srgbClr val="00E5C7"/>
          </a:solidFill>
          <a:ln/>
        </p:spPr>
      </p:sp>
      <p:pic>
        <p:nvPicPr>
          <p:cNvPr id="32" name="Image 6" descr="/home/claude/bustrack/icons/bus_w.png"/>
          <p:cNvPicPr>
            <a:picLocks noChangeAspect="1"/>
          </p:cNvPicPr>
          <p:nvPr/>
        </p:nvPicPr>
        <p:blipFill>
          <a:blip r:embed="rId3"/>
          <a:stretch>
            <a:fillRect/>
          </a:stretch>
        </p:blipFill>
        <p:spPr>
          <a:xfrm>
            <a:off x="4014216" y="4745736"/>
            <a:ext cx="201168" cy="201168"/>
          </a:xfrm>
          <a:prstGeom prst="rect">
            <a:avLst/>
          </a:prstGeom>
        </p:spPr>
      </p:pic>
      <p:sp>
        <p:nvSpPr>
          <p:cNvPr id="33" name="Shape 24"/>
          <p:cNvSpPr/>
          <p:nvPr/>
        </p:nvSpPr>
        <p:spPr>
          <a:xfrm>
            <a:off x="4846320" y="5852160"/>
            <a:ext cx="365760" cy="365760"/>
          </a:xfrm>
          <a:prstGeom prst="ellipse">
            <a:avLst/>
          </a:prstGeom>
          <a:solidFill>
            <a:srgbClr val="00E5C7"/>
          </a:solidFill>
          <a:ln/>
        </p:spPr>
      </p:sp>
      <p:pic>
        <p:nvPicPr>
          <p:cNvPr id="34" name="Image 7" descr="/home/claude/bustrack/icons/bus_w.png"/>
          <p:cNvPicPr>
            <a:picLocks noChangeAspect="1"/>
          </p:cNvPicPr>
          <p:nvPr/>
        </p:nvPicPr>
        <p:blipFill>
          <a:blip r:embed="rId3"/>
          <a:stretch>
            <a:fillRect/>
          </a:stretch>
        </p:blipFill>
        <p:spPr>
          <a:xfrm>
            <a:off x="4928616" y="5934456"/>
            <a:ext cx="201168" cy="201168"/>
          </a:xfrm>
          <a:prstGeom prst="rect">
            <a:avLst/>
          </a:prstGeom>
        </p:spPr>
      </p:pic>
      <p:sp>
        <p:nvSpPr>
          <p:cNvPr id="35" name="Shape 25"/>
          <p:cNvSpPr/>
          <p:nvPr/>
        </p:nvSpPr>
        <p:spPr>
          <a:xfrm>
            <a:off x="2103120" y="6126480"/>
            <a:ext cx="365760" cy="365760"/>
          </a:xfrm>
          <a:prstGeom prst="ellipse">
            <a:avLst/>
          </a:prstGeom>
          <a:solidFill>
            <a:srgbClr val="F87171"/>
          </a:solidFill>
          <a:ln/>
        </p:spPr>
      </p:sp>
      <p:pic>
        <p:nvPicPr>
          <p:cNvPr id="36" name="Image 8" descr="/home/claude/bustrack/icons/bus_w.png"/>
          <p:cNvPicPr>
            <a:picLocks noChangeAspect="1"/>
          </p:cNvPicPr>
          <p:nvPr/>
        </p:nvPicPr>
        <p:blipFill>
          <a:blip r:embed="rId3"/>
          <a:stretch>
            <a:fillRect/>
          </a:stretch>
        </p:blipFill>
        <p:spPr>
          <a:xfrm>
            <a:off x="2185416" y="6208776"/>
            <a:ext cx="201168" cy="201168"/>
          </a:xfrm>
          <a:prstGeom prst="rect">
            <a:avLst/>
          </a:prstGeom>
        </p:spPr>
      </p:pic>
      <p:sp>
        <p:nvSpPr>
          <p:cNvPr id="37" name="Shape 26"/>
          <p:cNvSpPr/>
          <p:nvPr/>
        </p:nvSpPr>
        <p:spPr>
          <a:xfrm>
            <a:off x="6080760" y="3291840"/>
            <a:ext cx="5440680" cy="3063240"/>
          </a:xfrm>
          <a:prstGeom prst="roundRect">
            <a:avLst>
              <a:gd name="adj" fmla="val 2985"/>
            </a:avLst>
          </a:prstGeom>
          <a:solidFill>
            <a:srgbClr val="0F1B3D"/>
          </a:solidFill>
          <a:ln w="12700">
            <a:solidFill>
              <a:srgbClr val="223261"/>
            </a:solidFill>
            <a:prstDash val="solid"/>
          </a:ln>
        </p:spPr>
      </p:sp>
      <p:sp>
        <p:nvSpPr>
          <p:cNvPr id="38" name="Text 27"/>
          <p:cNvSpPr/>
          <p:nvPr/>
        </p:nvSpPr>
        <p:spPr>
          <a:xfrm>
            <a:off x="6309360" y="3474720"/>
            <a:ext cx="2743200" cy="274320"/>
          </a:xfrm>
          <a:prstGeom prst="rect">
            <a:avLst/>
          </a:prstGeom>
          <a:noFill/>
          <a:ln/>
        </p:spPr>
        <p:txBody>
          <a:bodyPr wrap="square" rtlCol="0" anchor="ctr"/>
          <a:lstStyle/>
          <a:p>
            <a:pPr marL="0" indent="0">
              <a:buNone/>
            </a:pPr>
            <a:r>
              <a:rPr lang="en-US" sz="1050" b="1" kern="0" spc="150" dirty="0">
                <a:solidFill>
                  <a:srgbClr val="00E5C7"/>
                </a:solidFill>
                <a:latin typeface="Calibri" pitchFamily="34" charset="0"/>
                <a:ea typeface="Calibri" pitchFamily="34" charset="-122"/>
                <a:cs typeface="Calibri" pitchFamily="34" charset="-120"/>
              </a:rPr>
              <a:t>BUS STATUS</a:t>
            </a:r>
            <a:endParaRPr lang="en-US" sz="1050" dirty="0"/>
          </a:p>
        </p:txBody>
      </p:sp>
      <p:sp>
        <p:nvSpPr>
          <p:cNvPr id="39" name="Text 28"/>
          <p:cNvSpPr/>
          <p:nvPr/>
        </p:nvSpPr>
        <p:spPr>
          <a:xfrm>
            <a:off x="6309360" y="3886200"/>
            <a:ext cx="11887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Bus 04</a:t>
            </a:r>
            <a:endParaRPr lang="en-US" sz="1150" dirty="0"/>
          </a:p>
        </p:txBody>
      </p:sp>
      <p:sp>
        <p:nvSpPr>
          <p:cNvPr id="40" name="Text 29"/>
          <p:cNvSpPr/>
          <p:nvPr/>
        </p:nvSpPr>
        <p:spPr>
          <a:xfrm>
            <a:off x="7498080" y="3886200"/>
            <a:ext cx="1188720" cy="320040"/>
          </a:xfrm>
          <a:prstGeom prst="rect">
            <a:avLst/>
          </a:prstGeom>
          <a:noFill/>
          <a:ln/>
        </p:spPr>
        <p:txBody>
          <a:bodyPr wrap="square" rtlCol="0" anchor="ctr"/>
          <a:lstStyle/>
          <a:p>
            <a:pPr marL="0" indent="0">
              <a:buNone/>
            </a:pPr>
            <a:r>
              <a:rPr lang="en-US" sz="1100" dirty="0">
                <a:solidFill>
                  <a:srgbClr val="9CA6C7"/>
                </a:solidFill>
                <a:latin typeface="Calibri" pitchFamily="34" charset="0"/>
                <a:ea typeface="Calibri" pitchFamily="34" charset="-122"/>
                <a:cs typeface="Calibri" pitchFamily="34" charset="-120"/>
              </a:rPr>
              <a:t>Route B</a:t>
            </a:r>
            <a:endParaRPr lang="en-US" sz="1100" dirty="0"/>
          </a:p>
        </p:txBody>
      </p:sp>
      <p:sp>
        <p:nvSpPr>
          <p:cNvPr id="41" name="Shape 30"/>
          <p:cNvSpPr/>
          <p:nvPr/>
        </p:nvSpPr>
        <p:spPr>
          <a:xfrm>
            <a:off x="10149840" y="3922776"/>
            <a:ext cx="1097280" cy="256032"/>
          </a:xfrm>
          <a:prstGeom prst="roundRect">
            <a:avLst>
              <a:gd name="adj" fmla="val 50000"/>
            </a:avLst>
          </a:prstGeom>
          <a:solidFill>
            <a:srgbClr val="0A1128"/>
          </a:solidFill>
          <a:ln w="12700">
            <a:solidFill>
              <a:srgbClr val="34D399"/>
            </a:solidFill>
            <a:prstDash val="solid"/>
          </a:ln>
        </p:spPr>
      </p:sp>
      <p:sp>
        <p:nvSpPr>
          <p:cNvPr id="42" name="Text 31"/>
          <p:cNvSpPr/>
          <p:nvPr/>
        </p:nvSpPr>
        <p:spPr>
          <a:xfrm>
            <a:off x="10149840" y="3922776"/>
            <a:ext cx="1097280" cy="256032"/>
          </a:xfrm>
          <a:prstGeom prst="rect">
            <a:avLst/>
          </a:prstGeom>
          <a:noFill/>
          <a:ln/>
        </p:spPr>
        <p:txBody>
          <a:bodyPr wrap="square" rtlCol="0" anchor="ctr"/>
          <a:lstStyle/>
          <a:p>
            <a:pPr marL="0" indent="0" algn="ctr">
              <a:buNone/>
            </a:pPr>
            <a:r>
              <a:rPr lang="en-US" sz="950" b="1" dirty="0">
                <a:solidFill>
                  <a:srgbClr val="34D399"/>
                </a:solidFill>
                <a:latin typeface="Calibri" pitchFamily="34" charset="0"/>
                <a:ea typeface="Calibri" pitchFamily="34" charset="-122"/>
                <a:cs typeface="Calibri" pitchFamily="34" charset="-120"/>
              </a:rPr>
              <a:t>On Time</a:t>
            </a:r>
            <a:endParaRPr lang="en-US" sz="950" dirty="0"/>
          </a:p>
        </p:txBody>
      </p:sp>
      <p:sp>
        <p:nvSpPr>
          <p:cNvPr id="43" name="Text 32"/>
          <p:cNvSpPr/>
          <p:nvPr/>
        </p:nvSpPr>
        <p:spPr>
          <a:xfrm>
            <a:off x="6309360" y="4389120"/>
            <a:ext cx="11887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Bus 09</a:t>
            </a:r>
            <a:endParaRPr lang="en-US" sz="1150" dirty="0"/>
          </a:p>
        </p:txBody>
      </p:sp>
      <p:sp>
        <p:nvSpPr>
          <p:cNvPr id="44" name="Text 33"/>
          <p:cNvSpPr/>
          <p:nvPr/>
        </p:nvSpPr>
        <p:spPr>
          <a:xfrm>
            <a:off x="7498080" y="4389120"/>
            <a:ext cx="1188720" cy="320040"/>
          </a:xfrm>
          <a:prstGeom prst="rect">
            <a:avLst/>
          </a:prstGeom>
          <a:noFill/>
          <a:ln/>
        </p:spPr>
        <p:txBody>
          <a:bodyPr wrap="square" rtlCol="0" anchor="ctr"/>
          <a:lstStyle/>
          <a:p>
            <a:pPr marL="0" indent="0">
              <a:buNone/>
            </a:pPr>
            <a:r>
              <a:rPr lang="en-US" sz="1100" dirty="0">
                <a:solidFill>
                  <a:srgbClr val="9CA6C7"/>
                </a:solidFill>
                <a:latin typeface="Calibri" pitchFamily="34" charset="0"/>
                <a:ea typeface="Calibri" pitchFamily="34" charset="-122"/>
                <a:cs typeface="Calibri" pitchFamily="34" charset="-120"/>
              </a:rPr>
              <a:t>Route A</a:t>
            </a:r>
            <a:endParaRPr lang="en-US" sz="1100" dirty="0"/>
          </a:p>
        </p:txBody>
      </p:sp>
      <p:sp>
        <p:nvSpPr>
          <p:cNvPr id="45" name="Shape 34"/>
          <p:cNvSpPr/>
          <p:nvPr/>
        </p:nvSpPr>
        <p:spPr>
          <a:xfrm>
            <a:off x="10149840" y="4425696"/>
            <a:ext cx="1097280" cy="256032"/>
          </a:xfrm>
          <a:prstGeom prst="roundRect">
            <a:avLst>
              <a:gd name="adj" fmla="val 50000"/>
            </a:avLst>
          </a:prstGeom>
          <a:solidFill>
            <a:srgbClr val="0A1128"/>
          </a:solidFill>
          <a:ln w="12700">
            <a:solidFill>
              <a:srgbClr val="FBBF24"/>
            </a:solidFill>
            <a:prstDash val="solid"/>
          </a:ln>
        </p:spPr>
      </p:sp>
      <p:sp>
        <p:nvSpPr>
          <p:cNvPr id="46" name="Text 35"/>
          <p:cNvSpPr/>
          <p:nvPr/>
        </p:nvSpPr>
        <p:spPr>
          <a:xfrm>
            <a:off x="10149840" y="4425696"/>
            <a:ext cx="1097280" cy="256032"/>
          </a:xfrm>
          <a:prstGeom prst="rect">
            <a:avLst/>
          </a:prstGeom>
          <a:noFill/>
          <a:ln/>
        </p:spPr>
        <p:txBody>
          <a:bodyPr wrap="square" rtlCol="0" anchor="ctr"/>
          <a:lstStyle/>
          <a:p>
            <a:pPr marL="0" indent="0" algn="ctr">
              <a:buNone/>
            </a:pPr>
            <a:r>
              <a:rPr lang="en-US" sz="950" b="1" dirty="0">
                <a:solidFill>
                  <a:srgbClr val="FBBF24"/>
                </a:solidFill>
                <a:latin typeface="Calibri" pitchFamily="34" charset="0"/>
                <a:ea typeface="Calibri" pitchFamily="34" charset="-122"/>
                <a:cs typeface="Calibri" pitchFamily="34" charset="-120"/>
              </a:rPr>
              <a:t>Delayed</a:t>
            </a:r>
            <a:endParaRPr lang="en-US" sz="950" dirty="0"/>
          </a:p>
        </p:txBody>
      </p:sp>
      <p:sp>
        <p:nvSpPr>
          <p:cNvPr id="47" name="Text 36"/>
          <p:cNvSpPr/>
          <p:nvPr/>
        </p:nvSpPr>
        <p:spPr>
          <a:xfrm>
            <a:off x="6309360" y="4892040"/>
            <a:ext cx="11887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Bus 12</a:t>
            </a:r>
            <a:endParaRPr lang="en-US" sz="1150" dirty="0"/>
          </a:p>
        </p:txBody>
      </p:sp>
      <p:sp>
        <p:nvSpPr>
          <p:cNvPr id="48" name="Text 37"/>
          <p:cNvSpPr/>
          <p:nvPr/>
        </p:nvSpPr>
        <p:spPr>
          <a:xfrm>
            <a:off x="7498080" y="4892040"/>
            <a:ext cx="1188720" cy="320040"/>
          </a:xfrm>
          <a:prstGeom prst="rect">
            <a:avLst/>
          </a:prstGeom>
          <a:noFill/>
          <a:ln/>
        </p:spPr>
        <p:txBody>
          <a:bodyPr wrap="square" rtlCol="0" anchor="ctr"/>
          <a:lstStyle/>
          <a:p>
            <a:pPr marL="0" indent="0">
              <a:buNone/>
            </a:pPr>
            <a:r>
              <a:rPr lang="en-US" sz="1100" dirty="0">
                <a:solidFill>
                  <a:srgbClr val="9CA6C7"/>
                </a:solidFill>
                <a:latin typeface="Calibri" pitchFamily="34" charset="0"/>
                <a:ea typeface="Calibri" pitchFamily="34" charset="-122"/>
                <a:cs typeface="Calibri" pitchFamily="34" charset="-120"/>
              </a:rPr>
              <a:t>Route A</a:t>
            </a:r>
            <a:endParaRPr lang="en-US" sz="1100" dirty="0"/>
          </a:p>
        </p:txBody>
      </p:sp>
      <p:sp>
        <p:nvSpPr>
          <p:cNvPr id="49" name="Shape 38"/>
          <p:cNvSpPr/>
          <p:nvPr/>
        </p:nvSpPr>
        <p:spPr>
          <a:xfrm>
            <a:off x="10149840" y="4928616"/>
            <a:ext cx="1097280" cy="256032"/>
          </a:xfrm>
          <a:prstGeom prst="roundRect">
            <a:avLst>
              <a:gd name="adj" fmla="val 50000"/>
            </a:avLst>
          </a:prstGeom>
          <a:solidFill>
            <a:srgbClr val="0A1128"/>
          </a:solidFill>
          <a:ln w="12700">
            <a:solidFill>
              <a:srgbClr val="34D399"/>
            </a:solidFill>
            <a:prstDash val="solid"/>
          </a:ln>
        </p:spPr>
      </p:sp>
      <p:sp>
        <p:nvSpPr>
          <p:cNvPr id="50" name="Text 39"/>
          <p:cNvSpPr/>
          <p:nvPr/>
        </p:nvSpPr>
        <p:spPr>
          <a:xfrm>
            <a:off x="10149840" y="4928616"/>
            <a:ext cx="1097280" cy="256032"/>
          </a:xfrm>
          <a:prstGeom prst="rect">
            <a:avLst/>
          </a:prstGeom>
          <a:noFill/>
          <a:ln/>
        </p:spPr>
        <p:txBody>
          <a:bodyPr wrap="square" rtlCol="0" anchor="ctr"/>
          <a:lstStyle/>
          <a:p>
            <a:pPr marL="0" indent="0" algn="ctr">
              <a:buNone/>
            </a:pPr>
            <a:r>
              <a:rPr lang="en-US" sz="950" b="1" dirty="0">
                <a:solidFill>
                  <a:srgbClr val="34D399"/>
                </a:solidFill>
                <a:latin typeface="Calibri" pitchFamily="34" charset="0"/>
                <a:ea typeface="Calibri" pitchFamily="34" charset="-122"/>
                <a:cs typeface="Calibri" pitchFamily="34" charset="-120"/>
              </a:rPr>
              <a:t>On Time</a:t>
            </a:r>
            <a:endParaRPr lang="en-US" sz="950" dirty="0"/>
          </a:p>
        </p:txBody>
      </p:sp>
      <p:sp>
        <p:nvSpPr>
          <p:cNvPr id="51" name="Text 40"/>
          <p:cNvSpPr/>
          <p:nvPr/>
        </p:nvSpPr>
        <p:spPr>
          <a:xfrm>
            <a:off x="6309360" y="5394960"/>
            <a:ext cx="118872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Bus 17</a:t>
            </a:r>
            <a:endParaRPr lang="en-US" sz="1150" dirty="0"/>
          </a:p>
        </p:txBody>
      </p:sp>
      <p:sp>
        <p:nvSpPr>
          <p:cNvPr id="52" name="Text 41"/>
          <p:cNvSpPr/>
          <p:nvPr/>
        </p:nvSpPr>
        <p:spPr>
          <a:xfrm>
            <a:off x="7498080" y="5394960"/>
            <a:ext cx="1188720" cy="320040"/>
          </a:xfrm>
          <a:prstGeom prst="rect">
            <a:avLst/>
          </a:prstGeom>
          <a:noFill/>
          <a:ln/>
        </p:spPr>
        <p:txBody>
          <a:bodyPr wrap="square" rtlCol="0" anchor="ctr"/>
          <a:lstStyle/>
          <a:p>
            <a:pPr marL="0" indent="0">
              <a:buNone/>
            </a:pPr>
            <a:r>
              <a:rPr lang="en-US" sz="1100" dirty="0">
                <a:solidFill>
                  <a:srgbClr val="9CA6C7"/>
                </a:solidFill>
                <a:latin typeface="Calibri" pitchFamily="34" charset="0"/>
                <a:ea typeface="Calibri" pitchFamily="34" charset="-122"/>
                <a:cs typeface="Calibri" pitchFamily="34" charset="-120"/>
              </a:rPr>
              <a:t>Route C</a:t>
            </a:r>
            <a:endParaRPr lang="en-US" sz="1100" dirty="0"/>
          </a:p>
        </p:txBody>
      </p:sp>
      <p:sp>
        <p:nvSpPr>
          <p:cNvPr id="53" name="Shape 42"/>
          <p:cNvSpPr/>
          <p:nvPr/>
        </p:nvSpPr>
        <p:spPr>
          <a:xfrm>
            <a:off x="10149840" y="5431536"/>
            <a:ext cx="1097280" cy="256032"/>
          </a:xfrm>
          <a:prstGeom prst="roundRect">
            <a:avLst>
              <a:gd name="adj" fmla="val 50000"/>
            </a:avLst>
          </a:prstGeom>
          <a:solidFill>
            <a:srgbClr val="0A1128"/>
          </a:solidFill>
          <a:ln w="12700">
            <a:solidFill>
              <a:srgbClr val="F87171"/>
            </a:solidFill>
            <a:prstDash val="solid"/>
          </a:ln>
        </p:spPr>
      </p:sp>
      <p:sp>
        <p:nvSpPr>
          <p:cNvPr id="54" name="Text 43"/>
          <p:cNvSpPr/>
          <p:nvPr/>
        </p:nvSpPr>
        <p:spPr>
          <a:xfrm>
            <a:off x="10149840" y="5431536"/>
            <a:ext cx="1097280" cy="256032"/>
          </a:xfrm>
          <a:prstGeom prst="rect">
            <a:avLst/>
          </a:prstGeom>
          <a:noFill/>
          <a:ln/>
        </p:spPr>
        <p:txBody>
          <a:bodyPr wrap="square" rtlCol="0" anchor="ctr"/>
          <a:lstStyle/>
          <a:p>
            <a:pPr marL="0" indent="0" algn="ctr">
              <a:buNone/>
            </a:pPr>
            <a:r>
              <a:rPr lang="en-US" sz="950" b="1" dirty="0">
                <a:solidFill>
                  <a:srgbClr val="F87171"/>
                </a:solidFill>
                <a:latin typeface="Calibri" pitchFamily="34" charset="0"/>
                <a:ea typeface="Calibri" pitchFamily="34" charset="-122"/>
                <a:cs typeface="Calibri" pitchFamily="34" charset="-120"/>
              </a:rPr>
              <a:t>Offline</a:t>
            </a:r>
            <a:endParaRPr lang="en-US" sz="950" dirty="0"/>
          </a:p>
        </p:txBody>
      </p:sp>
      <p:sp>
        <p:nvSpPr>
          <p:cNvPr id="55" name="Text 44"/>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UNDER THE HOOD</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681228" y="1691640"/>
            <a:ext cx="3429000" cy="1600200"/>
          </a:xfrm>
          <a:prstGeom prst="roundRect">
            <a:avLst>
              <a:gd name="adj" fmla="val 5714"/>
            </a:avLst>
          </a:prstGeom>
          <a:solidFill>
            <a:srgbClr val="0F1B3D"/>
          </a:solidFill>
          <a:ln w="12700">
            <a:solidFill>
              <a:srgbClr val="223261"/>
            </a:solidFill>
            <a:prstDash val="solid"/>
          </a:ln>
        </p:spPr>
      </p:sp>
      <p:sp>
        <p:nvSpPr>
          <p:cNvPr id="5" name="Text 3"/>
          <p:cNvSpPr/>
          <p:nvPr/>
        </p:nvSpPr>
        <p:spPr>
          <a:xfrm>
            <a:off x="909828" y="18288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Frontend</a:t>
            </a:r>
            <a:endParaRPr lang="en-US" sz="1350" dirty="0"/>
          </a:p>
        </p:txBody>
      </p:sp>
      <p:pic>
        <p:nvPicPr>
          <p:cNvPr id="6" name="Image 0" descr="/home/claude/bustrack/icons/code_w.png"/>
          <p:cNvPicPr>
            <a:picLocks noChangeAspect="1"/>
          </p:cNvPicPr>
          <p:nvPr/>
        </p:nvPicPr>
        <p:blipFill>
          <a:blip r:embed="rId3"/>
          <a:stretch>
            <a:fillRect/>
          </a:stretch>
        </p:blipFill>
        <p:spPr>
          <a:xfrm>
            <a:off x="909828" y="2286000"/>
            <a:ext cx="502920" cy="502920"/>
          </a:xfrm>
          <a:prstGeom prst="rect">
            <a:avLst/>
          </a:prstGeom>
        </p:spPr>
      </p:pic>
      <p:sp>
        <p:nvSpPr>
          <p:cNvPr id="7" name="Text 4"/>
          <p:cNvSpPr/>
          <p:nvPr/>
        </p:nvSpPr>
        <p:spPr>
          <a:xfrm>
            <a:off x="726948"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HTML</a:t>
            </a:r>
            <a:endParaRPr lang="en-US" sz="900" dirty="0"/>
          </a:p>
        </p:txBody>
      </p:sp>
      <p:pic>
        <p:nvPicPr>
          <p:cNvPr id="8" name="Image 1" descr="/home/claude/bustrack/icons/code_w.png"/>
          <p:cNvPicPr>
            <a:picLocks noChangeAspect="1"/>
          </p:cNvPicPr>
          <p:nvPr/>
        </p:nvPicPr>
        <p:blipFill>
          <a:blip r:embed="rId3"/>
          <a:stretch>
            <a:fillRect/>
          </a:stretch>
        </p:blipFill>
        <p:spPr>
          <a:xfrm>
            <a:off x="2189988" y="2286000"/>
            <a:ext cx="502920" cy="502920"/>
          </a:xfrm>
          <a:prstGeom prst="rect">
            <a:avLst/>
          </a:prstGeom>
        </p:spPr>
      </p:pic>
      <p:sp>
        <p:nvSpPr>
          <p:cNvPr id="9" name="Text 5"/>
          <p:cNvSpPr/>
          <p:nvPr/>
        </p:nvSpPr>
        <p:spPr>
          <a:xfrm>
            <a:off x="2007108"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CSS</a:t>
            </a:r>
            <a:endParaRPr lang="en-US" sz="900" dirty="0"/>
          </a:p>
        </p:txBody>
      </p:sp>
      <p:pic>
        <p:nvPicPr>
          <p:cNvPr id="10" name="Image 2" descr="/home/claude/bustrack/icons/react_c.png"/>
          <p:cNvPicPr>
            <a:picLocks noChangeAspect="1"/>
          </p:cNvPicPr>
          <p:nvPr/>
        </p:nvPicPr>
        <p:blipFill>
          <a:blip r:embed="rId4"/>
          <a:stretch>
            <a:fillRect/>
          </a:stretch>
        </p:blipFill>
        <p:spPr>
          <a:xfrm>
            <a:off x="3470148" y="2286000"/>
            <a:ext cx="502920" cy="502920"/>
          </a:xfrm>
          <a:prstGeom prst="rect">
            <a:avLst/>
          </a:prstGeom>
        </p:spPr>
      </p:pic>
      <p:sp>
        <p:nvSpPr>
          <p:cNvPr id="11" name="Text 6"/>
          <p:cNvSpPr/>
          <p:nvPr/>
        </p:nvSpPr>
        <p:spPr>
          <a:xfrm>
            <a:off x="3287268"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React</a:t>
            </a:r>
            <a:endParaRPr lang="en-US" sz="900" dirty="0"/>
          </a:p>
        </p:txBody>
      </p:sp>
      <p:sp>
        <p:nvSpPr>
          <p:cNvPr id="12" name="Shape 7"/>
          <p:cNvSpPr/>
          <p:nvPr/>
        </p:nvSpPr>
        <p:spPr>
          <a:xfrm>
            <a:off x="4366260" y="1691640"/>
            <a:ext cx="3429000" cy="1600200"/>
          </a:xfrm>
          <a:prstGeom prst="roundRect">
            <a:avLst>
              <a:gd name="adj" fmla="val 5714"/>
            </a:avLst>
          </a:prstGeom>
          <a:solidFill>
            <a:srgbClr val="0F1B3D"/>
          </a:solidFill>
          <a:ln w="12700">
            <a:solidFill>
              <a:srgbClr val="223261"/>
            </a:solidFill>
            <a:prstDash val="solid"/>
          </a:ln>
        </p:spPr>
      </p:sp>
      <p:sp>
        <p:nvSpPr>
          <p:cNvPr id="13" name="Text 8"/>
          <p:cNvSpPr/>
          <p:nvPr/>
        </p:nvSpPr>
        <p:spPr>
          <a:xfrm>
            <a:off x="4594860" y="18288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Mobile</a:t>
            </a:r>
            <a:endParaRPr lang="en-US" sz="1350" dirty="0"/>
          </a:p>
        </p:txBody>
      </p:sp>
      <p:pic>
        <p:nvPicPr>
          <p:cNvPr id="14" name="Image 3" descr="/home/claude/bustrack/icons/android_c.png"/>
          <p:cNvPicPr>
            <a:picLocks noChangeAspect="1"/>
          </p:cNvPicPr>
          <p:nvPr/>
        </p:nvPicPr>
        <p:blipFill>
          <a:blip r:embed="rId5"/>
          <a:stretch>
            <a:fillRect/>
          </a:stretch>
        </p:blipFill>
        <p:spPr>
          <a:xfrm>
            <a:off x="4594860" y="2286000"/>
            <a:ext cx="502920" cy="502920"/>
          </a:xfrm>
          <a:prstGeom prst="rect">
            <a:avLst/>
          </a:prstGeom>
        </p:spPr>
      </p:pic>
      <p:sp>
        <p:nvSpPr>
          <p:cNvPr id="15" name="Text 9"/>
          <p:cNvSpPr/>
          <p:nvPr/>
        </p:nvSpPr>
        <p:spPr>
          <a:xfrm>
            <a:off x="4411980"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Android</a:t>
            </a:r>
            <a:endParaRPr lang="en-US" sz="900" dirty="0"/>
          </a:p>
        </p:txBody>
      </p:sp>
      <p:pic>
        <p:nvPicPr>
          <p:cNvPr id="16" name="Image 4" descr="/home/claude/bustrack/icons/flutter_c.png"/>
          <p:cNvPicPr>
            <a:picLocks noChangeAspect="1"/>
          </p:cNvPicPr>
          <p:nvPr/>
        </p:nvPicPr>
        <p:blipFill>
          <a:blip r:embed="rId6"/>
          <a:stretch>
            <a:fillRect/>
          </a:stretch>
        </p:blipFill>
        <p:spPr>
          <a:xfrm>
            <a:off x="5875020" y="2286000"/>
            <a:ext cx="502920" cy="502920"/>
          </a:xfrm>
          <a:prstGeom prst="rect">
            <a:avLst/>
          </a:prstGeom>
        </p:spPr>
      </p:pic>
      <p:sp>
        <p:nvSpPr>
          <p:cNvPr id="17" name="Text 10"/>
          <p:cNvSpPr/>
          <p:nvPr/>
        </p:nvSpPr>
        <p:spPr>
          <a:xfrm>
            <a:off x="5692140"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Flutter</a:t>
            </a:r>
            <a:endParaRPr lang="en-US" sz="900" dirty="0"/>
          </a:p>
        </p:txBody>
      </p:sp>
      <p:sp>
        <p:nvSpPr>
          <p:cNvPr id="18" name="Shape 11"/>
          <p:cNvSpPr/>
          <p:nvPr/>
        </p:nvSpPr>
        <p:spPr>
          <a:xfrm>
            <a:off x="8051292" y="1691640"/>
            <a:ext cx="3429000" cy="1600200"/>
          </a:xfrm>
          <a:prstGeom prst="roundRect">
            <a:avLst>
              <a:gd name="adj" fmla="val 5714"/>
            </a:avLst>
          </a:prstGeom>
          <a:solidFill>
            <a:srgbClr val="0F1B3D"/>
          </a:solidFill>
          <a:ln w="12700">
            <a:solidFill>
              <a:srgbClr val="223261"/>
            </a:solidFill>
            <a:prstDash val="solid"/>
          </a:ln>
        </p:spPr>
      </p:sp>
      <p:sp>
        <p:nvSpPr>
          <p:cNvPr id="19" name="Text 12"/>
          <p:cNvSpPr/>
          <p:nvPr/>
        </p:nvSpPr>
        <p:spPr>
          <a:xfrm>
            <a:off x="8279892" y="18288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Backend</a:t>
            </a:r>
            <a:endParaRPr lang="en-US" sz="1350" dirty="0"/>
          </a:p>
        </p:txBody>
      </p:sp>
      <p:pic>
        <p:nvPicPr>
          <p:cNvPr id="20" name="Image 5" descr="/home/claude/bustrack/icons/nodejs_c.png"/>
          <p:cNvPicPr>
            <a:picLocks noChangeAspect="1"/>
          </p:cNvPicPr>
          <p:nvPr/>
        </p:nvPicPr>
        <p:blipFill>
          <a:blip r:embed="rId7"/>
          <a:stretch>
            <a:fillRect/>
          </a:stretch>
        </p:blipFill>
        <p:spPr>
          <a:xfrm>
            <a:off x="8279892" y="2286000"/>
            <a:ext cx="502920" cy="502920"/>
          </a:xfrm>
          <a:prstGeom prst="rect">
            <a:avLst/>
          </a:prstGeom>
        </p:spPr>
      </p:pic>
      <p:sp>
        <p:nvSpPr>
          <p:cNvPr id="21" name="Text 13"/>
          <p:cNvSpPr/>
          <p:nvPr/>
        </p:nvSpPr>
        <p:spPr>
          <a:xfrm>
            <a:off x="8097012"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Node.js</a:t>
            </a:r>
            <a:endParaRPr lang="en-US" sz="900" dirty="0"/>
          </a:p>
        </p:txBody>
      </p:sp>
      <p:pic>
        <p:nvPicPr>
          <p:cNvPr id="22" name="Image 6" descr="/home/claude/bustrack/icons/python_c.png"/>
          <p:cNvPicPr>
            <a:picLocks noChangeAspect="1"/>
          </p:cNvPicPr>
          <p:nvPr/>
        </p:nvPicPr>
        <p:blipFill>
          <a:blip r:embed="rId8"/>
          <a:stretch>
            <a:fillRect/>
          </a:stretch>
        </p:blipFill>
        <p:spPr>
          <a:xfrm>
            <a:off x="9560052" y="2286000"/>
            <a:ext cx="502920" cy="502920"/>
          </a:xfrm>
          <a:prstGeom prst="rect">
            <a:avLst/>
          </a:prstGeom>
        </p:spPr>
      </p:pic>
      <p:sp>
        <p:nvSpPr>
          <p:cNvPr id="23" name="Text 14"/>
          <p:cNvSpPr/>
          <p:nvPr/>
        </p:nvSpPr>
        <p:spPr>
          <a:xfrm>
            <a:off x="9377172" y="28346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Python</a:t>
            </a:r>
            <a:endParaRPr lang="en-US" sz="900" dirty="0"/>
          </a:p>
        </p:txBody>
      </p:sp>
      <p:sp>
        <p:nvSpPr>
          <p:cNvPr id="24" name="Shape 15"/>
          <p:cNvSpPr/>
          <p:nvPr/>
        </p:nvSpPr>
        <p:spPr>
          <a:xfrm>
            <a:off x="681228" y="3520440"/>
            <a:ext cx="3429000" cy="1600200"/>
          </a:xfrm>
          <a:prstGeom prst="roundRect">
            <a:avLst>
              <a:gd name="adj" fmla="val 5714"/>
            </a:avLst>
          </a:prstGeom>
          <a:solidFill>
            <a:srgbClr val="0F1B3D"/>
          </a:solidFill>
          <a:ln w="12700">
            <a:solidFill>
              <a:srgbClr val="223261"/>
            </a:solidFill>
            <a:prstDash val="solid"/>
          </a:ln>
        </p:spPr>
      </p:sp>
      <p:sp>
        <p:nvSpPr>
          <p:cNvPr id="25" name="Text 16"/>
          <p:cNvSpPr/>
          <p:nvPr/>
        </p:nvSpPr>
        <p:spPr>
          <a:xfrm>
            <a:off x="909828" y="36576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Database</a:t>
            </a:r>
            <a:endParaRPr lang="en-US" sz="1350" dirty="0"/>
          </a:p>
        </p:txBody>
      </p:sp>
      <p:pic>
        <p:nvPicPr>
          <p:cNvPr id="26" name="Image 7" descr="/home/claude/bustrack/icons/mysql_c.png"/>
          <p:cNvPicPr>
            <a:picLocks noChangeAspect="1"/>
          </p:cNvPicPr>
          <p:nvPr/>
        </p:nvPicPr>
        <p:blipFill>
          <a:blip r:embed="rId9"/>
          <a:stretch>
            <a:fillRect/>
          </a:stretch>
        </p:blipFill>
        <p:spPr>
          <a:xfrm>
            <a:off x="909828" y="4114800"/>
            <a:ext cx="502920" cy="502920"/>
          </a:xfrm>
          <a:prstGeom prst="rect">
            <a:avLst/>
          </a:prstGeom>
        </p:spPr>
      </p:pic>
      <p:sp>
        <p:nvSpPr>
          <p:cNvPr id="27" name="Text 17"/>
          <p:cNvSpPr/>
          <p:nvPr/>
        </p:nvSpPr>
        <p:spPr>
          <a:xfrm>
            <a:off x="726948"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MySQL</a:t>
            </a:r>
            <a:endParaRPr lang="en-US" sz="900" dirty="0"/>
          </a:p>
        </p:txBody>
      </p:sp>
      <p:pic>
        <p:nvPicPr>
          <p:cNvPr id="28" name="Image 8" descr="/home/claude/bustrack/icons/firebase_c.png"/>
          <p:cNvPicPr>
            <a:picLocks noChangeAspect="1"/>
          </p:cNvPicPr>
          <p:nvPr/>
        </p:nvPicPr>
        <p:blipFill>
          <a:blip r:embed="rId10"/>
          <a:stretch>
            <a:fillRect/>
          </a:stretch>
        </p:blipFill>
        <p:spPr>
          <a:xfrm>
            <a:off x="2189988" y="4114800"/>
            <a:ext cx="502920" cy="502920"/>
          </a:xfrm>
          <a:prstGeom prst="rect">
            <a:avLst/>
          </a:prstGeom>
        </p:spPr>
      </p:pic>
      <p:sp>
        <p:nvSpPr>
          <p:cNvPr id="29" name="Text 18"/>
          <p:cNvSpPr/>
          <p:nvPr/>
        </p:nvSpPr>
        <p:spPr>
          <a:xfrm>
            <a:off x="2007108"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Firebase</a:t>
            </a:r>
            <a:endParaRPr lang="en-US" sz="900" dirty="0"/>
          </a:p>
        </p:txBody>
      </p:sp>
      <p:pic>
        <p:nvPicPr>
          <p:cNvPr id="30" name="Image 9" descr="/home/claude/bustrack/icons/mongodb_c.png"/>
          <p:cNvPicPr>
            <a:picLocks noChangeAspect="1"/>
          </p:cNvPicPr>
          <p:nvPr/>
        </p:nvPicPr>
        <p:blipFill>
          <a:blip r:embed="rId11"/>
          <a:stretch>
            <a:fillRect/>
          </a:stretch>
        </p:blipFill>
        <p:spPr>
          <a:xfrm>
            <a:off x="3470148" y="4114800"/>
            <a:ext cx="502920" cy="502920"/>
          </a:xfrm>
          <a:prstGeom prst="rect">
            <a:avLst/>
          </a:prstGeom>
        </p:spPr>
      </p:pic>
      <p:sp>
        <p:nvSpPr>
          <p:cNvPr id="31" name="Text 19"/>
          <p:cNvSpPr/>
          <p:nvPr/>
        </p:nvSpPr>
        <p:spPr>
          <a:xfrm>
            <a:off x="3287268"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MongoDB</a:t>
            </a:r>
            <a:endParaRPr lang="en-US" sz="900" dirty="0"/>
          </a:p>
        </p:txBody>
      </p:sp>
      <p:sp>
        <p:nvSpPr>
          <p:cNvPr id="32" name="Shape 20"/>
          <p:cNvSpPr/>
          <p:nvPr/>
        </p:nvSpPr>
        <p:spPr>
          <a:xfrm>
            <a:off x="4366260" y="3520440"/>
            <a:ext cx="3429000" cy="1600200"/>
          </a:xfrm>
          <a:prstGeom prst="roundRect">
            <a:avLst>
              <a:gd name="adj" fmla="val 5714"/>
            </a:avLst>
          </a:prstGeom>
          <a:solidFill>
            <a:srgbClr val="0F1B3D"/>
          </a:solidFill>
          <a:ln w="12700">
            <a:solidFill>
              <a:srgbClr val="223261"/>
            </a:solidFill>
            <a:prstDash val="solid"/>
          </a:ln>
        </p:spPr>
      </p:sp>
      <p:sp>
        <p:nvSpPr>
          <p:cNvPr id="33" name="Text 21"/>
          <p:cNvSpPr/>
          <p:nvPr/>
        </p:nvSpPr>
        <p:spPr>
          <a:xfrm>
            <a:off x="4594860" y="36576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Location</a:t>
            </a:r>
            <a:endParaRPr lang="en-US" sz="1350" dirty="0"/>
          </a:p>
        </p:txBody>
      </p:sp>
      <p:pic>
        <p:nvPicPr>
          <p:cNvPr id="34" name="Image 10" descr="/home/claude/bustrack/icons/crosshair_c.png"/>
          <p:cNvPicPr>
            <a:picLocks noChangeAspect="1"/>
          </p:cNvPicPr>
          <p:nvPr/>
        </p:nvPicPr>
        <p:blipFill>
          <a:blip r:embed="rId12"/>
          <a:stretch>
            <a:fillRect/>
          </a:stretch>
        </p:blipFill>
        <p:spPr>
          <a:xfrm>
            <a:off x="4594860" y="4114800"/>
            <a:ext cx="502920" cy="502920"/>
          </a:xfrm>
          <a:prstGeom prst="rect">
            <a:avLst/>
          </a:prstGeom>
        </p:spPr>
      </p:pic>
      <p:sp>
        <p:nvSpPr>
          <p:cNvPr id="35" name="Text 22"/>
          <p:cNvSpPr/>
          <p:nvPr/>
        </p:nvSpPr>
        <p:spPr>
          <a:xfrm>
            <a:off x="4411980"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GPS</a:t>
            </a:r>
            <a:endParaRPr lang="en-US" sz="900" dirty="0"/>
          </a:p>
        </p:txBody>
      </p:sp>
      <p:pic>
        <p:nvPicPr>
          <p:cNvPr id="36" name="Image 11" descr="/home/claude/bustrack/icons/map_w.png"/>
          <p:cNvPicPr>
            <a:picLocks noChangeAspect="1"/>
          </p:cNvPicPr>
          <p:nvPr/>
        </p:nvPicPr>
        <p:blipFill>
          <a:blip r:embed="rId13"/>
          <a:stretch>
            <a:fillRect/>
          </a:stretch>
        </p:blipFill>
        <p:spPr>
          <a:xfrm>
            <a:off x="5875020" y="4114800"/>
            <a:ext cx="502920" cy="502920"/>
          </a:xfrm>
          <a:prstGeom prst="rect">
            <a:avLst/>
          </a:prstGeom>
        </p:spPr>
      </p:pic>
      <p:sp>
        <p:nvSpPr>
          <p:cNvPr id="37" name="Text 23"/>
          <p:cNvSpPr/>
          <p:nvPr/>
        </p:nvSpPr>
        <p:spPr>
          <a:xfrm>
            <a:off x="5692140"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Maps API</a:t>
            </a:r>
            <a:endParaRPr lang="en-US" sz="900" dirty="0"/>
          </a:p>
        </p:txBody>
      </p:sp>
      <p:sp>
        <p:nvSpPr>
          <p:cNvPr id="38" name="Shape 24"/>
          <p:cNvSpPr/>
          <p:nvPr/>
        </p:nvSpPr>
        <p:spPr>
          <a:xfrm>
            <a:off x="8051292" y="3520440"/>
            <a:ext cx="3429000" cy="1600200"/>
          </a:xfrm>
          <a:prstGeom prst="roundRect">
            <a:avLst>
              <a:gd name="adj" fmla="val 5714"/>
            </a:avLst>
          </a:prstGeom>
          <a:solidFill>
            <a:srgbClr val="0F1B3D"/>
          </a:solidFill>
          <a:ln w="12700">
            <a:solidFill>
              <a:srgbClr val="223261"/>
            </a:solidFill>
            <a:prstDash val="solid"/>
          </a:ln>
        </p:spPr>
      </p:sp>
      <p:sp>
        <p:nvSpPr>
          <p:cNvPr id="39" name="Text 25"/>
          <p:cNvSpPr/>
          <p:nvPr/>
        </p:nvSpPr>
        <p:spPr>
          <a:xfrm>
            <a:off x="8279892" y="3657600"/>
            <a:ext cx="2971800" cy="274320"/>
          </a:xfrm>
          <a:prstGeom prst="rect">
            <a:avLst/>
          </a:prstGeom>
          <a:noFill/>
          <a:ln/>
        </p:spPr>
        <p:txBody>
          <a:bodyPr wrap="square" rtlCol="0" anchor="ctr"/>
          <a:lstStyle/>
          <a:p>
            <a:pPr marL="0" indent="0">
              <a:buNone/>
            </a:pPr>
            <a:r>
              <a:rPr lang="en-US" sz="1350" b="1" dirty="0">
                <a:solidFill>
                  <a:srgbClr val="00E5C7"/>
                </a:solidFill>
                <a:latin typeface="Cambria" pitchFamily="34" charset="0"/>
                <a:ea typeface="Cambria" pitchFamily="34" charset="-122"/>
                <a:cs typeface="Cambria" pitchFamily="34" charset="-120"/>
              </a:rPr>
              <a:t>Communication</a:t>
            </a:r>
            <a:endParaRPr lang="en-US" sz="1350" dirty="0"/>
          </a:p>
        </p:txBody>
      </p:sp>
      <p:pic>
        <p:nvPicPr>
          <p:cNvPr id="40" name="Image 12" descr="/home/claude/bustrack/icons/network_w.png"/>
          <p:cNvPicPr>
            <a:picLocks noChangeAspect="1"/>
          </p:cNvPicPr>
          <p:nvPr/>
        </p:nvPicPr>
        <p:blipFill>
          <a:blip r:embed="rId14"/>
          <a:stretch>
            <a:fillRect/>
          </a:stretch>
        </p:blipFill>
        <p:spPr>
          <a:xfrm>
            <a:off x="8279892" y="4114800"/>
            <a:ext cx="502920" cy="502920"/>
          </a:xfrm>
          <a:prstGeom prst="rect">
            <a:avLst/>
          </a:prstGeom>
        </p:spPr>
      </p:pic>
      <p:sp>
        <p:nvSpPr>
          <p:cNvPr id="41" name="Text 26"/>
          <p:cNvSpPr/>
          <p:nvPr/>
        </p:nvSpPr>
        <p:spPr>
          <a:xfrm>
            <a:off x="8097012"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REST API</a:t>
            </a:r>
            <a:endParaRPr lang="en-US" sz="900" dirty="0"/>
          </a:p>
        </p:txBody>
      </p:sp>
      <p:pic>
        <p:nvPicPr>
          <p:cNvPr id="42" name="Image 13" descr="/home/claude/bustrack/icons/tower_w.png"/>
          <p:cNvPicPr>
            <a:picLocks noChangeAspect="1"/>
          </p:cNvPicPr>
          <p:nvPr/>
        </p:nvPicPr>
        <p:blipFill>
          <a:blip r:embed="rId15"/>
          <a:stretch>
            <a:fillRect/>
          </a:stretch>
        </p:blipFill>
        <p:spPr>
          <a:xfrm>
            <a:off x="9560052" y="4114800"/>
            <a:ext cx="502920" cy="502920"/>
          </a:xfrm>
          <a:prstGeom prst="rect">
            <a:avLst/>
          </a:prstGeom>
        </p:spPr>
      </p:pic>
      <p:sp>
        <p:nvSpPr>
          <p:cNvPr id="43" name="Text 27"/>
          <p:cNvSpPr/>
          <p:nvPr/>
        </p:nvSpPr>
        <p:spPr>
          <a:xfrm>
            <a:off x="9377172" y="4663440"/>
            <a:ext cx="868680" cy="274320"/>
          </a:xfrm>
          <a:prstGeom prst="rect">
            <a:avLst/>
          </a:prstGeom>
          <a:noFill/>
          <a:ln/>
        </p:spPr>
        <p:txBody>
          <a:bodyPr wrap="square" rtlCol="0" anchor="ctr"/>
          <a:lstStyle/>
          <a:p>
            <a:pPr marL="0" indent="0" algn="ctr">
              <a:buNone/>
            </a:pPr>
            <a:r>
              <a:rPr lang="en-US" sz="900" dirty="0">
                <a:solidFill>
                  <a:srgbClr val="9CA6C7"/>
                </a:solidFill>
                <a:latin typeface="Calibri" pitchFamily="34" charset="0"/>
                <a:ea typeface="Calibri" pitchFamily="34" charset="-122"/>
                <a:cs typeface="Calibri" pitchFamily="34" charset="-120"/>
              </a:rPr>
              <a:t>WebSocket</a:t>
            </a:r>
            <a:endParaRPr lang="en-US" sz="900" dirty="0"/>
          </a:p>
        </p:txBody>
      </p:sp>
      <p:sp>
        <p:nvSpPr>
          <p:cNvPr id="44" name="Text 28"/>
          <p:cNvSpPr/>
          <p:nvPr/>
        </p:nvSpPr>
        <p:spPr>
          <a:xfrm>
            <a:off x="640080" y="5440680"/>
            <a:ext cx="10881360" cy="320040"/>
          </a:xfrm>
          <a:prstGeom prst="rect">
            <a:avLst/>
          </a:prstGeom>
          <a:noFill/>
          <a:ln/>
        </p:spPr>
        <p:txBody>
          <a:bodyPr wrap="square" rtlCol="0" anchor="ctr"/>
          <a:lstStyle/>
          <a:p>
            <a:pPr marL="0" indent="0">
              <a:buNone/>
            </a:pPr>
            <a:r>
              <a:rPr lang="en-US" sz="1100" i="1" dirty="0">
                <a:solidFill>
                  <a:srgbClr val="9CA6C7"/>
                </a:solidFill>
                <a:latin typeface="Calibri" pitchFamily="34" charset="0"/>
                <a:ea typeface="Calibri" pitchFamily="34" charset="-122"/>
                <a:cs typeface="Calibri" pitchFamily="34" charset="-120"/>
              </a:rPr>
              <a:t>Final stack selection may be adjusted based on project scope and available resources.</a:t>
            </a:r>
            <a:endParaRPr lang="en-US" sz="1100" dirty="0"/>
          </a:p>
        </p:txBody>
      </p:sp>
      <p:sp>
        <p:nvSpPr>
          <p:cNvPr id="45" name="Text 29"/>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BENEFITS</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Advantages</a:t>
            </a:r>
            <a:endParaRPr lang="en-US" sz="3000" dirty="0"/>
          </a:p>
        </p:txBody>
      </p:sp>
      <p:sp>
        <p:nvSpPr>
          <p:cNvPr id="4" name="Shape 2"/>
          <p:cNvSpPr/>
          <p:nvPr/>
        </p:nvSpPr>
        <p:spPr>
          <a:xfrm>
            <a:off x="457200" y="1783080"/>
            <a:ext cx="3566160" cy="4114800"/>
          </a:xfrm>
          <a:prstGeom prst="roundRect">
            <a:avLst>
              <a:gd name="adj" fmla="val 3077"/>
            </a:avLst>
          </a:prstGeom>
          <a:solidFill>
            <a:srgbClr val="0F1B3D"/>
          </a:solidFill>
          <a:ln w="12700">
            <a:solidFill>
              <a:srgbClr val="223261"/>
            </a:solidFill>
            <a:prstDash val="solid"/>
          </a:ln>
        </p:spPr>
      </p:sp>
      <p:sp>
        <p:nvSpPr>
          <p:cNvPr id="5" name="Shape 3"/>
          <p:cNvSpPr/>
          <p:nvPr/>
        </p:nvSpPr>
        <p:spPr>
          <a:xfrm>
            <a:off x="1874520" y="2148840"/>
            <a:ext cx="731520" cy="731520"/>
          </a:xfrm>
          <a:prstGeom prst="ellipse">
            <a:avLst/>
          </a:prstGeom>
          <a:solidFill>
            <a:srgbClr val="00E5C7"/>
          </a:solidFill>
          <a:ln/>
        </p:spPr>
      </p:sp>
      <p:pic>
        <p:nvPicPr>
          <p:cNvPr id="6" name="Image 0" descr="/home/claude/bustrack/icons/grad_w.png"/>
          <p:cNvPicPr>
            <a:picLocks noChangeAspect="1"/>
          </p:cNvPicPr>
          <p:nvPr/>
        </p:nvPicPr>
        <p:blipFill>
          <a:blip r:embed="rId3"/>
          <a:stretch>
            <a:fillRect/>
          </a:stretch>
        </p:blipFill>
        <p:spPr>
          <a:xfrm>
            <a:off x="2057400" y="2331720"/>
            <a:ext cx="365760" cy="365760"/>
          </a:xfrm>
          <a:prstGeom prst="rect">
            <a:avLst/>
          </a:prstGeom>
        </p:spPr>
      </p:pic>
      <p:sp>
        <p:nvSpPr>
          <p:cNvPr id="7" name="Text 4"/>
          <p:cNvSpPr/>
          <p:nvPr/>
        </p:nvSpPr>
        <p:spPr>
          <a:xfrm>
            <a:off x="457200" y="3063240"/>
            <a:ext cx="356616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Students</a:t>
            </a:r>
            <a:endParaRPr lang="en-US" sz="1600" dirty="0"/>
          </a:p>
        </p:txBody>
      </p:sp>
      <p:sp>
        <p:nvSpPr>
          <p:cNvPr id="8" name="Shape 5"/>
          <p:cNvSpPr/>
          <p:nvPr/>
        </p:nvSpPr>
        <p:spPr>
          <a:xfrm>
            <a:off x="1005840" y="3520440"/>
            <a:ext cx="2468880" cy="0"/>
          </a:xfrm>
          <a:prstGeom prst="line">
            <a:avLst/>
          </a:prstGeom>
          <a:noFill/>
          <a:ln w="12700">
            <a:solidFill>
              <a:srgbClr val="223261"/>
            </a:solidFill>
            <a:prstDash val="solid"/>
          </a:ln>
        </p:spPr>
      </p:sp>
      <p:sp>
        <p:nvSpPr>
          <p:cNvPr id="9" name="Shape 6"/>
          <p:cNvSpPr/>
          <p:nvPr/>
        </p:nvSpPr>
        <p:spPr>
          <a:xfrm>
            <a:off x="822960" y="3749040"/>
            <a:ext cx="292608" cy="292608"/>
          </a:xfrm>
          <a:prstGeom prst="ellipse">
            <a:avLst/>
          </a:prstGeom>
          <a:solidFill>
            <a:srgbClr val="0A1128"/>
          </a:solidFill>
          <a:ln w="15875">
            <a:solidFill>
              <a:srgbClr val="00E5C7"/>
            </a:solidFill>
            <a:prstDash val="solid"/>
          </a:ln>
        </p:spPr>
      </p:sp>
      <p:pic>
        <p:nvPicPr>
          <p:cNvPr id="10" name="Image 1" descr="/home/claude/bustrack/icons/check_c.png"/>
          <p:cNvPicPr>
            <a:picLocks noChangeAspect="1"/>
          </p:cNvPicPr>
          <p:nvPr/>
        </p:nvPicPr>
        <p:blipFill>
          <a:blip r:embed="rId4"/>
          <a:stretch>
            <a:fillRect/>
          </a:stretch>
        </p:blipFill>
        <p:spPr>
          <a:xfrm>
            <a:off x="874166" y="3800246"/>
            <a:ext cx="190195" cy="190195"/>
          </a:xfrm>
          <a:prstGeom prst="rect">
            <a:avLst/>
          </a:prstGeom>
        </p:spPr>
      </p:pic>
      <p:sp>
        <p:nvSpPr>
          <p:cNvPr id="11" name="Text 7"/>
          <p:cNvSpPr/>
          <p:nvPr/>
        </p:nvSpPr>
        <p:spPr>
          <a:xfrm>
            <a:off x="1234440" y="37307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Less waiting</a:t>
            </a:r>
            <a:endParaRPr lang="en-US" sz="1200" dirty="0"/>
          </a:p>
        </p:txBody>
      </p:sp>
      <p:sp>
        <p:nvSpPr>
          <p:cNvPr id="12" name="Shape 8"/>
          <p:cNvSpPr/>
          <p:nvPr/>
        </p:nvSpPr>
        <p:spPr>
          <a:xfrm>
            <a:off x="822960" y="4206240"/>
            <a:ext cx="292608" cy="292608"/>
          </a:xfrm>
          <a:prstGeom prst="ellipse">
            <a:avLst/>
          </a:prstGeom>
          <a:solidFill>
            <a:srgbClr val="0A1128"/>
          </a:solidFill>
          <a:ln w="15875">
            <a:solidFill>
              <a:srgbClr val="00E5C7"/>
            </a:solidFill>
            <a:prstDash val="solid"/>
          </a:ln>
        </p:spPr>
      </p:sp>
      <p:pic>
        <p:nvPicPr>
          <p:cNvPr id="13" name="Image 2" descr="/home/claude/bustrack/icons/check_c.png"/>
          <p:cNvPicPr>
            <a:picLocks noChangeAspect="1"/>
          </p:cNvPicPr>
          <p:nvPr/>
        </p:nvPicPr>
        <p:blipFill>
          <a:blip r:embed="rId4"/>
          <a:stretch>
            <a:fillRect/>
          </a:stretch>
        </p:blipFill>
        <p:spPr>
          <a:xfrm>
            <a:off x="874166" y="4257446"/>
            <a:ext cx="190195" cy="190195"/>
          </a:xfrm>
          <a:prstGeom prst="rect">
            <a:avLst/>
          </a:prstGeom>
        </p:spPr>
      </p:pic>
      <p:sp>
        <p:nvSpPr>
          <p:cNvPr id="14" name="Text 9"/>
          <p:cNvSpPr/>
          <p:nvPr/>
        </p:nvSpPr>
        <p:spPr>
          <a:xfrm>
            <a:off x="1234440" y="41879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Better planning</a:t>
            </a:r>
            <a:endParaRPr lang="en-US" sz="1200" dirty="0"/>
          </a:p>
        </p:txBody>
      </p:sp>
      <p:sp>
        <p:nvSpPr>
          <p:cNvPr id="15" name="Shape 10"/>
          <p:cNvSpPr/>
          <p:nvPr/>
        </p:nvSpPr>
        <p:spPr>
          <a:xfrm>
            <a:off x="822960" y="4663440"/>
            <a:ext cx="292608" cy="292608"/>
          </a:xfrm>
          <a:prstGeom prst="ellipse">
            <a:avLst/>
          </a:prstGeom>
          <a:solidFill>
            <a:srgbClr val="0A1128"/>
          </a:solidFill>
          <a:ln w="15875">
            <a:solidFill>
              <a:srgbClr val="00E5C7"/>
            </a:solidFill>
            <a:prstDash val="solid"/>
          </a:ln>
        </p:spPr>
      </p:sp>
      <p:pic>
        <p:nvPicPr>
          <p:cNvPr id="16" name="Image 3" descr="/home/claude/bustrack/icons/check_c.png"/>
          <p:cNvPicPr>
            <a:picLocks noChangeAspect="1"/>
          </p:cNvPicPr>
          <p:nvPr/>
        </p:nvPicPr>
        <p:blipFill>
          <a:blip r:embed="rId4"/>
          <a:stretch>
            <a:fillRect/>
          </a:stretch>
        </p:blipFill>
        <p:spPr>
          <a:xfrm>
            <a:off x="874166" y="4714646"/>
            <a:ext cx="190195" cy="190195"/>
          </a:xfrm>
          <a:prstGeom prst="rect">
            <a:avLst/>
          </a:prstGeom>
        </p:spPr>
      </p:pic>
      <p:sp>
        <p:nvSpPr>
          <p:cNvPr id="17" name="Text 11"/>
          <p:cNvSpPr/>
          <p:nvPr/>
        </p:nvSpPr>
        <p:spPr>
          <a:xfrm>
            <a:off x="1234440" y="46451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Live bus location</a:t>
            </a:r>
            <a:endParaRPr lang="en-US" sz="1200" dirty="0"/>
          </a:p>
        </p:txBody>
      </p:sp>
      <p:sp>
        <p:nvSpPr>
          <p:cNvPr id="18" name="Shape 12"/>
          <p:cNvSpPr/>
          <p:nvPr/>
        </p:nvSpPr>
        <p:spPr>
          <a:xfrm>
            <a:off x="822960" y="5120640"/>
            <a:ext cx="292608" cy="292608"/>
          </a:xfrm>
          <a:prstGeom prst="ellipse">
            <a:avLst/>
          </a:prstGeom>
          <a:solidFill>
            <a:srgbClr val="0A1128"/>
          </a:solidFill>
          <a:ln w="15875">
            <a:solidFill>
              <a:srgbClr val="00E5C7"/>
            </a:solidFill>
            <a:prstDash val="solid"/>
          </a:ln>
        </p:spPr>
      </p:sp>
      <p:pic>
        <p:nvPicPr>
          <p:cNvPr id="19" name="Image 4" descr="/home/claude/bustrack/icons/check_c.png"/>
          <p:cNvPicPr>
            <a:picLocks noChangeAspect="1"/>
          </p:cNvPicPr>
          <p:nvPr/>
        </p:nvPicPr>
        <p:blipFill>
          <a:blip r:embed="rId4"/>
          <a:stretch>
            <a:fillRect/>
          </a:stretch>
        </p:blipFill>
        <p:spPr>
          <a:xfrm>
            <a:off x="874166" y="5171846"/>
            <a:ext cx="190195" cy="190195"/>
          </a:xfrm>
          <a:prstGeom prst="rect">
            <a:avLst/>
          </a:prstGeom>
        </p:spPr>
      </p:pic>
      <p:sp>
        <p:nvSpPr>
          <p:cNvPr id="20" name="Text 13"/>
          <p:cNvSpPr/>
          <p:nvPr/>
        </p:nvSpPr>
        <p:spPr>
          <a:xfrm>
            <a:off x="1234440" y="51023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Safety alerts</a:t>
            </a:r>
            <a:endParaRPr lang="en-US" sz="1200" dirty="0"/>
          </a:p>
        </p:txBody>
      </p:sp>
      <p:sp>
        <p:nvSpPr>
          <p:cNvPr id="21" name="Shape 14"/>
          <p:cNvSpPr/>
          <p:nvPr/>
        </p:nvSpPr>
        <p:spPr>
          <a:xfrm>
            <a:off x="4297680" y="1783080"/>
            <a:ext cx="3566160" cy="4114800"/>
          </a:xfrm>
          <a:prstGeom prst="roundRect">
            <a:avLst>
              <a:gd name="adj" fmla="val 3077"/>
            </a:avLst>
          </a:prstGeom>
          <a:solidFill>
            <a:srgbClr val="0F1B3D"/>
          </a:solidFill>
          <a:ln w="12700">
            <a:solidFill>
              <a:srgbClr val="223261"/>
            </a:solidFill>
            <a:prstDash val="solid"/>
          </a:ln>
        </p:spPr>
      </p:sp>
      <p:sp>
        <p:nvSpPr>
          <p:cNvPr id="22" name="Shape 15"/>
          <p:cNvSpPr/>
          <p:nvPr/>
        </p:nvSpPr>
        <p:spPr>
          <a:xfrm>
            <a:off x="5715000" y="2148840"/>
            <a:ext cx="731520" cy="731520"/>
          </a:xfrm>
          <a:prstGeom prst="ellipse">
            <a:avLst/>
          </a:prstGeom>
          <a:solidFill>
            <a:srgbClr val="34D399"/>
          </a:solidFill>
          <a:ln/>
        </p:spPr>
      </p:sp>
      <p:pic>
        <p:nvPicPr>
          <p:cNvPr id="23" name="Image 5" descr="/home/claude/bustrack/icons/building_w.png"/>
          <p:cNvPicPr>
            <a:picLocks noChangeAspect="1"/>
          </p:cNvPicPr>
          <p:nvPr/>
        </p:nvPicPr>
        <p:blipFill>
          <a:blip r:embed="rId5"/>
          <a:stretch>
            <a:fillRect/>
          </a:stretch>
        </p:blipFill>
        <p:spPr>
          <a:xfrm>
            <a:off x="5897880" y="2331720"/>
            <a:ext cx="365760" cy="365760"/>
          </a:xfrm>
          <a:prstGeom prst="rect">
            <a:avLst/>
          </a:prstGeom>
        </p:spPr>
      </p:pic>
      <p:sp>
        <p:nvSpPr>
          <p:cNvPr id="24" name="Text 16"/>
          <p:cNvSpPr/>
          <p:nvPr/>
        </p:nvSpPr>
        <p:spPr>
          <a:xfrm>
            <a:off x="4297680" y="3063240"/>
            <a:ext cx="356616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College Management</a:t>
            </a:r>
            <a:endParaRPr lang="en-US" sz="1600" dirty="0"/>
          </a:p>
        </p:txBody>
      </p:sp>
      <p:sp>
        <p:nvSpPr>
          <p:cNvPr id="25" name="Shape 17"/>
          <p:cNvSpPr/>
          <p:nvPr/>
        </p:nvSpPr>
        <p:spPr>
          <a:xfrm>
            <a:off x="4846320" y="3520440"/>
            <a:ext cx="2468880" cy="0"/>
          </a:xfrm>
          <a:prstGeom prst="line">
            <a:avLst/>
          </a:prstGeom>
          <a:noFill/>
          <a:ln w="12700">
            <a:solidFill>
              <a:srgbClr val="223261"/>
            </a:solidFill>
            <a:prstDash val="solid"/>
          </a:ln>
        </p:spPr>
      </p:sp>
      <p:sp>
        <p:nvSpPr>
          <p:cNvPr id="26" name="Shape 18"/>
          <p:cNvSpPr/>
          <p:nvPr/>
        </p:nvSpPr>
        <p:spPr>
          <a:xfrm>
            <a:off x="4663440" y="3749040"/>
            <a:ext cx="292608" cy="292608"/>
          </a:xfrm>
          <a:prstGeom prst="ellipse">
            <a:avLst/>
          </a:prstGeom>
          <a:solidFill>
            <a:srgbClr val="0A1128"/>
          </a:solidFill>
          <a:ln w="15875">
            <a:solidFill>
              <a:srgbClr val="34D399"/>
            </a:solidFill>
            <a:prstDash val="solid"/>
          </a:ln>
        </p:spPr>
      </p:sp>
      <p:pic>
        <p:nvPicPr>
          <p:cNvPr id="27" name="Image 6" descr="/home/claude/bustrack/icons/check_c.png"/>
          <p:cNvPicPr>
            <a:picLocks noChangeAspect="1"/>
          </p:cNvPicPr>
          <p:nvPr/>
        </p:nvPicPr>
        <p:blipFill>
          <a:blip r:embed="rId4"/>
          <a:stretch>
            <a:fillRect/>
          </a:stretch>
        </p:blipFill>
        <p:spPr>
          <a:xfrm>
            <a:off x="4714646" y="3800246"/>
            <a:ext cx="190195" cy="190195"/>
          </a:xfrm>
          <a:prstGeom prst="rect">
            <a:avLst/>
          </a:prstGeom>
        </p:spPr>
      </p:pic>
      <p:sp>
        <p:nvSpPr>
          <p:cNvPr id="28" name="Text 19"/>
          <p:cNvSpPr/>
          <p:nvPr/>
        </p:nvSpPr>
        <p:spPr>
          <a:xfrm>
            <a:off x="5074920" y="37307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Fleet monitoring</a:t>
            </a:r>
            <a:endParaRPr lang="en-US" sz="1200" dirty="0"/>
          </a:p>
        </p:txBody>
      </p:sp>
      <p:sp>
        <p:nvSpPr>
          <p:cNvPr id="29" name="Shape 20"/>
          <p:cNvSpPr/>
          <p:nvPr/>
        </p:nvSpPr>
        <p:spPr>
          <a:xfrm>
            <a:off x="4663440" y="4206240"/>
            <a:ext cx="292608" cy="292608"/>
          </a:xfrm>
          <a:prstGeom prst="ellipse">
            <a:avLst/>
          </a:prstGeom>
          <a:solidFill>
            <a:srgbClr val="0A1128"/>
          </a:solidFill>
          <a:ln w="15875">
            <a:solidFill>
              <a:srgbClr val="34D399"/>
            </a:solidFill>
            <a:prstDash val="solid"/>
          </a:ln>
        </p:spPr>
      </p:sp>
      <p:pic>
        <p:nvPicPr>
          <p:cNvPr id="30" name="Image 7" descr="/home/claude/bustrack/icons/check_c.png"/>
          <p:cNvPicPr>
            <a:picLocks noChangeAspect="1"/>
          </p:cNvPicPr>
          <p:nvPr/>
        </p:nvPicPr>
        <p:blipFill>
          <a:blip r:embed="rId4"/>
          <a:stretch>
            <a:fillRect/>
          </a:stretch>
        </p:blipFill>
        <p:spPr>
          <a:xfrm>
            <a:off x="4714646" y="4257446"/>
            <a:ext cx="190195" cy="190195"/>
          </a:xfrm>
          <a:prstGeom prst="rect">
            <a:avLst/>
          </a:prstGeom>
        </p:spPr>
      </p:pic>
      <p:sp>
        <p:nvSpPr>
          <p:cNvPr id="31" name="Text 21"/>
          <p:cNvSpPr/>
          <p:nvPr/>
        </p:nvSpPr>
        <p:spPr>
          <a:xfrm>
            <a:off x="5074920" y="41879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Better route management</a:t>
            </a:r>
            <a:endParaRPr lang="en-US" sz="1200" dirty="0"/>
          </a:p>
        </p:txBody>
      </p:sp>
      <p:sp>
        <p:nvSpPr>
          <p:cNvPr id="32" name="Shape 22"/>
          <p:cNvSpPr/>
          <p:nvPr/>
        </p:nvSpPr>
        <p:spPr>
          <a:xfrm>
            <a:off x="4663440" y="4663440"/>
            <a:ext cx="292608" cy="292608"/>
          </a:xfrm>
          <a:prstGeom prst="ellipse">
            <a:avLst/>
          </a:prstGeom>
          <a:solidFill>
            <a:srgbClr val="0A1128"/>
          </a:solidFill>
          <a:ln w="15875">
            <a:solidFill>
              <a:srgbClr val="34D399"/>
            </a:solidFill>
            <a:prstDash val="solid"/>
          </a:ln>
        </p:spPr>
      </p:sp>
      <p:pic>
        <p:nvPicPr>
          <p:cNvPr id="33" name="Image 8" descr="/home/claude/bustrack/icons/check_c.png"/>
          <p:cNvPicPr>
            <a:picLocks noChangeAspect="1"/>
          </p:cNvPicPr>
          <p:nvPr/>
        </p:nvPicPr>
        <p:blipFill>
          <a:blip r:embed="rId4"/>
          <a:stretch>
            <a:fillRect/>
          </a:stretch>
        </p:blipFill>
        <p:spPr>
          <a:xfrm>
            <a:off x="4714646" y="4714646"/>
            <a:ext cx="190195" cy="190195"/>
          </a:xfrm>
          <a:prstGeom prst="rect">
            <a:avLst/>
          </a:prstGeom>
        </p:spPr>
      </p:pic>
      <p:sp>
        <p:nvSpPr>
          <p:cNvPr id="34" name="Text 23"/>
          <p:cNvSpPr/>
          <p:nvPr/>
        </p:nvSpPr>
        <p:spPr>
          <a:xfrm>
            <a:off x="5074920" y="46451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Improved efficiency</a:t>
            </a:r>
            <a:endParaRPr lang="en-US" sz="1200" dirty="0"/>
          </a:p>
        </p:txBody>
      </p:sp>
      <p:sp>
        <p:nvSpPr>
          <p:cNvPr id="35" name="Shape 24"/>
          <p:cNvSpPr/>
          <p:nvPr/>
        </p:nvSpPr>
        <p:spPr>
          <a:xfrm>
            <a:off x="8138160" y="1783080"/>
            <a:ext cx="3566160" cy="4114800"/>
          </a:xfrm>
          <a:prstGeom prst="roundRect">
            <a:avLst>
              <a:gd name="adj" fmla="val 3077"/>
            </a:avLst>
          </a:prstGeom>
          <a:solidFill>
            <a:srgbClr val="0F1B3D"/>
          </a:solidFill>
          <a:ln w="12700">
            <a:solidFill>
              <a:srgbClr val="223261"/>
            </a:solidFill>
            <a:prstDash val="solid"/>
          </a:ln>
        </p:spPr>
      </p:sp>
      <p:sp>
        <p:nvSpPr>
          <p:cNvPr id="36" name="Shape 25"/>
          <p:cNvSpPr/>
          <p:nvPr/>
        </p:nvSpPr>
        <p:spPr>
          <a:xfrm>
            <a:off x="9555480" y="2148840"/>
            <a:ext cx="731520" cy="731520"/>
          </a:xfrm>
          <a:prstGeom prst="ellipse">
            <a:avLst/>
          </a:prstGeom>
          <a:solidFill>
            <a:srgbClr val="00E5C7"/>
          </a:solidFill>
          <a:ln/>
        </p:spPr>
      </p:sp>
      <p:pic>
        <p:nvPicPr>
          <p:cNvPr id="37" name="Image 9" descr="/home/claude/bustrack/icons/driver_w.png"/>
          <p:cNvPicPr>
            <a:picLocks noChangeAspect="1"/>
          </p:cNvPicPr>
          <p:nvPr/>
        </p:nvPicPr>
        <p:blipFill>
          <a:blip r:embed="rId6"/>
          <a:stretch>
            <a:fillRect/>
          </a:stretch>
        </p:blipFill>
        <p:spPr>
          <a:xfrm>
            <a:off x="9738360" y="2331720"/>
            <a:ext cx="365760" cy="365760"/>
          </a:xfrm>
          <a:prstGeom prst="rect">
            <a:avLst/>
          </a:prstGeom>
        </p:spPr>
      </p:pic>
      <p:sp>
        <p:nvSpPr>
          <p:cNvPr id="38" name="Text 26"/>
          <p:cNvSpPr/>
          <p:nvPr/>
        </p:nvSpPr>
        <p:spPr>
          <a:xfrm>
            <a:off x="8138160" y="3063240"/>
            <a:ext cx="356616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Drivers</a:t>
            </a:r>
            <a:endParaRPr lang="en-US" sz="1600" dirty="0"/>
          </a:p>
        </p:txBody>
      </p:sp>
      <p:sp>
        <p:nvSpPr>
          <p:cNvPr id="39" name="Shape 27"/>
          <p:cNvSpPr/>
          <p:nvPr/>
        </p:nvSpPr>
        <p:spPr>
          <a:xfrm>
            <a:off x="8686800" y="3520440"/>
            <a:ext cx="2468880" cy="0"/>
          </a:xfrm>
          <a:prstGeom prst="line">
            <a:avLst/>
          </a:prstGeom>
          <a:noFill/>
          <a:ln w="12700">
            <a:solidFill>
              <a:srgbClr val="223261"/>
            </a:solidFill>
            <a:prstDash val="solid"/>
          </a:ln>
        </p:spPr>
      </p:sp>
      <p:sp>
        <p:nvSpPr>
          <p:cNvPr id="40" name="Shape 28"/>
          <p:cNvSpPr/>
          <p:nvPr/>
        </p:nvSpPr>
        <p:spPr>
          <a:xfrm>
            <a:off x="8503920" y="3749040"/>
            <a:ext cx="292608" cy="292608"/>
          </a:xfrm>
          <a:prstGeom prst="ellipse">
            <a:avLst/>
          </a:prstGeom>
          <a:solidFill>
            <a:srgbClr val="0A1128"/>
          </a:solidFill>
          <a:ln w="15875">
            <a:solidFill>
              <a:srgbClr val="00E5C7"/>
            </a:solidFill>
            <a:prstDash val="solid"/>
          </a:ln>
        </p:spPr>
      </p:sp>
      <p:pic>
        <p:nvPicPr>
          <p:cNvPr id="41" name="Image 10" descr="/home/claude/bustrack/icons/check_c.png"/>
          <p:cNvPicPr>
            <a:picLocks noChangeAspect="1"/>
          </p:cNvPicPr>
          <p:nvPr/>
        </p:nvPicPr>
        <p:blipFill>
          <a:blip r:embed="rId4"/>
          <a:stretch>
            <a:fillRect/>
          </a:stretch>
        </p:blipFill>
        <p:spPr>
          <a:xfrm>
            <a:off x="8555126" y="3800246"/>
            <a:ext cx="190195" cy="190195"/>
          </a:xfrm>
          <a:prstGeom prst="rect">
            <a:avLst/>
          </a:prstGeom>
        </p:spPr>
      </p:pic>
      <p:sp>
        <p:nvSpPr>
          <p:cNvPr id="42" name="Text 29"/>
          <p:cNvSpPr/>
          <p:nvPr/>
        </p:nvSpPr>
        <p:spPr>
          <a:xfrm>
            <a:off x="8915400" y="37307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Route guidance</a:t>
            </a:r>
            <a:endParaRPr lang="en-US" sz="1200" dirty="0"/>
          </a:p>
        </p:txBody>
      </p:sp>
      <p:sp>
        <p:nvSpPr>
          <p:cNvPr id="43" name="Shape 30"/>
          <p:cNvSpPr/>
          <p:nvPr/>
        </p:nvSpPr>
        <p:spPr>
          <a:xfrm>
            <a:off x="8503920" y="4206240"/>
            <a:ext cx="292608" cy="292608"/>
          </a:xfrm>
          <a:prstGeom prst="ellipse">
            <a:avLst/>
          </a:prstGeom>
          <a:solidFill>
            <a:srgbClr val="0A1128"/>
          </a:solidFill>
          <a:ln w="15875">
            <a:solidFill>
              <a:srgbClr val="00E5C7"/>
            </a:solidFill>
            <a:prstDash val="solid"/>
          </a:ln>
        </p:spPr>
      </p:sp>
      <p:pic>
        <p:nvPicPr>
          <p:cNvPr id="44" name="Image 11" descr="/home/claude/bustrack/icons/check_c.png"/>
          <p:cNvPicPr>
            <a:picLocks noChangeAspect="1"/>
          </p:cNvPicPr>
          <p:nvPr/>
        </p:nvPicPr>
        <p:blipFill>
          <a:blip r:embed="rId4"/>
          <a:stretch>
            <a:fillRect/>
          </a:stretch>
        </p:blipFill>
        <p:spPr>
          <a:xfrm>
            <a:off x="8555126" y="4257446"/>
            <a:ext cx="190195" cy="190195"/>
          </a:xfrm>
          <a:prstGeom prst="rect">
            <a:avLst/>
          </a:prstGeom>
        </p:spPr>
      </p:pic>
      <p:sp>
        <p:nvSpPr>
          <p:cNvPr id="45" name="Text 31"/>
          <p:cNvSpPr/>
          <p:nvPr/>
        </p:nvSpPr>
        <p:spPr>
          <a:xfrm>
            <a:off x="8915400" y="41879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Direct communication</a:t>
            </a:r>
            <a:endParaRPr lang="en-US" sz="1200" dirty="0"/>
          </a:p>
        </p:txBody>
      </p:sp>
      <p:sp>
        <p:nvSpPr>
          <p:cNvPr id="46" name="Shape 32"/>
          <p:cNvSpPr/>
          <p:nvPr/>
        </p:nvSpPr>
        <p:spPr>
          <a:xfrm>
            <a:off x="8503920" y="4663440"/>
            <a:ext cx="292608" cy="292608"/>
          </a:xfrm>
          <a:prstGeom prst="ellipse">
            <a:avLst/>
          </a:prstGeom>
          <a:solidFill>
            <a:srgbClr val="0A1128"/>
          </a:solidFill>
          <a:ln w="15875">
            <a:solidFill>
              <a:srgbClr val="00E5C7"/>
            </a:solidFill>
            <a:prstDash val="solid"/>
          </a:ln>
        </p:spPr>
      </p:sp>
      <p:pic>
        <p:nvPicPr>
          <p:cNvPr id="47" name="Image 12" descr="/home/claude/bustrack/icons/check_c.png"/>
          <p:cNvPicPr>
            <a:picLocks noChangeAspect="1"/>
          </p:cNvPicPr>
          <p:nvPr/>
        </p:nvPicPr>
        <p:blipFill>
          <a:blip r:embed="rId4"/>
          <a:stretch>
            <a:fillRect/>
          </a:stretch>
        </p:blipFill>
        <p:spPr>
          <a:xfrm>
            <a:off x="8555126" y="4714646"/>
            <a:ext cx="190195" cy="190195"/>
          </a:xfrm>
          <a:prstGeom prst="rect">
            <a:avLst/>
          </a:prstGeom>
        </p:spPr>
      </p:pic>
      <p:sp>
        <p:nvSpPr>
          <p:cNvPr id="48" name="Text 33"/>
          <p:cNvSpPr/>
          <p:nvPr/>
        </p:nvSpPr>
        <p:spPr>
          <a:xfrm>
            <a:off x="8915400" y="4645152"/>
            <a:ext cx="2514600"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Emergency support</a:t>
            </a:r>
            <a:endParaRPr lang="en-US" sz="1200" dirty="0"/>
          </a:p>
        </p:txBody>
      </p:sp>
      <p:sp>
        <p:nvSpPr>
          <p:cNvPr id="49" name="Text 34"/>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Enhancements</a:t>
            </a:r>
            <a:endParaRPr lang="en-US" sz="3000" dirty="0"/>
          </a:p>
        </p:txBody>
      </p:sp>
      <p:sp>
        <p:nvSpPr>
          <p:cNvPr id="4" name="Shape 2"/>
          <p:cNvSpPr/>
          <p:nvPr/>
        </p:nvSpPr>
        <p:spPr>
          <a:xfrm>
            <a:off x="594360" y="1828800"/>
            <a:ext cx="2606040" cy="1828800"/>
          </a:xfrm>
          <a:prstGeom prst="roundRect">
            <a:avLst>
              <a:gd name="adj" fmla="val 5000"/>
            </a:avLst>
          </a:prstGeom>
          <a:solidFill>
            <a:srgbClr val="0F1B3D"/>
          </a:solidFill>
          <a:ln w="12700">
            <a:solidFill>
              <a:srgbClr val="223261"/>
            </a:solidFill>
            <a:prstDash val="solid"/>
          </a:ln>
        </p:spPr>
      </p:sp>
      <p:sp>
        <p:nvSpPr>
          <p:cNvPr id="5" name="Shape 3"/>
          <p:cNvSpPr/>
          <p:nvPr/>
        </p:nvSpPr>
        <p:spPr>
          <a:xfrm>
            <a:off x="1623060" y="2084832"/>
            <a:ext cx="548640" cy="548640"/>
          </a:xfrm>
          <a:prstGeom prst="ellipse">
            <a:avLst/>
          </a:prstGeom>
          <a:solidFill>
            <a:srgbClr val="00E5C7"/>
          </a:solidFill>
          <a:ln/>
        </p:spPr>
      </p:sp>
      <p:pic>
        <p:nvPicPr>
          <p:cNvPr id="6" name="Image 0" descr="/home/claude/bustrack/icons/brain_w.png"/>
          <p:cNvPicPr>
            <a:picLocks noChangeAspect="1"/>
          </p:cNvPicPr>
          <p:nvPr/>
        </p:nvPicPr>
        <p:blipFill>
          <a:blip r:embed="rId3"/>
          <a:stretch>
            <a:fillRect/>
          </a:stretch>
        </p:blipFill>
        <p:spPr>
          <a:xfrm>
            <a:off x="1760220" y="2221992"/>
            <a:ext cx="274320" cy="274320"/>
          </a:xfrm>
          <a:prstGeom prst="rect">
            <a:avLst/>
          </a:prstGeom>
        </p:spPr>
      </p:pic>
      <p:sp>
        <p:nvSpPr>
          <p:cNvPr id="7" name="Text 4"/>
          <p:cNvSpPr/>
          <p:nvPr/>
        </p:nvSpPr>
        <p:spPr>
          <a:xfrm>
            <a:off x="731520" y="27889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AI Arrival Prediction</a:t>
            </a:r>
            <a:endParaRPr lang="en-US" sz="1150" dirty="0"/>
          </a:p>
        </p:txBody>
      </p:sp>
      <p:sp>
        <p:nvSpPr>
          <p:cNvPr id="8" name="Shape 5"/>
          <p:cNvSpPr/>
          <p:nvPr/>
        </p:nvSpPr>
        <p:spPr>
          <a:xfrm>
            <a:off x="3383280" y="1828800"/>
            <a:ext cx="2606040" cy="1828800"/>
          </a:xfrm>
          <a:prstGeom prst="roundRect">
            <a:avLst>
              <a:gd name="adj" fmla="val 5000"/>
            </a:avLst>
          </a:prstGeom>
          <a:solidFill>
            <a:srgbClr val="0F1B3D"/>
          </a:solidFill>
          <a:ln w="12700">
            <a:solidFill>
              <a:srgbClr val="223261"/>
            </a:solidFill>
            <a:prstDash val="solid"/>
          </a:ln>
        </p:spPr>
      </p:sp>
      <p:sp>
        <p:nvSpPr>
          <p:cNvPr id="9" name="Shape 6"/>
          <p:cNvSpPr/>
          <p:nvPr/>
        </p:nvSpPr>
        <p:spPr>
          <a:xfrm>
            <a:off x="4411980" y="2084832"/>
            <a:ext cx="548640" cy="548640"/>
          </a:xfrm>
          <a:prstGeom prst="ellipse">
            <a:avLst/>
          </a:prstGeom>
          <a:solidFill>
            <a:srgbClr val="34D399"/>
          </a:solidFill>
          <a:ln/>
        </p:spPr>
      </p:sp>
      <p:pic>
        <p:nvPicPr>
          <p:cNvPr id="10" name="Image 1" descr="/home/claude/bustrack/icons/route_w.png"/>
          <p:cNvPicPr>
            <a:picLocks noChangeAspect="1"/>
          </p:cNvPicPr>
          <p:nvPr/>
        </p:nvPicPr>
        <p:blipFill>
          <a:blip r:embed="rId4"/>
          <a:stretch>
            <a:fillRect/>
          </a:stretch>
        </p:blipFill>
        <p:spPr>
          <a:xfrm>
            <a:off x="4549140" y="2221992"/>
            <a:ext cx="274320" cy="274320"/>
          </a:xfrm>
          <a:prstGeom prst="rect">
            <a:avLst/>
          </a:prstGeom>
        </p:spPr>
      </p:pic>
      <p:sp>
        <p:nvSpPr>
          <p:cNvPr id="11" name="Text 7"/>
          <p:cNvSpPr/>
          <p:nvPr/>
        </p:nvSpPr>
        <p:spPr>
          <a:xfrm>
            <a:off x="3520440" y="27889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Traffic-Aware Routing</a:t>
            </a:r>
            <a:endParaRPr lang="en-US" sz="1150" dirty="0"/>
          </a:p>
        </p:txBody>
      </p:sp>
      <p:sp>
        <p:nvSpPr>
          <p:cNvPr id="12" name="Shape 8"/>
          <p:cNvSpPr/>
          <p:nvPr/>
        </p:nvSpPr>
        <p:spPr>
          <a:xfrm>
            <a:off x="6172200" y="1828800"/>
            <a:ext cx="2606040" cy="1828800"/>
          </a:xfrm>
          <a:prstGeom prst="roundRect">
            <a:avLst>
              <a:gd name="adj" fmla="val 5000"/>
            </a:avLst>
          </a:prstGeom>
          <a:solidFill>
            <a:srgbClr val="0F1B3D"/>
          </a:solidFill>
          <a:ln w="12700">
            <a:solidFill>
              <a:srgbClr val="223261"/>
            </a:solidFill>
            <a:prstDash val="solid"/>
          </a:ln>
        </p:spPr>
      </p:sp>
      <p:sp>
        <p:nvSpPr>
          <p:cNvPr id="13" name="Shape 9"/>
          <p:cNvSpPr/>
          <p:nvPr/>
        </p:nvSpPr>
        <p:spPr>
          <a:xfrm>
            <a:off x="7200900" y="2084832"/>
            <a:ext cx="548640" cy="548640"/>
          </a:xfrm>
          <a:prstGeom prst="ellipse">
            <a:avLst/>
          </a:prstGeom>
          <a:solidFill>
            <a:srgbClr val="00E5C7"/>
          </a:solidFill>
          <a:ln/>
        </p:spPr>
      </p:sp>
      <p:pic>
        <p:nvPicPr>
          <p:cNvPr id="14" name="Image 2" descr="/home/claude/bustrack/icons/qrcode_w.png"/>
          <p:cNvPicPr>
            <a:picLocks noChangeAspect="1"/>
          </p:cNvPicPr>
          <p:nvPr/>
        </p:nvPicPr>
        <p:blipFill>
          <a:blip r:embed="rId5"/>
          <a:stretch>
            <a:fillRect/>
          </a:stretch>
        </p:blipFill>
        <p:spPr>
          <a:xfrm>
            <a:off x="7338060" y="2221992"/>
            <a:ext cx="274320" cy="274320"/>
          </a:xfrm>
          <a:prstGeom prst="rect">
            <a:avLst/>
          </a:prstGeom>
        </p:spPr>
      </p:pic>
      <p:sp>
        <p:nvSpPr>
          <p:cNvPr id="15" name="Text 10"/>
          <p:cNvSpPr/>
          <p:nvPr/>
        </p:nvSpPr>
        <p:spPr>
          <a:xfrm>
            <a:off x="6309360" y="27889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QR/RFID Attendance</a:t>
            </a:r>
            <a:endParaRPr lang="en-US" sz="1150" dirty="0"/>
          </a:p>
        </p:txBody>
      </p:sp>
      <p:sp>
        <p:nvSpPr>
          <p:cNvPr id="16" name="Shape 11"/>
          <p:cNvSpPr/>
          <p:nvPr/>
        </p:nvSpPr>
        <p:spPr>
          <a:xfrm>
            <a:off x="8961120" y="1828800"/>
            <a:ext cx="2606040" cy="1828800"/>
          </a:xfrm>
          <a:prstGeom prst="roundRect">
            <a:avLst>
              <a:gd name="adj" fmla="val 5000"/>
            </a:avLst>
          </a:prstGeom>
          <a:solidFill>
            <a:srgbClr val="0F1B3D"/>
          </a:solidFill>
          <a:ln w="12700">
            <a:solidFill>
              <a:srgbClr val="223261"/>
            </a:solidFill>
            <a:prstDash val="solid"/>
          </a:ln>
        </p:spPr>
      </p:sp>
      <p:sp>
        <p:nvSpPr>
          <p:cNvPr id="17" name="Shape 12"/>
          <p:cNvSpPr/>
          <p:nvPr/>
        </p:nvSpPr>
        <p:spPr>
          <a:xfrm>
            <a:off x="9989820" y="2084832"/>
            <a:ext cx="548640" cy="548640"/>
          </a:xfrm>
          <a:prstGeom prst="ellipse">
            <a:avLst/>
          </a:prstGeom>
          <a:solidFill>
            <a:srgbClr val="34D399"/>
          </a:solidFill>
          <a:ln/>
        </p:spPr>
      </p:sp>
      <p:pic>
        <p:nvPicPr>
          <p:cNvPr id="18" name="Image 3" descr="/home/claude/bustrack/icons/wrench_w.png"/>
          <p:cNvPicPr>
            <a:picLocks noChangeAspect="1"/>
          </p:cNvPicPr>
          <p:nvPr/>
        </p:nvPicPr>
        <p:blipFill>
          <a:blip r:embed="rId6"/>
          <a:stretch>
            <a:fillRect/>
          </a:stretch>
        </p:blipFill>
        <p:spPr>
          <a:xfrm>
            <a:off x="10126980" y="2221992"/>
            <a:ext cx="274320" cy="274320"/>
          </a:xfrm>
          <a:prstGeom prst="rect">
            <a:avLst/>
          </a:prstGeom>
        </p:spPr>
      </p:pic>
      <p:sp>
        <p:nvSpPr>
          <p:cNvPr id="19" name="Text 13"/>
          <p:cNvSpPr/>
          <p:nvPr/>
        </p:nvSpPr>
        <p:spPr>
          <a:xfrm>
            <a:off x="9098280" y="27889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Predictive Maintenance</a:t>
            </a:r>
            <a:endParaRPr lang="en-US" sz="1150" dirty="0"/>
          </a:p>
        </p:txBody>
      </p:sp>
      <p:sp>
        <p:nvSpPr>
          <p:cNvPr id="20" name="Shape 14"/>
          <p:cNvSpPr/>
          <p:nvPr/>
        </p:nvSpPr>
        <p:spPr>
          <a:xfrm>
            <a:off x="594360" y="3886200"/>
            <a:ext cx="2606040" cy="1828800"/>
          </a:xfrm>
          <a:prstGeom prst="roundRect">
            <a:avLst>
              <a:gd name="adj" fmla="val 5000"/>
            </a:avLst>
          </a:prstGeom>
          <a:solidFill>
            <a:srgbClr val="0F1B3D"/>
          </a:solidFill>
          <a:ln w="12700">
            <a:solidFill>
              <a:srgbClr val="223261"/>
            </a:solidFill>
            <a:prstDash val="solid"/>
          </a:ln>
        </p:spPr>
      </p:sp>
      <p:sp>
        <p:nvSpPr>
          <p:cNvPr id="21" name="Shape 15"/>
          <p:cNvSpPr/>
          <p:nvPr/>
        </p:nvSpPr>
        <p:spPr>
          <a:xfrm>
            <a:off x="1623060" y="4142232"/>
            <a:ext cx="548640" cy="548640"/>
          </a:xfrm>
          <a:prstGeom prst="ellipse">
            <a:avLst/>
          </a:prstGeom>
          <a:solidFill>
            <a:srgbClr val="34D399"/>
          </a:solidFill>
          <a:ln/>
        </p:spPr>
      </p:sp>
      <p:pic>
        <p:nvPicPr>
          <p:cNvPr id="22" name="Image 4" descr="/home/claude/bustrack/icons/robot_w.png"/>
          <p:cNvPicPr>
            <a:picLocks noChangeAspect="1"/>
          </p:cNvPicPr>
          <p:nvPr/>
        </p:nvPicPr>
        <p:blipFill>
          <a:blip r:embed="rId7"/>
          <a:stretch>
            <a:fillRect/>
          </a:stretch>
        </p:blipFill>
        <p:spPr>
          <a:xfrm>
            <a:off x="1760220" y="4279392"/>
            <a:ext cx="274320" cy="274320"/>
          </a:xfrm>
          <a:prstGeom prst="rect">
            <a:avLst/>
          </a:prstGeom>
        </p:spPr>
      </p:pic>
      <p:sp>
        <p:nvSpPr>
          <p:cNvPr id="23" name="Text 16"/>
          <p:cNvSpPr/>
          <p:nvPr/>
        </p:nvSpPr>
        <p:spPr>
          <a:xfrm>
            <a:off x="731520" y="48463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AI Chatbot Support</a:t>
            </a:r>
            <a:endParaRPr lang="en-US" sz="1150" dirty="0"/>
          </a:p>
        </p:txBody>
      </p:sp>
      <p:sp>
        <p:nvSpPr>
          <p:cNvPr id="24" name="Shape 17"/>
          <p:cNvSpPr/>
          <p:nvPr/>
        </p:nvSpPr>
        <p:spPr>
          <a:xfrm>
            <a:off x="3383280" y="3886200"/>
            <a:ext cx="2606040" cy="1828800"/>
          </a:xfrm>
          <a:prstGeom prst="roundRect">
            <a:avLst>
              <a:gd name="adj" fmla="val 5000"/>
            </a:avLst>
          </a:prstGeom>
          <a:solidFill>
            <a:srgbClr val="0F1B3D"/>
          </a:solidFill>
          <a:ln w="12700">
            <a:solidFill>
              <a:srgbClr val="223261"/>
            </a:solidFill>
            <a:prstDash val="solid"/>
          </a:ln>
        </p:spPr>
      </p:sp>
      <p:sp>
        <p:nvSpPr>
          <p:cNvPr id="25" name="Shape 18"/>
          <p:cNvSpPr/>
          <p:nvPr/>
        </p:nvSpPr>
        <p:spPr>
          <a:xfrm>
            <a:off x="4411980" y="4142232"/>
            <a:ext cx="548640" cy="548640"/>
          </a:xfrm>
          <a:prstGeom prst="ellipse">
            <a:avLst/>
          </a:prstGeom>
          <a:solidFill>
            <a:srgbClr val="00E5C7"/>
          </a:solidFill>
          <a:ln/>
        </p:spPr>
      </p:sp>
      <p:pic>
        <p:nvPicPr>
          <p:cNvPr id="26" name="Image 5" descr="/home/claude/bustrack/icons/mic_w.png"/>
          <p:cNvPicPr>
            <a:picLocks noChangeAspect="1"/>
          </p:cNvPicPr>
          <p:nvPr/>
        </p:nvPicPr>
        <p:blipFill>
          <a:blip r:embed="rId8"/>
          <a:stretch>
            <a:fillRect/>
          </a:stretch>
        </p:blipFill>
        <p:spPr>
          <a:xfrm>
            <a:off x="4549140" y="4279392"/>
            <a:ext cx="274320" cy="274320"/>
          </a:xfrm>
          <a:prstGeom prst="rect">
            <a:avLst/>
          </a:prstGeom>
        </p:spPr>
      </p:pic>
      <p:sp>
        <p:nvSpPr>
          <p:cNvPr id="27" name="Text 19"/>
          <p:cNvSpPr/>
          <p:nvPr/>
        </p:nvSpPr>
        <p:spPr>
          <a:xfrm>
            <a:off x="3520440" y="48463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Voice-Based Tracking</a:t>
            </a:r>
            <a:endParaRPr lang="en-US" sz="1150" dirty="0"/>
          </a:p>
        </p:txBody>
      </p:sp>
      <p:sp>
        <p:nvSpPr>
          <p:cNvPr id="28" name="Shape 20"/>
          <p:cNvSpPr/>
          <p:nvPr/>
        </p:nvSpPr>
        <p:spPr>
          <a:xfrm>
            <a:off x="6172200" y="3886200"/>
            <a:ext cx="2606040" cy="1828800"/>
          </a:xfrm>
          <a:prstGeom prst="roundRect">
            <a:avLst>
              <a:gd name="adj" fmla="val 5000"/>
            </a:avLst>
          </a:prstGeom>
          <a:solidFill>
            <a:srgbClr val="0F1B3D"/>
          </a:solidFill>
          <a:ln w="12700">
            <a:solidFill>
              <a:srgbClr val="223261"/>
            </a:solidFill>
            <a:prstDash val="solid"/>
          </a:ln>
        </p:spPr>
      </p:sp>
      <p:sp>
        <p:nvSpPr>
          <p:cNvPr id="29" name="Shape 21"/>
          <p:cNvSpPr/>
          <p:nvPr/>
        </p:nvSpPr>
        <p:spPr>
          <a:xfrm>
            <a:off x="7200900" y="4142232"/>
            <a:ext cx="548640" cy="548640"/>
          </a:xfrm>
          <a:prstGeom prst="ellipse">
            <a:avLst/>
          </a:prstGeom>
          <a:solidFill>
            <a:srgbClr val="34D399"/>
          </a:solidFill>
          <a:ln/>
        </p:spPr>
      </p:sp>
      <p:pic>
        <p:nvPicPr>
          <p:cNvPr id="30" name="Image 6" descr="/home/claude/bustrack/icons/bell_w.png"/>
          <p:cNvPicPr>
            <a:picLocks noChangeAspect="1"/>
          </p:cNvPicPr>
          <p:nvPr/>
        </p:nvPicPr>
        <p:blipFill>
          <a:blip r:embed="rId9"/>
          <a:stretch>
            <a:fillRect/>
          </a:stretch>
        </p:blipFill>
        <p:spPr>
          <a:xfrm>
            <a:off x="7338060" y="4279392"/>
            <a:ext cx="274320" cy="274320"/>
          </a:xfrm>
          <a:prstGeom prst="rect">
            <a:avLst/>
          </a:prstGeom>
        </p:spPr>
      </p:pic>
      <p:sp>
        <p:nvSpPr>
          <p:cNvPr id="31" name="Text 22"/>
          <p:cNvSpPr/>
          <p:nvPr/>
        </p:nvSpPr>
        <p:spPr>
          <a:xfrm>
            <a:off x="6309360" y="48463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Location-Based Alerts</a:t>
            </a:r>
            <a:endParaRPr lang="en-US" sz="1150" dirty="0"/>
          </a:p>
        </p:txBody>
      </p:sp>
      <p:sp>
        <p:nvSpPr>
          <p:cNvPr id="32" name="Shape 23"/>
          <p:cNvSpPr/>
          <p:nvPr/>
        </p:nvSpPr>
        <p:spPr>
          <a:xfrm>
            <a:off x="8961120" y="3886200"/>
            <a:ext cx="2606040" cy="1828800"/>
          </a:xfrm>
          <a:prstGeom prst="roundRect">
            <a:avLst>
              <a:gd name="adj" fmla="val 5000"/>
            </a:avLst>
          </a:prstGeom>
          <a:solidFill>
            <a:srgbClr val="0F1B3D"/>
          </a:solidFill>
          <a:ln w="12700">
            <a:solidFill>
              <a:srgbClr val="223261"/>
            </a:solidFill>
            <a:prstDash val="solid"/>
          </a:ln>
        </p:spPr>
      </p:sp>
      <p:sp>
        <p:nvSpPr>
          <p:cNvPr id="33" name="Shape 24"/>
          <p:cNvSpPr/>
          <p:nvPr/>
        </p:nvSpPr>
        <p:spPr>
          <a:xfrm>
            <a:off x="9989820" y="4142232"/>
            <a:ext cx="548640" cy="548640"/>
          </a:xfrm>
          <a:prstGeom prst="ellipse">
            <a:avLst/>
          </a:prstGeom>
          <a:solidFill>
            <a:srgbClr val="00E5C7"/>
          </a:solidFill>
          <a:ln/>
        </p:spPr>
      </p:sp>
      <p:pic>
        <p:nvPicPr>
          <p:cNvPr id="34" name="Image 7" descr="/home/claude/bustrack/icons/link_w.png"/>
          <p:cNvPicPr>
            <a:picLocks noChangeAspect="1"/>
          </p:cNvPicPr>
          <p:nvPr/>
        </p:nvPicPr>
        <p:blipFill>
          <a:blip r:embed="rId10"/>
          <a:stretch>
            <a:fillRect/>
          </a:stretch>
        </p:blipFill>
        <p:spPr>
          <a:xfrm>
            <a:off x="10126980" y="4279392"/>
            <a:ext cx="274320" cy="274320"/>
          </a:xfrm>
          <a:prstGeom prst="rect">
            <a:avLst/>
          </a:prstGeom>
        </p:spPr>
      </p:pic>
      <p:sp>
        <p:nvSpPr>
          <p:cNvPr id="35" name="Text 25"/>
          <p:cNvSpPr/>
          <p:nvPr/>
        </p:nvSpPr>
        <p:spPr>
          <a:xfrm>
            <a:off x="9098280" y="4846320"/>
            <a:ext cx="2331720" cy="7315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College ERP Integration</a:t>
            </a:r>
            <a:endParaRPr lang="en-US" sz="1150" dirty="0"/>
          </a:p>
        </p:txBody>
      </p:sp>
      <p:sp>
        <p:nvSpPr>
          <p:cNvPr id="36" name="Text 26"/>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669280" cy="5669280"/>
          </a:xfrm>
          <a:prstGeom prst="ellipse">
            <a:avLst/>
          </a:prstGeom>
          <a:solidFill>
            <a:srgbClr val="00E5C7">
              <a:alpha val="10000"/>
            </a:srgbClr>
          </a:solidFill>
          <a:ln/>
        </p:spPr>
      </p:sp>
      <p:sp>
        <p:nvSpPr>
          <p:cNvPr id="3" name="Shape 1"/>
          <p:cNvSpPr/>
          <p:nvPr/>
        </p:nvSpPr>
        <p:spPr>
          <a:xfrm>
            <a:off x="-2377440" y="4389120"/>
            <a:ext cx="5669280" cy="5669280"/>
          </a:xfrm>
          <a:prstGeom prst="ellipse">
            <a:avLst/>
          </a:prstGeom>
          <a:solidFill>
            <a:srgbClr val="34D399">
              <a:alpha val="8000"/>
            </a:srgbClr>
          </a:solidFill>
          <a:ln/>
        </p:spPr>
      </p:sp>
      <p:sp>
        <p:nvSpPr>
          <p:cNvPr id="4" name="Text 2"/>
          <p:cNvSpPr/>
          <p:nvPr/>
        </p:nvSpPr>
        <p:spPr>
          <a:xfrm>
            <a:off x="640080" y="457200"/>
            <a:ext cx="7315200" cy="365760"/>
          </a:xfrm>
          <a:prstGeom prst="rect">
            <a:avLst/>
          </a:prstGeom>
          <a:noFill/>
          <a:ln/>
        </p:spPr>
        <p:txBody>
          <a:bodyPr wrap="square" rtlCol="0" anchor="ctr"/>
          <a:lstStyle/>
          <a:p>
            <a:pPr marL="0" indent="0">
              <a:buNone/>
            </a:pPr>
            <a:r>
              <a:rPr lang="en-US" sz="1300" b="1" kern="0" spc="200" dirty="0">
                <a:solidFill>
                  <a:srgbClr val="00E5C7"/>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640080" y="777240"/>
            <a:ext cx="9601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Bringing It All Together</a:t>
            </a:r>
            <a:endParaRPr lang="en-US" sz="3200" dirty="0"/>
          </a:p>
        </p:txBody>
      </p:sp>
      <p:sp>
        <p:nvSpPr>
          <p:cNvPr id="6" name="Text 4"/>
          <p:cNvSpPr/>
          <p:nvPr/>
        </p:nvSpPr>
        <p:spPr>
          <a:xfrm>
            <a:off x="822960" y="1508760"/>
            <a:ext cx="6675120" cy="914400"/>
          </a:xfrm>
          <a:prstGeom prst="rect">
            <a:avLst/>
          </a:prstGeom>
          <a:noFill/>
          <a:ln/>
        </p:spPr>
        <p:txBody>
          <a:bodyPr wrap="square" rtlCol="0" anchor="ctr"/>
          <a:lstStyle/>
          <a:p>
            <a:pPr marL="0" indent="0">
              <a:lnSpc>
                <a:spcPct val="130000"/>
              </a:lnSpc>
              <a:buNone/>
            </a:pPr>
            <a:r>
              <a:rPr lang="en-US" sz="1500" dirty="0">
                <a:solidFill>
                  <a:srgbClr val="9CA6C7"/>
                </a:solidFill>
                <a:latin typeface="Calibri" pitchFamily="34" charset="0"/>
                <a:ea typeface="Calibri" pitchFamily="34" charset="-122"/>
                <a:cs typeface="Calibri" pitchFamily="34" charset="-120"/>
              </a:rPr>
              <a:t>The College Bus Tracking System transforms traditional campus transportation into a smart, connected, safe, and efficient service.</a:t>
            </a:r>
            <a:endParaRPr lang="en-US" sz="1500" dirty="0"/>
          </a:p>
        </p:txBody>
      </p:sp>
      <p:sp>
        <p:nvSpPr>
          <p:cNvPr id="7" name="Shape 5"/>
          <p:cNvSpPr/>
          <p:nvPr/>
        </p:nvSpPr>
        <p:spPr>
          <a:xfrm>
            <a:off x="822960" y="2606040"/>
            <a:ext cx="6675120" cy="914400"/>
          </a:xfrm>
          <a:prstGeom prst="roundRect">
            <a:avLst>
              <a:gd name="adj" fmla="val 50000"/>
            </a:avLst>
          </a:prstGeom>
          <a:solidFill>
            <a:srgbClr val="132353"/>
          </a:solidFill>
          <a:ln w="15875">
            <a:solidFill>
              <a:srgbClr val="00E5C7"/>
            </a:solidFill>
            <a:prstDash val="solid"/>
          </a:ln>
        </p:spPr>
      </p:sp>
      <p:sp>
        <p:nvSpPr>
          <p:cNvPr id="8" name="Text 6"/>
          <p:cNvSpPr/>
          <p:nvPr/>
        </p:nvSpPr>
        <p:spPr>
          <a:xfrm>
            <a:off x="1005840" y="2606040"/>
            <a:ext cx="6309360" cy="914400"/>
          </a:xfrm>
          <a:prstGeom prst="rect">
            <a:avLst/>
          </a:prstGeom>
          <a:noFill/>
          <a:ln/>
        </p:spPr>
        <p:txBody>
          <a:bodyPr wrap="square" rtlCol="0" anchor="ctr"/>
          <a:lstStyle/>
          <a:p>
            <a:pPr marL="0" indent="0" algn="ctr">
              <a:buNone/>
            </a:pPr>
            <a:r>
              <a:rPr lang="en-US" sz="1700" b="1" i="1" dirty="0">
                <a:solidFill>
                  <a:srgbClr val="00E5C7"/>
                </a:solidFill>
                <a:latin typeface="Cambria" pitchFamily="34" charset="0"/>
                <a:ea typeface="Cambria" pitchFamily="34" charset="-122"/>
                <a:cs typeface="Cambria" pitchFamily="34" charset="-120"/>
              </a:rPr>
              <a:t>"Track Smart. Travel Safe. Arrive on Time."</a:t>
            </a:r>
            <a:endParaRPr lang="en-US" sz="1700" dirty="0"/>
          </a:p>
        </p:txBody>
      </p:sp>
      <p:sp>
        <p:nvSpPr>
          <p:cNvPr id="9" name="Text 7"/>
          <p:cNvSpPr/>
          <p:nvPr/>
        </p:nvSpPr>
        <p:spPr>
          <a:xfrm>
            <a:off x="822960" y="3977640"/>
            <a:ext cx="5486400" cy="8229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10" name="Text 8"/>
          <p:cNvSpPr/>
          <p:nvPr/>
        </p:nvSpPr>
        <p:spPr>
          <a:xfrm>
            <a:off x="822960" y="4800600"/>
            <a:ext cx="5486400" cy="365760"/>
          </a:xfrm>
          <a:prstGeom prst="rect">
            <a:avLst/>
          </a:prstGeom>
          <a:noFill/>
          <a:ln/>
        </p:spPr>
        <p:txBody>
          <a:bodyPr wrap="square" rtlCol="0" anchor="ctr"/>
          <a:lstStyle/>
          <a:p>
            <a:pPr marL="0" indent="0">
              <a:buNone/>
            </a:pPr>
            <a:r>
              <a:rPr lang="en-US" sz="1300" i="1" dirty="0">
                <a:solidFill>
                  <a:srgbClr val="9CA6C7"/>
                </a:solidFill>
                <a:latin typeface="Calibri" pitchFamily="34" charset="0"/>
                <a:ea typeface="Calibri" pitchFamily="34" charset="-122"/>
                <a:cs typeface="Calibri" pitchFamily="34" charset="-120"/>
              </a:rPr>
              <a:t>Project Demo &amp; Questions Welcome</a:t>
            </a:r>
            <a:endParaRPr lang="en-US" sz="1300" dirty="0"/>
          </a:p>
        </p:txBody>
      </p:sp>
      <p:sp>
        <p:nvSpPr>
          <p:cNvPr id="11" name="Shape 9"/>
          <p:cNvSpPr/>
          <p:nvPr/>
        </p:nvSpPr>
        <p:spPr>
          <a:xfrm>
            <a:off x="8778240" y="1463040"/>
            <a:ext cx="2103120" cy="2103120"/>
          </a:xfrm>
          <a:prstGeom prst="roundRect">
            <a:avLst>
              <a:gd name="adj" fmla="val 5217"/>
            </a:avLst>
          </a:prstGeom>
          <a:solidFill>
            <a:srgbClr val="FFFFFF"/>
          </a:solidFill>
          <a:ln/>
        </p:spPr>
      </p:sp>
      <p:pic>
        <p:nvPicPr>
          <p:cNvPr id="12" name="Image 0" descr="/home/claude/bustrack/icons/qrcode_dark.png"/>
          <p:cNvPicPr>
            <a:picLocks noChangeAspect="1"/>
          </p:cNvPicPr>
          <p:nvPr/>
        </p:nvPicPr>
        <p:blipFill>
          <a:blip r:embed="rId3"/>
          <a:stretch>
            <a:fillRect/>
          </a:stretch>
        </p:blipFill>
        <p:spPr>
          <a:xfrm>
            <a:off x="9098280" y="1783080"/>
            <a:ext cx="1463040" cy="1463040"/>
          </a:xfrm>
          <a:prstGeom prst="rect">
            <a:avLst/>
          </a:prstGeom>
        </p:spPr>
      </p:pic>
      <p:sp>
        <p:nvSpPr>
          <p:cNvPr id="13" name="Text 10"/>
          <p:cNvSpPr/>
          <p:nvPr/>
        </p:nvSpPr>
        <p:spPr>
          <a:xfrm>
            <a:off x="8503920" y="3703320"/>
            <a:ext cx="2651760" cy="274320"/>
          </a:xfrm>
          <a:prstGeom prst="rect">
            <a:avLst/>
          </a:prstGeom>
          <a:noFill/>
          <a:ln/>
        </p:spPr>
        <p:txBody>
          <a:bodyPr wrap="square" rtlCol="0" anchor="ctr"/>
          <a:lstStyle/>
          <a:p>
            <a:pPr marL="0" indent="0" algn="ctr">
              <a:buNone/>
            </a:pPr>
            <a:r>
              <a:rPr lang="en-US" sz="1050" b="1" kern="0" spc="150" dirty="0">
                <a:solidFill>
                  <a:srgbClr val="00E5C7"/>
                </a:solidFill>
                <a:latin typeface="Calibri" pitchFamily="34" charset="0"/>
                <a:ea typeface="Calibri" pitchFamily="34" charset="-122"/>
                <a:cs typeface="Calibri" pitchFamily="34" charset="-120"/>
              </a:rPr>
              <a:t>SCAN FOR PROJECT DEMO</a:t>
            </a:r>
            <a:endParaRPr lang="en-US" sz="1050" dirty="0"/>
          </a:p>
        </p:txBody>
      </p:sp>
      <p:sp>
        <p:nvSpPr>
          <p:cNvPr id="14" name="Text 11"/>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9CA6C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1513</Words>
  <Application>Microsoft Office PowerPoint</Application>
  <PresentationFormat>Widescreen</PresentationFormat>
  <Paragraphs>251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1</cp:revision>
  <dcterms:created xsi:type="dcterms:W3CDTF">2026-09-11T06:43:05Z</dcterms:created>
  <dcterms:modified xsi:type="dcterms:W3CDTF">2026-09-11T06:54:10Z</dcterms:modified>
</cp:coreProperties>
</file>